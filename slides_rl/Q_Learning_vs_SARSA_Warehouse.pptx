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493ca1e-f234-e646-3d28-4f54e8769b27}">
          <p14:sldIdLst>
            <p14:sldId id="256"/>
          </p14:sldIdLst>
        </p14:section>
        <p14:section name="Problem" id="{95d00074-9ea6-569a-6695-71efef9944a3}">
          <p14:sldIdLst>
            <p14:sldId id="257"/>
          </p14:sldIdLst>
        </p14:section>
        <p14:section name="Dataset &amp; Method" id="{0a5ae734-ff1d-f9ca-01a3-dbd50eb7052d}">
          <p14:sldIdLst>
            <p14:sldId id="258"/>
            <p14:sldId id="259"/>
            <p14:sldId id="260"/>
          </p14:sldIdLst>
        </p14:section>
        <p14:section name="Implementation" id="{4c2e19c9-128e-a170-b3ee-d93b7d03422f}">
          <p14:sldIdLst>
            <p14:sldId id="261"/>
            <p14:sldId id="262"/>
            <p14:sldId id="263"/>
          </p14:sldIdLst>
        </p14:section>
        <p14:section name="Results" id="{599a3f9a-3d90-797b-be4b-d9a09147b343}">
          <p14:sldIdLst>
            <p14:sldId id="264"/>
            <p14:sldId id="265"/>
            <p14:sldId id="266"/>
            <p14:sldId id="267"/>
          </p14:sldIdLst>
        </p14:section>
        <p14:section name="Deliverables" id="{61a3a286-9551-c233-901d-20e60d40ca8b}">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must learn the shortest collision-free delivery route. Two classical algorithms, built from scratch, differing in exactly one line. The short answer: they separate in opposite directions on two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The key framing is that learning itself has a cost when it happens on a real floor, and that is exactly where these two algorithms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layouts are real, the reward structure is assumed. That distinction is stated in the notebook and the report, and the assumption is swept in the sensitivity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shows the work. Several columns look meaningful and are not. The correlations are the evidence, not an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Cliff Walking in warehouse terms, and the report says so. The racking is real; the three cleared rows are the declared design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shared except one method. The two footguns called out here are real: tie-breaking bias and the terminal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teaching point. The max operator is what makes the hazard invisible to Q-learning's state values. Slide 11 shows that prediction confirmed in the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epsilon-zero equivalence test is the strongest statement available: it proves the two classes differ only in how exploration is handled, which is exactly what the study claims to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five metrics significant, with large effects. Note the two winners are different: Q-learning deploys better, SARSA trains cheaper. Those are two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makes the whole argument on its own. Everything else is the measurement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informative result in the study and it is not the headline one. The derivation and the measurement line up exactly, which is what gives confidence the implementation measures the intended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the heuristic matching the learned agents is the honest thing to do. The floor was designed to isolate the algorithmic difference, not to show RL beating a simple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 notebook, the report source and the deck are all in the repository, and the whole experiment reruns in four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trade-off, the limitations stated plainly, and three questions you are likely to be asked in the viva with short answers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57400"/>
            <a:ext cx="8138160" cy="173736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3931920"/>
            <a:ext cx="10881360" cy="1005840"/>
          </a:xfrm>
          <a:prstGeom prst="rect">
            <a:avLst/>
          </a:prstGeom>
          <a:noFill/>
          <a:ln/>
        </p:spPr>
        <p:txBody>
          <a:bodyPr wrap="square" rtlCol="0"/>
          <a:lstStyle>
            <a:lvl1pPr indent="0" marL="0">
              <a:buNone/>
              <a:defRPr lang="en-US" sz="1700" dirty="0">
                <a:solidFill>
                  <a:srgbClr val="CBD6E6"/>
                </a:solidFill>
              </a:defRPr>
            </a:lvl1pPr>
          </a:lstStyle>
          <a:p>
            <a:pPr indent="0" marL="0">
              <a:buNone/>
            </a:pPr>
            <a:endParaRPr lang="en-US" sz="1700" dirty="0"/>
          </a:p>
        </p:txBody>
      </p:sp>
      <p:sp>
        <p:nvSpPr>
          <p:cNvPr id="4" name="Text 0"/>
          <p:cNvSpPr/>
          <p:nvPr>
            <p:ph idx="102" type="body" hasCustomPrompt="1"/>
          </p:nvPr>
        </p:nvSpPr>
        <p:spPr>
          <a:xfrm>
            <a:off x="640080" y="5577840"/>
            <a:ext cx="10881360" cy="548640"/>
          </a:xfrm>
          <a:prstGeom prst="rect">
            <a:avLst/>
          </a:prstGeom>
          <a:noFill/>
          <a:ln/>
        </p:spPr>
        <p:txBody>
          <a:bodyPr wrap="square" rtlCol="0"/>
          <a:lstStyle>
            <a:lvl1pPr indent="0" marL="0">
              <a:buNone/>
              <a:defRPr lang="en-US" sz="1200" dirty="0">
                <a:solidFill>
                  <a:srgbClr val="6B7A8F"/>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lstStyle>
            <a:lvl1pPr algn="l" indent="0" marL="0">
              <a:buNone/>
              <a:defRPr lang="en-US" sz="30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640080" y="6382512"/>
            <a:ext cx="5486400" cy="274320"/>
          </a:xfrm>
          <a:prstGeom prst="rect">
            <a:avLst/>
          </a:prstGeom>
          <a:noFill/>
          <a:ln/>
        </p:spPr>
        <p:txBody>
          <a:bodyPr wrap="square" rtlCol="0" anchor="ctr"/>
          <a:lstStyle/>
          <a:p>
            <a:pPr indent="0" marL="0">
              <a:buNone/>
            </a:pPr>
            <a:r>
              <a:rPr lang="en-US" sz="1000" dirty="0">
                <a:solidFill>
                  <a:srgbClr val="6B7A8F"/>
                </a:solidFill>
              </a:rPr>
              <a:t>Q-learning vs SARSA  ·  Warehouse navigation</a:t>
            </a:r>
            <a:endParaRPr lang="en-US" sz="10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lstStyle>
            <a:lvl1pPr algn="l" indent="0" marL="0">
              <a:buNone/>
              <a:defRPr lang="en-US" sz="3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640080" y="6382512"/>
            <a:ext cx="5486400" cy="274320"/>
          </a:xfrm>
          <a:prstGeom prst="rect">
            <a:avLst/>
          </a:prstGeom>
          <a:noFill/>
          <a:ln/>
        </p:spPr>
        <p:txBody>
          <a:bodyPr wrap="square" rtlCol="0" anchor="ctr"/>
          <a:lstStyle/>
          <a:p>
            <a:pPr indent="0" marL="0">
              <a:buNone/>
            </a:pPr>
            <a:r>
              <a:rPr lang="en-US" sz="1000" dirty="0">
                <a:solidFill>
                  <a:srgbClr val="6B7A8F"/>
                </a:solidFill>
              </a:rPr>
              <a:t>Q-learning vs SARSA  ·  Warehouse navigation</a:t>
            </a:r>
            <a:endParaRPr lang="en-US" sz="10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1"/>
          <p:cNvSpPr/>
          <p:nvPr/>
        </p:nvSpPr>
        <p:spPr>
          <a:xfrm>
            <a:off x="9509760" y="1051560"/>
            <a:ext cx="2103120" cy="2103120"/>
          </a:xfrm>
          <a:prstGeom prst="ellipse">
            <a:avLst/>
          </a:prstGeom>
          <a:solidFill>
            <a:srgbClr val="1E3356"/>
          </a:solidFill>
          <a:ln/>
        </p:spPr>
      </p:sp>
      <p:sp>
        <p:nvSpPr>
          <p:cNvPr id="3" name="d2"/>
          <p:cNvSpPr/>
          <p:nvPr/>
        </p:nvSpPr>
        <p:spPr>
          <a:xfrm>
            <a:off x="10332720" y="2377440"/>
            <a:ext cx="1143000" cy="1143000"/>
          </a:xfrm>
          <a:prstGeom prst="ellipse">
            <a:avLst/>
          </a:prstGeom>
          <a:solidFill>
            <a:srgbClr val="2A78D6"/>
          </a:solidFill>
          <a:ln/>
        </p:spPr>
      </p:sp>
      <p:sp>
        <p:nvSpPr>
          <p:cNvPr id="4" name="d3"/>
          <p:cNvSpPr/>
          <p:nvPr/>
        </p:nvSpPr>
        <p:spPr>
          <a:xfrm>
            <a:off x="9144000" y="2834640"/>
            <a:ext cx="731520" cy="731520"/>
          </a:xfrm>
          <a:prstGeom prst="ellipse">
            <a:avLst/>
          </a:prstGeom>
          <a:solidFill>
            <a:srgbClr val="EB6834"/>
          </a:solidFill>
          <a:ln/>
        </p:spPr>
      </p:sp>
      <p:sp>
        <p:nvSpPr>
          <p:cNvPr id="5" name="Text 0"/>
          <p:cNvSpPr/>
          <p:nvPr>
            <p:ph idx="100" type="title" hasCustomPrompt="1"/>
          </p:nvPr>
        </p:nvSpPr>
        <p:spPr>
          <a:xfrm>
            <a:off x="640080" y="2057400"/>
            <a:ext cx="8138160" cy="1737360"/>
          </a:xfrm>
          <a:prstGeom prst="rect">
            <a:avLst/>
          </a:prstGeom>
          <a:noFill/>
          <a:ln/>
        </p:spPr>
        <p:txBody>
          <a:bodyPr wrap="square"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Q-learning vs SARSA</a:t>
            </a:r>
            <a:endParaRPr lang="en-US" sz="4000" dirty="0"/>
          </a:p>
          <a:p>
            <a:pPr algn="l" indent="0" marL="0">
              <a:buNone/>
            </a:pPr>
            <a:r>
              <a:rPr lang="en-US" sz="4000" b="1" dirty="0">
                <a:solidFill>
                  <a:srgbClr val="FFFFFF"/>
                </a:solidFill>
                <a:latin typeface="Cambria" pitchFamily="34" charset="0"/>
                <a:ea typeface="Cambria" pitchFamily="34" charset="-122"/>
                <a:cs typeface="Cambria" pitchFamily="34" charset="-120"/>
              </a:rPr>
              <a:t>for warehouse robot navigation</a:t>
            </a:r>
            <a:endParaRPr lang="en-US" sz="4000" dirty="0"/>
          </a:p>
        </p:txBody>
      </p:sp>
      <p:sp>
        <p:nvSpPr>
          <p:cNvPr id="6" name="Text 0"/>
          <p:cNvSpPr/>
          <p:nvPr>
            <p:ph idx="101" type="body" hasCustomPrompt="1"/>
          </p:nvPr>
        </p:nvSpPr>
        <p:spPr>
          <a:xfrm>
            <a:off x="640080" y="3931920"/>
            <a:ext cx="10881360" cy="1005840"/>
          </a:xfrm>
          <a:prstGeom prst="rect">
            <a:avLst/>
          </a:prstGeom>
          <a:noFill/>
          <a:ln/>
        </p:spPr>
        <p:txBody>
          <a:bodyPr wrap="square" rtlCol="0" anchor="t"/>
          <a:lstStyle/>
          <a:p>
            <a:pPr indent="0" marL="0">
              <a:buNone/>
            </a:pPr>
            <a:r>
              <a:rPr lang="en-US" sz="1700" dirty="0">
                <a:solidFill>
                  <a:srgbClr val="CBD6E6"/>
                </a:solidFill>
              </a:rPr>
              <a:t>On-policy and off-policy temporal-difference control, built from scratch</a:t>
            </a:r>
            <a:endParaRPr lang="en-US" sz="1700" dirty="0"/>
          </a:p>
          <a:p>
            <a:pPr indent="0" marL="0">
              <a:buNone/>
            </a:pPr>
            <a:r>
              <a:rPr lang="en-US" sz="1700" dirty="0">
                <a:solidFill>
                  <a:srgbClr val="CBD6E6"/>
                </a:solidFill>
              </a:rPr>
              <a:t>and compared over 30 paired seeds on a floor built from real Kaggle layouts</a:t>
            </a:r>
            <a:endParaRPr lang="en-US" sz="1700" dirty="0"/>
          </a:p>
        </p:txBody>
      </p:sp>
      <p:sp>
        <p:nvSpPr>
          <p:cNvPr id="7" name="Text 0"/>
          <p:cNvSpPr/>
          <p:nvPr>
            <p:ph idx="102" type="body" hasCustomPrompt="1"/>
          </p:nvPr>
        </p:nvSpPr>
        <p:spPr>
          <a:xfrm>
            <a:off x="640080" y="5577840"/>
            <a:ext cx="10881360" cy="548640"/>
          </a:xfrm>
          <a:prstGeom prst="rect">
            <a:avLst/>
          </a:prstGeom>
          <a:noFill/>
          <a:ln/>
        </p:spPr>
        <p:txBody>
          <a:bodyPr wrap="square" rtlCol="0" anchor="t"/>
          <a:lstStyle/>
          <a:p>
            <a:pPr indent="0" marL="0">
              <a:buNone/>
            </a:pPr>
            <a:r>
              <a:rPr lang="en-US" sz="1200" dirty="0">
                <a:solidFill>
                  <a:srgbClr val="6B7A8F"/>
                </a:solidFill>
              </a:rPr>
              <a:t>Smart Warehouse Robot Navigation  ·  Reinforcement Learning case study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Problem statement and objectives</a:t>
            </a:r>
            <a:endParaRPr lang="en-US" sz="3000" dirty="0"/>
          </a:p>
        </p:txBody>
      </p:sp>
      <p:sp>
        <p:nvSpPr>
          <p:cNvPr id="3" name="chip-Problem &amp; Objectives"/>
          <p:cNvSpPr/>
          <p:nvPr/>
        </p:nvSpPr>
        <p:spPr>
          <a:xfrm>
            <a:off x="8869680" y="420624"/>
            <a:ext cx="2651760" cy="384048"/>
          </a:xfrm>
          <a:prstGeom prst="roundRect">
            <a:avLst>
              <a:gd name="adj" fmla="val 23810"/>
            </a:avLst>
          </a:prstGeom>
          <a:solidFill>
            <a:srgbClr val="14213D"/>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Problem &amp; Objectives  ·  5 marks</a:t>
            </a:r>
            <a:endParaRPr lang="en-US" sz="1050" dirty="0"/>
          </a:p>
        </p:txBody>
      </p:sp>
      <p:sp>
        <p:nvSpPr>
          <p:cNvPr id="5" name="rq"/>
          <p:cNvSpPr/>
          <p:nvPr/>
        </p:nvSpPr>
        <p:spPr>
          <a:xfrm>
            <a:off x="640080" y="1234440"/>
            <a:ext cx="10881360" cy="868680"/>
          </a:xfrm>
          <a:prstGeom prst="roundRect">
            <a:avLst>
              <a:gd name="adj" fmla="val 8421"/>
            </a:avLst>
          </a:prstGeom>
          <a:solidFill>
            <a:srgbClr val="14213D"/>
          </a:solidFill>
          <a:ln w="12700">
            <a:solidFill>
              <a:srgbClr val="333333"/>
            </a:solidFill>
            <a:prstDash val="solid"/>
          </a:ln>
        </p:spPr>
      </p:sp>
      <p:sp>
        <p:nvSpPr>
          <p:cNvPr id="6" name="Text 4"/>
          <p:cNvSpPr txBox="1"/>
          <p:nvPr/>
        </p:nvSpPr>
        <p:spPr>
          <a:xfrm>
            <a:off x="914400" y="1234440"/>
            <a:ext cx="10332720" cy="868680"/>
          </a:xfrm>
          <a:prstGeom prst="rect">
            <a:avLst/>
          </a:prstGeom>
          <a:noFill/>
          <a:ln/>
        </p:spPr>
        <p:txBody>
          <a:bodyPr wrap="square" lIns="0" tIns="0" rIns="0" bIns="0" rtlCol="0" anchor="ctr"/>
          <a:lstStyle/>
          <a:p>
            <a:pPr indent="0" marL="0">
              <a:buNone/>
            </a:pPr>
            <a:r>
              <a:rPr lang="en-US" sz="1750" b="1" i="1" dirty="0">
                <a:solidFill>
                  <a:srgbClr val="FFFFFF"/>
                </a:solidFill>
                <a:latin typeface="Cambria" pitchFamily="34" charset="0"/>
                <a:ea typeface="Cambria" pitchFamily="34" charset="-122"/>
                <a:cs typeface="Cambria" pitchFamily="34" charset="-120"/>
              </a:rPr>
              <a:t>How do Q-learning and SARSA compare when a warehouse robot must learn the shortest collision-free route?</a:t>
            </a:r>
            <a:endParaRPr lang="en-US" sz="1750" dirty="0"/>
          </a:p>
        </p:txBody>
      </p:sp>
      <p:sp>
        <p:nvSpPr>
          <p:cNvPr id="7" name="badge-1"/>
          <p:cNvSpPr/>
          <p:nvPr/>
        </p:nvSpPr>
        <p:spPr>
          <a:xfrm>
            <a:off x="640080" y="2377440"/>
            <a:ext cx="384048" cy="384048"/>
          </a:xfrm>
          <a:prstGeom prst="ellipse">
            <a:avLst/>
          </a:prstGeom>
          <a:solidFill>
            <a:srgbClr val="2A78D6"/>
          </a:solidFill>
          <a:ln/>
        </p:spPr>
      </p:sp>
      <p:sp>
        <p:nvSpPr>
          <p:cNvPr id="8" name="Text 6"/>
          <p:cNvSpPr txBox="1"/>
          <p:nvPr/>
        </p:nvSpPr>
        <p:spPr>
          <a:xfrm>
            <a:off x="640080" y="2377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1207008" y="2350008"/>
            <a:ext cx="2999232" cy="310896"/>
          </a:xfrm>
          <a:prstGeom prst="rect">
            <a:avLst/>
          </a:prstGeom>
          <a:noFill/>
          <a:ln/>
        </p:spPr>
        <p:txBody>
          <a:bodyPr wrap="square" lIns="0" tIns="0" rIns="0" bIns="0" rtlCol="0" anchor="ctr"/>
          <a:lstStyle/>
          <a:p>
            <a:pPr indent="0" marL="0">
              <a:buNone/>
            </a:pPr>
            <a:r>
              <a:rPr lang="en-US" sz="1500" b="1" dirty="0">
                <a:solidFill>
                  <a:srgbClr val="14213D"/>
                </a:solidFill>
              </a:rPr>
              <a:t>A shared workspace</a:t>
            </a:r>
            <a:endParaRPr lang="en-US" sz="1500" dirty="0"/>
          </a:p>
        </p:txBody>
      </p:sp>
      <p:sp>
        <p:nvSpPr>
          <p:cNvPr id="10" name="Text 8"/>
          <p:cNvSpPr txBox="1"/>
          <p:nvPr/>
        </p:nvSpPr>
        <p:spPr>
          <a:xfrm>
            <a:off x="1207008" y="2670048"/>
            <a:ext cx="29992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Robots and people use the same floor. The route must be short AND safe to execute.</a:t>
            </a:r>
            <a:endParaRPr lang="en-US" sz="1250" dirty="0"/>
          </a:p>
        </p:txBody>
      </p:sp>
      <p:sp>
        <p:nvSpPr>
          <p:cNvPr id="11" name="badge-2"/>
          <p:cNvSpPr/>
          <p:nvPr/>
        </p:nvSpPr>
        <p:spPr>
          <a:xfrm>
            <a:off x="4389120" y="2377440"/>
            <a:ext cx="384048" cy="384048"/>
          </a:xfrm>
          <a:prstGeom prst="ellipse">
            <a:avLst/>
          </a:prstGeom>
          <a:solidFill>
            <a:srgbClr val="EB6834"/>
          </a:solidFill>
          <a:ln/>
        </p:spPr>
      </p:sp>
      <p:sp>
        <p:nvSpPr>
          <p:cNvPr id="12" name="Text 10"/>
          <p:cNvSpPr txBox="1"/>
          <p:nvPr/>
        </p:nvSpPr>
        <p:spPr>
          <a:xfrm>
            <a:off x="4389120" y="2377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txBox="1"/>
          <p:nvPr/>
        </p:nvSpPr>
        <p:spPr>
          <a:xfrm>
            <a:off x="4956048" y="2350008"/>
            <a:ext cx="2999232" cy="310896"/>
          </a:xfrm>
          <a:prstGeom prst="rect">
            <a:avLst/>
          </a:prstGeom>
          <a:noFill/>
          <a:ln/>
        </p:spPr>
        <p:txBody>
          <a:bodyPr wrap="square" lIns="0" tIns="0" rIns="0" bIns="0" rtlCol="0" anchor="ctr"/>
          <a:lstStyle/>
          <a:p>
            <a:pPr indent="0" marL="0">
              <a:buNone/>
            </a:pPr>
            <a:r>
              <a:rPr lang="en-US" sz="1500" b="1" dirty="0">
                <a:solidFill>
                  <a:srgbClr val="14213D"/>
                </a:solidFill>
              </a:rPr>
              <a:t>Learning has a cost</a:t>
            </a:r>
            <a:endParaRPr lang="en-US" sz="1500" dirty="0"/>
          </a:p>
        </p:txBody>
      </p:sp>
      <p:sp>
        <p:nvSpPr>
          <p:cNvPr id="14" name="Text 12"/>
          <p:cNvSpPr txBox="1"/>
          <p:nvPr/>
        </p:nvSpPr>
        <p:spPr>
          <a:xfrm>
            <a:off x="4956048" y="2670048"/>
            <a:ext cx="29992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In a simulator, training mistakes are free. On a live floor, every one is an incident.</a:t>
            </a:r>
            <a:endParaRPr lang="en-US" sz="1250" dirty="0"/>
          </a:p>
        </p:txBody>
      </p:sp>
      <p:sp>
        <p:nvSpPr>
          <p:cNvPr id="15" name="badge-3"/>
          <p:cNvSpPr/>
          <p:nvPr/>
        </p:nvSpPr>
        <p:spPr>
          <a:xfrm>
            <a:off x="8138160" y="2377440"/>
            <a:ext cx="384048" cy="384048"/>
          </a:xfrm>
          <a:prstGeom prst="ellipse">
            <a:avLst/>
          </a:prstGeom>
          <a:solidFill>
            <a:srgbClr val="1BAF7A"/>
          </a:solidFill>
          <a:ln/>
        </p:spPr>
      </p:sp>
      <p:sp>
        <p:nvSpPr>
          <p:cNvPr id="16" name="Text 14"/>
          <p:cNvSpPr txBox="1"/>
          <p:nvPr/>
        </p:nvSpPr>
        <p:spPr>
          <a:xfrm>
            <a:off x="8138160" y="2377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8705088" y="2350008"/>
            <a:ext cx="2999232" cy="310896"/>
          </a:xfrm>
          <a:prstGeom prst="rect">
            <a:avLst/>
          </a:prstGeom>
          <a:noFill/>
          <a:ln/>
        </p:spPr>
        <p:txBody>
          <a:bodyPr wrap="square" lIns="0" tIns="0" rIns="0" bIns="0" rtlCol="0" anchor="ctr"/>
          <a:lstStyle/>
          <a:p>
            <a:pPr indent="0" marL="0">
              <a:buNone/>
            </a:pPr>
            <a:r>
              <a:rPr lang="en-US" sz="1500" b="1" dirty="0">
                <a:solidFill>
                  <a:srgbClr val="14213D"/>
                </a:solidFill>
              </a:rPr>
              <a:t>Two algorithms, one difference</a:t>
            </a:r>
            <a:endParaRPr lang="en-US" sz="1500" dirty="0"/>
          </a:p>
        </p:txBody>
      </p:sp>
      <p:sp>
        <p:nvSpPr>
          <p:cNvPr id="18" name="Text 16"/>
          <p:cNvSpPr txBox="1"/>
          <p:nvPr/>
        </p:nvSpPr>
        <p:spPr>
          <a:xfrm>
            <a:off x="8705088" y="2670048"/>
            <a:ext cx="29992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Q-learning and SARSA differ in a single expression — which policy's value they learn.</a:t>
            </a:r>
            <a:endParaRPr lang="en-US" sz="1250" dirty="0"/>
          </a:p>
        </p:txBody>
      </p:sp>
      <p:sp>
        <p:nvSpPr>
          <p:cNvPr id="19" name="card-Objectives"/>
          <p:cNvSpPr/>
          <p:nvPr/>
        </p:nvSpPr>
        <p:spPr>
          <a:xfrm>
            <a:off x="640080" y="3931920"/>
            <a:ext cx="5577840" cy="1965960"/>
          </a:xfrm>
          <a:prstGeom prst="roundRect">
            <a:avLst>
              <a:gd name="adj" fmla="val 3721"/>
            </a:avLst>
          </a:prstGeom>
          <a:solidFill>
            <a:srgbClr val="EDF2F7"/>
          </a:solidFill>
          <a:ln w="12700">
            <a:solidFill>
              <a:srgbClr val="333333"/>
            </a:solidFill>
            <a:prstDash val="solid"/>
          </a:ln>
        </p:spPr>
      </p:sp>
      <p:sp>
        <p:nvSpPr>
          <p:cNvPr id="20" name="Text 18"/>
          <p:cNvSpPr txBox="1"/>
          <p:nvPr/>
        </p:nvSpPr>
        <p:spPr>
          <a:xfrm>
            <a:off x="841248" y="4096512"/>
            <a:ext cx="5175504" cy="292608"/>
          </a:xfrm>
          <a:prstGeom prst="rect">
            <a:avLst/>
          </a:prstGeom>
          <a:noFill/>
          <a:ln/>
        </p:spPr>
        <p:txBody>
          <a:bodyPr wrap="square" lIns="0" tIns="0" rIns="0" bIns="0" rtlCol="0" anchor="ctr"/>
          <a:lstStyle/>
          <a:p>
            <a:pPr indent="0" marL="0">
              <a:buNone/>
            </a:pPr>
            <a:r>
              <a:rPr lang="en-US" sz="1400" b="1" dirty="0">
                <a:solidFill>
                  <a:srgbClr val="14213D"/>
                </a:solidFill>
              </a:rPr>
              <a:t>Objectives</a:t>
            </a:r>
            <a:endParaRPr lang="en-US" sz="1400" dirty="0"/>
          </a:p>
        </p:txBody>
      </p:sp>
      <p:sp>
        <p:nvSpPr>
          <p:cNvPr id="21" name="Text 19"/>
          <p:cNvSpPr txBox="1"/>
          <p:nvPr/>
        </p:nvSpPr>
        <p:spPr>
          <a:xfrm>
            <a:off x="841248" y="4425696"/>
            <a:ext cx="5175504" cy="13075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1.  Implement the environment and both algorithms from scratch.</a:t>
            </a:r>
            <a:endParaRPr lang="en-US" sz="1200" dirty="0"/>
          </a:p>
          <a:p>
            <a:pPr indent="0" marL="0">
              <a:lnSpc>
                <a:spcPct val="108000"/>
              </a:lnSpc>
              <a:buNone/>
            </a:pPr>
            <a:r>
              <a:rPr lang="en-US" sz="1200" dirty="0">
                <a:solidFill>
                  <a:srgbClr val="3D5A80"/>
                </a:solidFill>
              </a:rPr>
              <a:t>2.  Audit the dataset and use only the columns that carry signal.</a:t>
            </a:r>
            <a:endParaRPr lang="en-US" sz="1200" dirty="0"/>
          </a:p>
          <a:p>
            <a:pPr indent="0" marL="0">
              <a:lnSpc>
                <a:spcPct val="108000"/>
              </a:lnSpc>
              <a:buNone/>
            </a:pPr>
            <a:r>
              <a:rPr lang="en-US" sz="1200" dirty="0">
                <a:solidFill>
                  <a:srgbClr val="3D5A80"/>
                </a:solidFill>
              </a:rPr>
              <a:t>3.  Verify numerically before running any experiment.</a:t>
            </a:r>
            <a:endParaRPr lang="en-US" sz="1200" dirty="0"/>
          </a:p>
          <a:p>
            <a:pPr indent="0" marL="0">
              <a:lnSpc>
                <a:spcPct val="108000"/>
              </a:lnSpc>
              <a:buNone/>
            </a:pPr>
            <a:r>
              <a:rPr lang="en-US" sz="1200" dirty="0">
                <a:solidFill>
                  <a:srgbClr val="3D5A80"/>
                </a:solidFill>
              </a:rPr>
              <a:t>4.  Compare over 30 paired seeds with significance testing.</a:t>
            </a:r>
            <a:endParaRPr lang="en-US" sz="1200" dirty="0"/>
          </a:p>
          <a:p>
            <a:pPr indent="0" marL="0">
              <a:lnSpc>
                <a:spcPct val="108000"/>
              </a:lnSpc>
              <a:buNone/>
            </a:pPr>
            <a:r>
              <a:rPr lang="en-US" sz="1200" dirty="0">
                <a:solidFill>
                  <a:srgbClr val="3D5A80"/>
                </a:solidFill>
              </a:rPr>
              <a:t>5.  Test robustness against a baseline, other floors, and the key assumption.</a:t>
            </a:r>
            <a:endParaRPr lang="en-US" sz="1200" dirty="0"/>
          </a:p>
        </p:txBody>
      </p:sp>
      <p:sp>
        <p:nvSpPr>
          <p:cNvPr id="22" name="card-The hypothesis under test"/>
          <p:cNvSpPr/>
          <p:nvPr/>
        </p:nvSpPr>
        <p:spPr>
          <a:xfrm>
            <a:off x="6492240" y="3931920"/>
            <a:ext cx="5029200" cy="1965960"/>
          </a:xfrm>
          <a:prstGeom prst="roundRect">
            <a:avLst>
              <a:gd name="adj" fmla="val 3721"/>
            </a:avLst>
          </a:prstGeom>
          <a:solidFill>
            <a:srgbClr val="EDF2F7"/>
          </a:solidFill>
          <a:ln w="12700">
            <a:solidFill>
              <a:srgbClr val="333333"/>
            </a:solidFill>
            <a:prstDash val="solid"/>
          </a:ln>
        </p:spPr>
      </p:sp>
      <p:sp>
        <p:nvSpPr>
          <p:cNvPr id="23" name="Text 21"/>
          <p:cNvSpPr txBox="1"/>
          <p:nvPr/>
        </p:nvSpPr>
        <p:spPr>
          <a:xfrm>
            <a:off x="6693408" y="4096512"/>
            <a:ext cx="4626864" cy="292608"/>
          </a:xfrm>
          <a:prstGeom prst="rect">
            <a:avLst/>
          </a:prstGeom>
          <a:noFill/>
          <a:ln/>
        </p:spPr>
        <p:txBody>
          <a:bodyPr wrap="square" lIns="0" tIns="0" rIns="0" bIns="0" rtlCol="0" anchor="ctr"/>
          <a:lstStyle/>
          <a:p>
            <a:pPr indent="0" marL="0">
              <a:buNone/>
            </a:pPr>
            <a:r>
              <a:rPr lang="en-US" sz="1400" b="1" dirty="0">
                <a:solidFill>
                  <a:srgbClr val="EB6834"/>
                </a:solidFill>
              </a:rPr>
              <a:t>The hypothesis under test</a:t>
            </a:r>
            <a:endParaRPr lang="en-US" sz="1400" dirty="0"/>
          </a:p>
        </p:txBody>
      </p:sp>
      <p:sp>
        <p:nvSpPr>
          <p:cNvPr id="24" name="Text 22"/>
          <p:cNvSpPr txBox="1"/>
          <p:nvPr/>
        </p:nvSpPr>
        <p:spPr>
          <a:xfrm>
            <a:off x="6693408" y="4425696"/>
            <a:ext cx="4626864" cy="13075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The shortest route runs alongside a pedestrian walkway. A safer route one row further is longer.</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Q-learning should take the fast risky route; SARSA should keep clearance — because only SARSA prices in the cost of its own exploration.</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Dataset and methodology</a:t>
            </a:r>
            <a:endParaRPr lang="en-US" sz="3000" dirty="0"/>
          </a:p>
        </p:txBody>
      </p:sp>
      <p:sp>
        <p:nvSpPr>
          <p:cNvPr id="3" name="chip-Dataset &amp; Methodology"/>
          <p:cNvSpPr/>
          <p:nvPr/>
        </p:nvSpPr>
        <p:spPr>
          <a:xfrm>
            <a:off x="8869680" y="420624"/>
            <a:ext cx="2651760" cy="384048"/>
          </a:xfrm>
          <a:prstGeom prst="roundRect">
            <a:avLst>
              <a:gd name="adj" fmla="val 23810"/>
            </a:avLst>
          </a:prstGeom>
          <a:solidFill>
            <a:srgbClr val="14213D"/>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Dataset &amp; Methodology  ·  5 marks</a:t>
            </a:r>
            <a:endParaRPr lang="en-US" sz="1050" dirty="0"/>
          </a:p>
        </p:txBody>
      </p:sp>
      <p:sp>
        <p:nvSpPr>
          <p:cNvPr id="5" name="stat-rows"/>
          <p:cNvSpPr/>
          <p:nvPr/>
        </p:nvSpPr>
        <p:spPr>
          <a:xfrm>
            <a:off x="640080" y="1234440"/>
            <a:ext cx="2514600" cy="1691640"/>
          </a:xfrm>
          <a:prstGeom prst="roundRect">
            <a:avLst>
              <a:gd name="adj" fmla="val 5405"/>
            </a:avLst>
          </a:prstGeom>
          <a:solidFill>
            <a:srgbClr val="EDF2F7"/>
          </a:solidFill>
          <a:ln w="12700">
            <a:solidFill>
              <a:srgbClr val="333333"/>
            </a:solidFill>
            <a:prstDash val="solid"/>
          </a:ln>
        </p:spPr>
      </p:sp>
      <p:sp>
        <p:nvSpPr>
          <p:cNvPr id="6" name="Text 4"/>
          <p:cNvSpPr txBox="1"/>
          <p:nvPr/>
        </p:nvSpPr>
        <p:spPr>
          <a:xfrm>
            <a:off x="777240" y="1325880"/>
            <a:ext cx="2240280" cy="879653"/>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7,980</a:t>
            </a:r>
            <a:endParaRPr lang="en-US" sz="4000" dirty="0"/>
          </a:p>
        </p:txBody>
      </p:sp>
      <p:sp>
        <p:nvSpPr>
          <p:cNvPr id="7" name="Text 5"/>
          <p:cNvSpPr txBox="1"/>
          <p:nvPr/>
        </p:nvSpPr>
        <p:spPr>
          <a:xfrm>
            <a:off x="777240" y="2205533"/>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rows</a:t>
            </a:r>
            <a:endParaRPr lang="en-US" sz="1300" dirty="0"/>
          </a:p>
        </p:txBody>
      </p:sp>
      <p:sp>
        <p:nvSpPr>
          <p:cNvPr id="8" name="Text 6"/>
          <p:cNvSpPr txBox="1"/>
          <p:nvPr/>
        </p:nvSpPr>
        <p:spPr>
          <a:xfrm>
            <a:off x="749808" y="2516429"/>
            <a:ext cx="2295144" cy="336499"/>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zoya77/robot-path-planning</a:t>
            </a:r>
            <a:endParaRPr lang="en-US" sz="1050" dirty="0"/>
          </a:p>
        </p:txBody>
      </p:sp>
      <p:sp>
        <p:nvSpPr>
          <p:cNvPr id="9" name="stat-distinct layouts"/>
          <p:cNvSpPr/>
          <p:nvPr/>
        </p:nvSpPr>
        <p:spPr>
          <a:xfrm>
            <a:off x="3337560" y="1234440"/>
            <a:ext cx="2514600" cy="1691640"/>
          </a:xfrm>
          <a:prstGeom prst="roundRect">
            <a:avLst>
              <a:gd name="adj" fmla="val 5405"/>
            </a:avLst>
          </a:prstGeom>
          <a:solidFill>
            <a:srgbClr val="EDF2F7"/>
          </a:solidFill>
          <a:ln w="12700">
            <a:solidFill>
              <a:srgbClr val="333333"/>
            </a:solidFill>
            <a:prstDash val="solid"/>
          </a:ln>
        </p:spPr>
      </p:sp>
      <p:sp>
        <p:nvSpPr>
          <p:cNvPr id="10" name="Text 8"/>
          <p:cNvSpPr txBox="1"/>
          <p:nvPr/>
        </p:nvSpPr>
        <p:spPr>
          <a:xfrm>
            <a:off x="3474720" y="1325880"/>
            <a:ext cx="2240280" cy="879653"/>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5,045</a:t>
            </a:r>
            <a:endParaRPr lang="en-US" sz="4000" dirty="0"/>
          </a:p>
        </p:txBody>
      </p:sp>
      <p:sp>
        <p:nvSpPr>
          <p:cNvPr id="11" name="Text 9"/>
          <p:cNvSpPr txBox="1"/>
          <p:nvPr/>
        </p:nvSpPr>
        <p:spPr>
          <a:xfrm>
            <a:off x="3474720" y="2205533"/>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distinct layouts</a:t>
            </a:r>
            <a:endParaRPr lang="en-US" sz="1300" dirty="0"/>
          </a:p>
        </p:txBody>
      </p:sp>
      <p:sp>
        <p:nvSpPr>
          <p:cNvPr id="12" name="Text 10"/>
          <p:cNvSpPr txBox="1"/>
          <p:nvPr/>
        </p:nvSpPr>
        <p:spPr>
          <a:xfrm>
            <a:off x="3447288" y="2516429"/>
            <a:ext cx="2295144" cy="336499"/>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real 5×5 occupancy grids</a:t>
            </a:r>
            <a:endParaRPr lang="en-US" sz="1050" dirty="0"/>
          </a:p>
        </p:txBody>
      </p:sp>
      <p:sp>
        <p:nvSpPr>
          <p:cNvPr id="13" name="stat-goal reachable"/>
          <p:cNvSpPr/>
          <p:nvPr/>
        </p:nvSpPr>
        <p:spPr>
          <a:xfrm>
            <a:off x="6035040" y="1234440"/>
            <a:ext cx="2514600" cy="1691640"/>
          </a:xfrm>
          <a:prstGeom prst="roundRect">
            <a:avLst>
              <a:gd name="adj" fmla="val 5405"/>
            </a:avLst>
          </a:prstGeom>
          <a:solidFill>
            <a:srgbClr val="EDF2F7"/>
          </a:solidFill>
          <a:ln w="12700">
            <a:solidFill>
              <a:srgbClr val="333333"/>
            </a:solidFill>
            <a:prstDash val="solid"/>
          </a:ln>
        </p:spPr>
      </p:sp>
      <p:sp>
        <p:nvSpPr>
          <p:cNvPr id="14" name="Text 12"/>
          <p:cNvSpPr txBox="1"/>
          <p:nvPr/>
        </p:nvSpPr>
        <p:spPr>
          <a:xfrm>
            <a:off x="6172200" y="1325880"/>
            <a:ext cx="2240280" cy="879653"/>
          </a:xfrm>
          <a:prstGeom prst="rect">
            <a:avLst/>
          </a:prstGeom>
          <a:noFill/>
          <a:ln/>
        </p:spPr>
        <p:txBody>
          <a:bodyPr wrap="square" lIns="0" tIns="0" rIns="0" bIns="0" rtlCol="0" anchor="ctr"/>
          <a:lstStyle/>
          <a:p>
            <a:pPr algn="ctr" indent="0" marL="0">
              <a:buNone/>
            </a:pPr>
            <a:r>
              <a:rPr lang="en-US" sz="4000" b="1" dirty="0">
                <a:solidFill>
                  <a:srgbClr val="1BAF7A"/>
                </a:solidFill>
                <a:latin typeface="Cambria" pitchFamily="34" charset="0"/>
                <a:ea typeface="Cambria" pitchFamily="34" charset="-122"/>
                <a:cs typeface="Cambria" pitchFamily="34" charset="-120"/>
              </a:rPr>
              <a:t>96.1%</a:t>
            </a:r>
            <a:endParaRPr lang="en-US" sz="4000" dirty="0"/>
          </a:p>
        </p:txBody>
      </p:sp>
      <p:sp>
        <p:nvSpPr>
          <p:cNvPr id="15" name="Text 13"/>
          <p:cNvSpPr txBox="1"/>
          <p:nvPr/>
        </p:nvSpPr>
        <p:spPr>
          <a:xfrm>
            <a:off x="6172200" y="2205533"/>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goal reachable</a:t>
            </a:r>
            <a:endParaRPr lang="en-US" sz="1300" dirty="0"/>
          </a:p>
        </p:txBody>
      </p:sp>
      <p:sp>
        <p:nvSpPr>
          <p:cNvPr id="16" name="Text 14"/>
          <p:cNvSpPr txBox="1"/>
          <p:nvPr/>
        </p:nvSpPr>
        <p:spPr>
          <a:xfrm>
            <a:off x="6144768" y="2516429"/>
            <a:ext cx="2295144" cy="336499"/>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start/goal never on a shelf</a:t>
            </a:r>
            <a:endParaRPr lang="en-US" sz="1050" dirty="0"/>
          </a:p>
        </p:txBody>
      </p:sp>
      <p:sp>
        <p:nvSpPr>
          <p:cNvPr id="17" name="stat-columns usable"/>
          <p:cNvSpPr/>
          <p:nvPr/>
        </p:nvSpPr>
        <p:spPr>
          <a:xfrm>
            <a:off x="8732520" y="1234440"/>
            <a:ext cx="2514600" cy="1691640"/>
          </a:xfrm>
          <a:prstGeom prst="roundRect">
            <a:avLst>
              <a:gd name="adj" fmla="val 5405"/>
            </a:avLst>
          </a:prstGeom>
          <a:solidFill>
            <a:srgbClr val="EDF2F7"/>
          </a:solidFill>
          <a:ln w="12700">
            <a:solidFill>
              <a:srgbClr val="333333"/>
            </a:solidFill>
            <a:prstDash val="solid"/>
          </a:ln>
        </p:spPr>
      </p:sp>
      <p:sp>
        <p:nvSpPr>
          <p:cNvPr id="18" name="Text 16"/>
          <p:cNvSpPr txBox="1"/>
          <p:nvPr/>
        </p:nvSpPr>
        <p:spPr>
          <a:xfrm>
            <a:off x="8869680" y="1325880"/>
            <a:ext cx="2240280" cy="879653"/>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4 of 48</a:t>
            </a:r>
            <a:endParaRPr lang="en-US" sz="4000" dirty="0"/>
          </a:p>
        </p:txBody>
      </p:sp>
      <p:sp>
        <p:nvSpPr>
          <p:cNvPr id="19" name="Text 17"/>
          <p:cNvSpPr txBox="1"/>
          <p:nvPr/>
        </p:nvSpPr>
        <p:spPr>
          <a:xfrm>
            <a:off x="8869680" y="2205533"/>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columns usable</a:t>
            </a:r>
            <a:endParaRPr lang="en-US" sz="1300" dirty="0"/>
          </a:p>
        </p:txBody>
      </p:sp>
      <p:sp>
        <p:nvSpPr>
          <p:cNvPr id="20" name="Text 18"/>
          <p:cNvSpPr txBox="1"/>
          <p:nvPr/>
        </p:nvSpPr>
        <p:spPr>
          <a:xfrm>
            <a:off x="8842248" y="2516429"/>
            <a:ext cx="2295144" cy="336499"/>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the rest are audited out</a:t>
            </a:r>
            <a:endParaRPr lang="en-US" sz="1050" dirty="0"/>
          </a:p>
        </p:txBody>
      </p:sp>
      <p:sp>
        <p:nvSpPr>
          <p:cNvPr id="21" name="Text 19"/>
          <p:cNvSpPr txBox="1"/>
          <p:nvPr/>
        </p:nvSpPr>
        <p:spPr>
          <a:xfrm>
            <a:off x="640080" y="3154680"/>
            <a:ext cx="10881360" cy="411480"/>
          </a:xfrm>
          <a:prstGeom prst="rect">
            <a:avLst/>
          </a:prstGeom>
          <a:noFill/>
          <a:ln/>
        </p:spPr>
        <p:txBody>
          <a:bodyPr wrap="square" lIns="0" tIns="0" rIns="0" bIns="0" rtlCol="0" anchor="ctr"/>
          <a:lstStyle/>
          <a:p>
            <a:pPr indent="0" marL="0">
              <a:buNone/>
            </a:pPr>
            <a:r>
              <a:rPr lang="en-US" sz="1300" b="1" dirty="0">
                <a:solidFill>
                  <a:srgbClr val="14213D"/>
                </a:solidFill>
              </a:rPr>
              <a:t>An RL agent cannot learn from rows. It needs an environment that answers “what if the robot had turned left?” — a CSV only records what did happen.</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3657600"/>
          <a:ext cx="10881360" cy="914400"/>
        </p:xfrm>
        <a:graphic>
          <a:graphicData uri="http://schemas.openxmlformats.org/drawingml/2006/table">
            <a:tbl>
              <a:tblPr/>
              <a:tblGrid>
                <a:gridCol w="2743200"/>
                <a:gridCol w="1554480"/>
                <a:gridCol w="6583680"/>
              </a:tblGrid>
              <a:tr h="329184">
                <a:tc>
                  <a:txBody>
                    <a:bodyPr/>
                    <a:lstStyle/>
                    <a:p>
                      <a:pPr indent="0" marL="0">
                        <a:buNone/>
                      </a:pPr>
                      <a:r>
                        <a:rPr lang="en-US" sz="1250" b="1" dirty="0">
                          <a:solidFill>
                            <a:srgbClr val="FFFFFF"/>
                          </a:solidFill>
                        </a:rPr>
                        <a:t>Element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Source</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Detail</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329184">
                <a:tc>
                  <a:txBody>
                    <a:bodyPr/>
                    <a:lstStyle/>
                    <a:p>
                      <a:pPr indent="0" marL="0">
                        <a:buNone/>
                      </a:pPr>
                      <a:r>
                        <a:rPr lang="en-US" sz="1250" b="1" dirty="0">
                          <a:solidFill>
                            <a:srgbClr val="14213D"/>
                          </a:solidFill>
                        </a:rPr>
                        <a:t>Racking layouts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BAF7A"/>
                          </a:solidFill>
                        </a:rPr>
                        <a:t>DATA</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16 real 5×5 patches tiled into a 20×20 floor</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rgbClr val="14213D"/>
                          </a:solidFill>
                        </a:rPr>
                        <a:t>Start / goal validity</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BAF7A"/>
                          </a:solidFill>
                        </a:rPr>
                        <a:t>DATA</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never placed on an obstacle in any of 7,980 rows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rgbClr val="14213D"/>
                          </a:solidFill>
                        </a:rPr>
                        <a:t>Action encoding</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BAF7A"/>
                          </a:solidFill>
                        </a:rPr>
                        <a:t>DATA</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recovered empirically: up / down / left / right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rgbClr val="14213D"/>
                          </a:solidFill>
                        </a:rPr>
                        <a:t>Cross-aisle + walkway</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EB6834"/>
                          </a:solidFill>
                        </a:rPr>
                        <a:t>ASSUMED</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the hazard; without it there is no effect to measure</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rgbClr val="14213D"/>
                          </a:solidFill>
                        </a:rPr>
                        <a:t>Reward constants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EB6834"/>
                          </a:solidFill>
                        </a:rPr>
                        <a:t>ASSUMED</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declared, and swept from 0 to −200 in the analysis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 audit: most of this dataset is unusable</a:t>
            </a:r>
            <a:endParaRPr lang="en-US" sz="3000" dirty="0"/>
          </a:p>
        </p:txBody>
      </p:sp>
      <p:sp>
        <p:nvSpPr>
          <p:cNvPr id="3" name="chip-Dataset &amp; Methodology"/>
          <p:cNvSpPr/>
          <p:nvPr/>
        </p:nvSpPr>
        <p:spPr>
          <a:xfrm>
            <a:off x="8869680" y="420624"/>
            <a:ext cx="2651760" cy="384048"/>
          </a:xfrm>
          <a:prstGeom prst="roundRect">
            <a:avLst>
              <a:gd name="adj" fmla="val 23810"/>
            </a:avLst>
          </a:prstGeom>
          <a:solidFill>
            <a:srgbClr val="14213D"/>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Dataset &amp; Methodology  ·  5 marks</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914400"/>
        </p:xfrm>
        <a:graphic>
          <a:graphicData uri="http://schemas.openxmlformats.org/drawingml/2006/table">
            <a:tbl>
              <a:tblPr/>
              <a:tblGrid>
                <a:gridCol w="2468880"/>
                <a:gridCol w="1737360"/>
                <a:gridCol w="5394960"/>
                <a:gridCol w="1280160"/>
              </a:tblGrid>
              <a:tr h="384048">
                <a:tc>
                  <a:txBody>
                    <a:bodyPr/>
                    <a:lstStyle/>
                    <a:p>
                      <a:pPr indent="0" marL="0">
                        <a:buNone/>
                      </a:pPr>
                      <a:r>
                        <a:rPr lang="en-US" sz="1200" b="1" dirty="0">
                          <a:solidFill>
                            <a:srgbClr val="FFFFFF"/>
                          </a:solidFill>
                        </a:rPr>
                        <a:t>Column</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Claim</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Evidence</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Verdict</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384048">
                <a:tc>
                  <a:txBody>
                    <a:bodyPr/>
                    <a:lstStyle/>
                    <a:p>
                      <a:pPr indent="0" marL="0">
                        <a:buNone/>
                      </a:pPr>
                      <a:r>
                        <a:rPr lang="en-US" sz="1200" dirty="0">
                          <a:solidFill>
                            <a:srgbClr val="14213D"/>
                          </a:solidFill>
                        </a:rPr>
                        <a:t>episode_id / time_step</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trajectories</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5,727 of 7,980 rows duplicate the key; grid and start change mid-episode</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EB6834"/>
                          </a:solidFill>
                        </a:rPr>
                        <a:t>EXCLUDED</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213D"/>
                          </a:solidFill>
                        </a:rPr>
                        <a:t>reward</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a reward signal</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correlation with true shortest-path distance = −0.03</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EB6834"/>
                          </a:solidFill>
                        </a:rPr>
                        <a:t>EXCLUDED</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213D"/>
                          </a:solidFill>
                        </a:rPr>
                        <a:t>path_length_so_far</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path cost</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correlation with true distance = +0.01</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EB6834"/>
                          </a:solidFill>
                        </a:rPr>
                        <a:t>EXCLUDED</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213D"/>
                          </a:solidFill>
                        </a:rPr>
                        <a:t>converged_flag</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convergence</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constant 1 in every row</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EB6834"/>
                          </a:solidFill>
                        </a:rPr>
                        <a:t>EXCLUDED</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4213D"/>
                          </a:solidFill>
                        </a:rPr>
                        <a:t>joint_angle_1 / 2</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robot arm angles</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irrelevant to grid navigation</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EB6834"/>
                          </a:solidFill>
                        </a:rPr>
                        <a:t>EXCLUDED</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14213D"/>
                          </a:solidFill>
                        </a:rPr>
                        <a:t>obs_grid_flat_0..24</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occupancy grid</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5,045 distinct layouts, internally consistent</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BAF7A"/>
                          </a:solidFill>
                        </a:rPr>
                        <a:t>USED</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6" name="card-No reference paths exist either"/>
          <p:cNvSpPr/>
          <p:nvPr/>
        </p:nvSpPr>
        <p:spPr>
          <a:xfrm>
            <a:off x="640080" y="4343400"/>
            <a:ext cx="5394960" cy="1463040"/>
          </a:xfrm>
          <a:prstGeom prst="roundRect">
            <a:avLst>
              <a:gd name="adj" fmla="val 5000"/>
            </a:avLst>
          </a:prstGeom>
          <a:solidFill>
            <a:srgbClr val="EDF2F7"/>
          </a:solidFill>
          <a:ln w="12700">
            <a:solidFill>
              <a:srgbClr val="333333"/>
            </a:solidFill>
            <a:prstDash val="solid"/>
          </a:ln>
        </p:spPr>
      </p:sp>
      <p:sp>
        <p:nvSpPr>
          <p:cNvPr id="7" name="Text 4"/>
          <p:cNvSpPr txBox="1"/>
          <p:nvPr/>
        </p:nvSpPr>
        <p:spPr>
          <a:xfrm>
            <a:off x="841248" y="4507992"/>
            <a:ext cx="4992624" cy="292608"/>
          </a:xfrm>
          <a:prstGeom prst="rect">
            <a:avLst/>
          </a:prstGeom>
          <a:noFill/>
          <a:ln/>
        </p:spPr>
        <p:txBody>
          <a:bodyPr wrap="square" lIns="0" tIns="0" rIns="0" bIns="0" rtlCol="0" anchor="ctr"/>
          <a:lstStyle/>
          <a:p>
            <a:pPr indent="0" marL="0">
              <a:buNone/>
            </a:pPr>
            <a:r>
              <a:rPr lang="en-US" sz="1400" b="1" dirty="0">
                <a:solidFill>
                  <a:srgbClr val="2A78D6"/>
                </a:solidFill>
              </a:rPr>
              <a:t>No reference paths exist either</a:t>
            </a:r>
            <a:endParaRPr lang="en-US" sz="1400" dirty="0"/>
          </a:p>
        </p:txBody>
      </p:sp>
      <p:sp>
        <p:nvSpPr>
          <p:cNvPr id="8" name="Text 5"/>
          <p:cNvSpPr txBox="1"/>
          <p:nvPr/>
        </p:nvSpPr>
        <p:spPr>
          <a:xfrm>
            <a:off x="841248" y="4837176"/>
            <a:ext cx="4992624" cy="80467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The dataset ships no optimal path. Ground truth is therefore computed here by breadth-first search — exact on a unit-cost grid, and itself verified against a hand-checked example.</a:t>
            </a:r>
            <a:endParaRPr lang="en-US" sz="1200" dirty="0"/>
          </a:p>
        </p:txBody>
      </p:sp>
      <p:sp>
        <p:nvSpPr>
          <p:cNvPr id="9" name="card-Why this matters"/>
          <p:cNvSpPr/>
          <p:nvPr/>
        </p:nvSpPr>
        <p:spPr>
          <a:xfrm>
            <a:off x="6400800" y="4343400"/>
            <a:ext cx="5120640" cy="1463040"/>
          </a:xfrm>
          <a:prstGeom prst="roundRect">
            <a:avLst>
              <a:gd name="adj" fmla="val 5000"/>
            </a:avLst>
          </a:prstGeom>
          <a:solidFill>
            <a:srgbClr val="EDF2F7"/>
          </a:solidFill>
          <a:ln w="12700">
            <a:solidFill>
              <a:srgbClr val="333333"/>
            </a:solidFill>
            <a:prstDash val="solid"/>
          </a:ln>
        </p:spPr>
      </p:sp>
      <p:sp>
        <p:nvSpPr>
          <p:cNvPr id="10" name="Text 7"/>
          <p:cNvSpPr txBox="1"/>
          <p:nvPr/>
        </p:nvSpPr>
        <p:spPr>
          <a:xfrm>
            <a:off x="6601968" y="4507992"/>
            <a:ext cx="4718304" cy="292608"/>
          </a:xfrm>
          <a:prstGeom prst="rect">
            <a:avLst/>
          </a:prstGeom>
          <a:noFill/>
          <a:ln/>
        </p:spPr>
        <p:txBody>
          <a:bodyPr wrap="square" lIns="0" tIns="0" rIns="0" bIns="0" rtlCol="0" anchor="ctr"/>
          <a:lstStyle/>
          <a:p>
            <a:pPr indent="0" marL="0">
              <a:buNone/>
            </a:pPr>
            <a:r>
              <a:rPr lang="en-US" sz="1400" b="1" dirty="0">
                <a:solidFill>
                  <a:srgbClr val="EB6834"/>
                </a:solidFill>
              </a:rPr>
              <a:t>Why this matters</a:t>
            </a:r>
            <a:endParaRPr lang="en-US" sz="1400" dirty="0"/>
          </a:p>
        </p:txBody>
      </p:sp>
      <p:sp>
        <p:nvSpPr>
          <p:cNvPr id="11" name="Text 8"/>
          <p:cNvSpPr txBox="1"/>
          <p:nvPr/>
        </p:nvSpPr>
        <p:spPr>
          <a:xfrm>
            <a:off x="6601968" y="4837176"/>
            <a:ext cx="4718304" cy="80467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Using the supplied reward column would have trained both agents on noise, and the comparison would still have produced a plausible-looking result.</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 MDP: states, actions, rewards</a:t>
            </a:r>
            <a:endParaRPr lang="en-US" sz="3000" dirty="0"/>
          </a:p>
        </p:txBody>
      </p:sp>
      <p:sp>
        <p:nvSpPr>
          <p:cNvPr id="3" name="chip-Dataset &amp; Methodology"/>
          <p:cNvSpPr/>
          <p:nvPr/>
        </p:nvSpPr>
        <p:spPr>
          <a:xfrm>
            <a:off x="8869680" y="420624"/>
            <a:ext cx="2651760" cy="384048"/>
          </a:xfrm>
          <a:prstGeom prst="roundRect">
            <a:avLst>
              <a:gd name="adj" fmla="val 23810"/>
            </a:avLst>
          </a:prstGeom>
          <a:solidFill>
            <a:srgbClr val="14213D"/>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Dataset &amp; Methodology  ·  5 marks</a:t>
            </a:r>
            <a:endParaRPr lang="en-US" sz="1050" dirty="0"/>
          </a:p>
        </p:txBody>
      </p:sp>
      <p:pic>
        <p:nvPicPr>
          <p:cNvPr id="5" name="Image 0" descr="fig1_warehouse.png">    </p:cNvPr>
          <p:cNvPicPr>
            <a:picLocks noChangeAspect="1"/>
          </p:cNvPicPr>
          <p:nvPr/>
        </p:nvPicPr>
        <p:blipFill>
          <a:blip r:embed="rId1"/>
          <a:stretch>
            <a:fillRect/>
          </a:stretch>
        </p:blipFill>
        <p:spPr>
          <a:xfrm>
            <a:off x="640080" y="1234440"/>
            <a:ext cx="3931920" cy="4617720"/>
          </a:xfrm>
          <a:prstGeom prst="rect">
            <a:avLst/>
          </a:prstGeom>
        </p:spPr>
      </p:pic>
      <p:sp>
        <p:nvSpPr>
          <p:cNvPr id="6" name="card-States and actions"/>
          <p:cNvSpPr/>
          <p:nvPr/>
        </p:nvSpPr>
        <p:spPr>
          <a:xfrm>
            <a:off x="4937760" y="1234440"/>
            <a:ext cx="3200400" cy="2194560"/>
          </a:xfrm>
          <a:prstGeom prst="roundRect">
            <a:avLst>
              <a:gd name="adj" fmla="val 3333"/>
            </a:avLst>
          </a:prstGeom>
          <a:solidFill>
            <a:srgbClr val="EDF2F7"/>
          </a:solidFill>
          <a:ln w="12700">
            <a:solidFill>
              <a:srgbClr val="333333"/>
            </a:solidFill>
            <a:prstDash val="solid"/>
          </a:ln>
        </p:spPr>
      </p:sp>
      <p:sp>
        <p:nvSpPr>
          <p:cNvPr id="7" name="Text 4"/>
          <p:cNvSpPr txBox="1"/>
          <p:nvPr/>
        </p:nvSpPr>
        <p:spPr>
          <a:xfrm>
            <a:off x="5138928" y="1399032"/>
            <a:ext cx="2798064" cy="292608"/>
          </a:xfrm>
          <a:prstGeom prst="rect">
            <a:avLst/>
          </a:prstGeom>
          <a:noFill/>
          <a:ln/>
        </p:spPr>
        <p:txBody>
          <a:bodyPr wrap="square" lIns="0" tIns="0" rIns="0" bIns="0" rtlCol="0" anchor="ctr"/>
          <a:lstStyle/>
          <a:p>
            <a:pPr indent="0" marL="0">
              <a:buNone/>
            </a:pPr>
            <a:r>
              <a:rPr lang="en-US" sz="1400" b="1" dirty="0">
                <a:solidFill>
                  <a:srgbClr val="2A78D6"/>
                </a:solidFill>
              </a:rPr>
              <a:t>States and actions</a:t>
            </a:r>
            <a:endParaRPr lang="en-US" sz="1400" dirty="0"/>
          </a:p>
        </p:txBody>
      </p:sp>
      <p:sp>
        <p:nvSpPr>
          <p:cNvPr id="8" name="Text 5"/>
          <p:cNvSpPr txBox="1"/>
          <p:nvPr/>
        </p:nvSpPr>
        <p:spPr>
          <a:xfrm>
            <a:off x="5138928" y="1728216"/>
            <a:ext cx="2798064" cy="15361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s = row × W + col, so 20 × 20 = 400 states.</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Four actions: up, down, left, right — the encoding recovered from the data.</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Deterministic transitions.</a:t>
            </a:r>
            <a:endParaRPr lang="en-US" sz="1200" dirty="0"/>
          </a:p>
        </p:txBody>
      </p:sp>
      <p:sp>
        <p:nvSpPr>
          <p:cNvPr id="9" name="card-The three cleared rows"/>
          <p:cNvSpPr/>
          <p:nvPr/>
        </p:nvSpPr>
        <p:spPr>
          <a:xfrm>
            <a:off x="8321040" y="1234440"/>
            <a:ext cx="3200400" cy="2194560"/>
          </a:xfrm>
          <a:prstGeom prst="roundRect">
            <a:avLst>
              <a:gd name="adj" fmla="val 3333"/>
            </a:avLst>
          </a:prstGeom>
          <a:solidFill>
            <a:srgbClr val="EDF2F7"/>
          </a:solidFill>
          <a:ln w="12700">
            <a:solidFill>
              <a:srgbClr val="333333"/>
            </a:solidFill>
            <a:prstDash val="solid"/>
          </a:ln>
        </p:spPr>
      </p:sp>
      <p:sp>
        <p:nvSpPr>
          <p:cNvPr id="10" name="Text 7"/>
          <p:cNvSpPr txBox="1"/>
          <p:nvPr/>
        </p:nvSpPr>
        <p:spPr>
          <a:xfrm>
            <a:off x="8522208" y="1399032"/>
            <a:ext cx="2798064" cy="292608"/>
          </a:xfrm>
          <a:prstGeom prst="rect">
            <a:avLst/>
          </a:prstGeom>
          <a:noFill/>
          <a:ln/>
        </p:spPr>
        <p:txBody>
          <a:bodyPr wrap="square" lIns="0" tIns="0" rIns="0" bIns="0" rtlCol="0" anchor="ctr"/>
          <a:lstStyle/>
          <a:p>
            <a:pPr indent="0" marL="0">
              <a:buNone/>
            </a:pPr>
            <a:r>
              <a:rPr lang="en-US" sz="1400" b="1" dirty="0">
                <a:solidFill>
                  <a:srgbClr val="EB6834"/>
                </a:solidFill>
              </a:rPr>
              <a:t>The three cleared rows</a:t>
            </a:r>
            <a:endParaRPr lang="en-US" sz="1400" dirty="0"/>
          </a:p>
        </p:txBody>
      </p:sp>
      <p:sp>
        <p:nvSpPr>
          <p:cNvPr id="11" name="Text 8"/>
          <p:cNvSpPr txBox="1"/>
          <p:nvPr/>
        </p:nvSpPr>
        <p:spPr>
          <a:xfrm>
            <a:off x="8522208" y="1728216"/>
            <a:ext cx="2798064" cy="15361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Row 10  pedestrian walkway (hazard)</a:t>
            </a:r>
            <a:endParaRPr lang="en-US" sz="1200" dirty="0"/>
          </a:p>
          <a:p>
            <a:pPr indent="0" marL="0">
              <a:lnSpc>
                <a:spcPct val="108000"/>
              </a:lnSpc>
              <a:buNone/>
            </a:pPr>
            <a:r>
              <a:rPr lang="en-US" sz="1200" dirty="0">
                <a:solidFill>
                  <a:srgbClr val="3D5A80"/>
                </a:solidFill>
              </a:rPr>
              <a:t>Row 11  main aisle — the fast route</a:t>
            </a:r>
            <a:endParaRPr lang="en-US" sz="1200" dirty="0"/>
          </a:p>
          <a:p>
            <a:pPr indent="0" marL="0">
              <a:lnSpc>
                <a:spcPct val="108000"/>
              </a:lnSpc>
              <a:buNone/>
            </a:pPr>
            <a:r>
              <a:rPr lang="en-US" sz="1200" dirty="0">
                <a:solidFill>
                  <a:srgbClr val="3D5A80"/>
                </a:solidFill>
              </a:rPr>
              <a:t>Row 12  safe lane — the detour</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Start and goal sit at the aisle ends.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937760" y="3657600"/>
          <a:ext cx="6583680" cy="914400"/>
        </p:xfrm>
        <a:graphic>
          <a:graphicData uri="http://schemas.openxmlformats.org/drawingml/2006/table">
            <a:tbl>
              <a:tblPr/>
              <a:tblGrid>
                <a:gridCol w="2651760"/>
                <a:gridCol w="1371600"/>
                <a:gridCol w="2560320"/>
              </a:tblGrid>
              <a:tr h="338328">
                <a:tc>
                  <a:txBody>
                    <a:bodyPr/>
                    <a:lstStyle/>
                    <a:p>
                      <a:pPr indent="0" marL="0">
                        <a:buNone/>
                      </a:pPr>
                      <a:r>
                        <a:rPr lang="en-US" sz="1250" b="1" dirty="0">
                          <a:solidFill>
                            <a:srgbClr val="FFFFFF"/>
                          </a:solidFill>
                        </a:rPr>
                        <a:t>Event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Reward</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Effect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338328">
                <a:tc>
                  <a:txBody>
                    <a:bodyPr/>
                    <a:lstStyle/>
                    <a:p>
                      <a:pPr indent="0" marL="0">
                        <a:buNone/>
                      </a:pPr>
                      <a:r>
                        <a:rPr lang="en-US" sz="1250" dirty="0">
                          <a:solidFill>
                            <a:srgbClr val="14213D"/>
                          </a:solidFill>
                        </a:rPr>
                        <a:t>Ordinary step</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−1</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moves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4213D"/>
                          </a:solidFill>
                        </a:rPr>
                        <a:t>Nudging the racking</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−5</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stays put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38328">
                <a:tc>
                  <a:txBody>
                    <a:bodyPr/>
                    <a:lstStyle/>
                    <a:p>
                      <a:pPr indent="0" marL="0">
                        <a:buNone/>
                      </a:pPr>
                      <a:r>
                        <a:rPr lang="en-US" sz="1250" b="1" dirty="0">
                          <a:solidFill>
                            <a:srgbClr val="14213D"/>
                          </a:solidFill>
                        </a:rPr>
                        <a:t>Entering the walkway</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EB6834"/>
                          </a:solidFill>
                        </a:rPr>
                        <a:t>−100</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4213D"/>
                          </a:solidFill>
                        </a:rPr>
                        <a:t>returned to the charging station</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38328">
                <a:tc>
                  <a:txBody>
                    <a:bodyPr/>
                    <a:lstStyle/>
                    <a:p>
                      <a:pPr indent="0" marL="0">
                        <a:buNone/>
                      </a:pPr>
                      <a:r>
                        <a:rPr lang="en-US" sz="1250" dirty="0">
                          <a:solidFill>
                            <a:srgbClr val="14213D"/>
                          </a:solidFill>
                        </a:rPr>
                        <a:t>Reaching the goal</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+100</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episode ends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13" name="Text 9"/>
          <p:cNvSpPr txBox="1"/>
          <p:nvPr/>
        </p:nvSpPr>
        <p:spPr>
          <a:xfrm>
            <a:off x="4937760" y="5349240"/>
            <a:ext cx="6583680" cy="548640"/>
          </a:xfrm>
          <a:prstGeom prst="rect">
            <a:avLst/>
          </a:prstGeom>
          <a:noFill/>
          <a:ln/>
        </p:spPr>
        <p:txBody>
          <a:bodyPr wrap="square" lIns="0" tIns="0" rIns="0" bIns="0" rtlCol="0" anchor="ctr"/>
          <a:lstStyle/>
          <a:p>
            <a:pPr indent="0" marL="0">
              <a:buNone/>
            </a:pPr>
            <a:r>
              <a:rPr lang="en-US" sz="1250" i="1" dirty="0">
                <a:solidFill>
                  <a:srgbClr val="14213D"/>
                </a:solidFill>
              </a:rPr>
              <a:t>Optimal legal route: 19 steps along the main aisle (BFS). That route is fast — and every cell of it sits directly below the walkway.</a:t>
            </a:r>
            <a:endParaRPr lang="en-US" sz="12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Model implementation — built from first principles</a:t>
            </a:r>
            <a:endParaRPr lang="en-US" sz="3000" dirty="0"/>
          </a:p>
        </p:txBody>
      </p:sp>
      <p:sp>
        <p:nvSpPr>
          <p:cNvPr id="3" name="chip-Model Implementation"/>
          <p:cNvSpPr/>
          <p:nvPr/>
        </p:nvSpPr>
        <p:spPr>
          <a:xfrm>
            <a:off x="8869680" y="420624"/>
            <a:ext cx="2651760" cy="384048"/>
          </a:xfrm>
          <a:prstGeom prst="roundRect">
            <a:avLst>
              <a:gd name="adj" fmla="val 23810"/>
            </a:avLst>
          </a:prstGeom>
          <a:solidFill>
            <a:srgbClr val="2A78D6"/>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Model Implementation  ·  10 marks</a:t>
            </a:r>
            <a:endParaRPr lang="en-US" sz="1050" dirty="0"/>
          </a:p>
        </p:txBody>
      </p:sp>
      <p:sp>
        <p:nvSpPr>
          <p:cNvPr id="5" name="codecard"/>
          <p:cNvSpPr/>
          <p:nvPr/>
        </p:nvSpPr>
        <p:spPr>
          <a:xfrm>
            <a:off x="640080" y="1234440"/>
            <a:ext cx="5943600" cy="3017520"/>
          </a:xfrm>
          <a:prstGeom prst="roundRect">
            <a:avLst>
              <a:gd name="adj" fmla="val 2424"/>
            </a:avLst>
          </a:prstGeom>
          <a:solidFill>
            <a:srgbClr val="EDF2F7"/>
          </a:solidFill>
          <a:ln w="12700">
            <a:solidFill>
              <a:srgbClr val="333333"/>
            </a:solidFill>
            <a:prstDash val="solid"/>
          </a:ln>
        </p:spPr>
      </p:sp>
      <p:sp>
        <p:nvSpPr>
          <p:cNvPr id="6" name="Text 4"/>
          <p:cNvSpPr txBox="1"/>
          <p:nvPr/>
        </p:nvSpPr>
        <p:spPr>
          <a:xfrm>
            <a:off x="868680" y="1371600"/>
            <a:ext cx="5486400" cy="274320"/>
          </a:xfrm>
          <a:prstGeom prst="rect">
            <a:avLst/>
          </a:prstGeom>
          <a:noFill/>
          <a:ln/>
        </p:spPr>
        <p:txBody>
          <a:bodyPr wrap="square" lIns="0" tIns="0" rIns="0" bIns="0" rtlCol="0" anchor="ctr"/>
          <a:lstStyle/>
          <a:p>
            <a:pPr indent="0" marL="0">
              <a:buNone/>
            </a:pPr>
            <a:r>
              <a:rPr lang="en-US" sz="1300" b="1" dirty="0">
                <a:solidFill>
                  <a:srgbClr val="2A78D6"/>
                </a:solidFill>
              </a:rPr>
              <a:t>The shared base — everything they have in common</a:t>
            </a:r>
            <a:endParaRPr lang="en-US" sz="1300" dirty="0"/>
          </a:p>
        </p:txBody>
      </p:sp>
      <p:sp>
        <p:nvSpPr>
          <p:cNvPr id="7" name="Text 5"/>
          <p:cNvSpPr txBox="1"/>
          <p:nvPr/>
        </p:nvSpPr>
        <p:spPr>
          <a:xfrm>
            <a:off x="868680" y="1737360"/>
            <a:ext cx="5486400" cy="2377440"/>
          </a:xfrm>
          <a:prstGeom prst="rect">
            <a:avLst/>
          </a:prstGeom>
          <a:noFill/>
          <a:ln/>
        </p:spPr>
        <p:txBody>
          <a:bodyPr wrap="square" lIns="0" tIns="0" rIns="0" bIns="0" rtlCol="0" anchor="ctr"/>
          <a:lstStyle/>
          <a:p>
            <a:pPr indent="0" marL="0">
              <a:lnSpc>
                <a:spcPct val="112000"/>
              </a:lnSpc>
              <a:buNone/>
            </a:pPr>
            <a:r>
              <a:rPr lang="en-US" sz="1100" dirty="0">
                <a:solidFill>
                  <a:srgbClr val="14213D"/>
                </a:solidFill>
                <a:latin typeface="Courier New" pitchFamily="34" charset="0"/>
                <a:ea typeface="Courier New" pitchFamily="34" charset="-122"/>
                <a:cs typeface="Courier New" pitchFamily="34" charset="-120"/>
              </a:rPr>
              <a:t>class TDControlAgent:</a:t>
            </a:r>
            <a:endParaRPr lang="en-US" sz="1100" dirty="0"/>
          </a:p>
          <a:p>
            <a:pPr indent="0" marL="0">
              <a:lnSpc>
                <a:spcPct val="112000"/>
              </a:lnSpc>
              <a:buNone/>
            </a:pPr>
            <a:r>
              <a:rPr lang="en-US" sz="1100" dirty="0">
                <a:solidFill>
                  <a:srgbClr val="14213D"/>
                </a:solidFill>
                <a:latin typeface="Courier New" pitchFamily="34" charset="0"/>
                <a:ea typeface="Courier New" pitchFamily="34" charset="-122"/>
                <a:cs typeface="Courier New" pitchFamily="34" charset="-120"/>
              </a:rPr>
              <a:t>    def act(self, s):</a:t>
            </a:r>
            <a:endParaRPr lang="en-US" sz="1100" dirty="0"/>
          </a:p>
          <a:p>
            <a:pPr indent="0" marL="0">
              <a:lnSpc>
                <a:spcPct val="112000"/>
              </a:lnSpc>
              <a:buNone/>
            </a:pPr>
            <a:r>
              <a:rPr lang="en-US" sz="1100" dirty="0">
                <a:solidFill>
                  <a:srgbClr val="14213D"/>
                </a:solidFill>
                <a:latin typeface="Courier New" pitchFamily="34" charset="0"/>
                <a:ea typeface="Courier New" pitchFamily="34" charset="-122"/>
                <a:cs typeface="Courier New" pitchFamily="34" charset="-120"/>
              </a:rPr>
              <a:t>        if self.rng.random() &lt; self.eps:</a:t>
            </a:r>
            <a:endParaRPr lang="en-US" sz="1100" dirty="0"/>
          </a:p>
          <a:p>
            <a:pPr indent="0" marL="0">
              <a:lnSpc>
                <a:spcPct val="112000"/>
              </a:lnSpc>
              <a:buNone/>
            </a:pPr>
            <a:r>
              <a:rPr lang="en-US" sz="1100" dirty="0">
                <a:solidFill>
                  <a:srgbClr val="14213D"/>
                </a:solidFill>
                <a:latin typeface="Courier New" pitchFamily="34" charset="0"/>
                <a:ea typeface="Courier New" pitchFamily="34" charset="-122"/>
                <a:cs typeface="Courier New" pitchFamily="34" charset="-120"/>
              </a:rPr>
              <a:t>            return int(self.rng.integers(self.n_actions))</a:t>
            </a:r>
            <a:endParaRPr lang="en-US" sz="1100" dirty="0"/>
          </a:p>
          <a:p>
            <a:pPr indent="0" marL="0">
              <a:lnSpc>
                <a:spcPct val="112000"/>
              </a:lnSpc>
              <a:buNone/>
            </a:pPr>
            <a:r>
              <a:rPr lang="en-US" sz="1100" dirty="0">
                <a:solidFill>
                  <a:srgbClr val="14213D"/>
                </a:solidFill>
                <a:latin typeface="Courier New" pitchFamily="34" charset="0"/>
                <a:ea typeface="Courier New" pitchFamily="34" charset="-122"/>
                <a:cs typeface="Courier New" pitchFamily="34" charset="-120"/>
              </a:rPr>
              <a:t>        return self.greedy(s)</a:t>
            </a:r>
            <a:endParaRPr lang="en-US" sz="1100" dirty="0"/>
          </a:p>
          <a:p>
            <a:pPr indent="0" marL="0">
              <a:lnSpc>
                <a:spcPct val="112000"/>
              </a:lnSpc>
              <a:buNone/>
            </a:pPr>
            <a:endParaRPr lang="en-US" sz="1100" dirty="0"/>
          </a:p>
          <a:p>
            <a:pPr indent="0" marL="0">
              <a:lnSpc>
                <a:spcPct val="112000"/>
              </a:lnSpc>
              <a:buNone/>
            </a:pPr>
            <a:r>
              <a:rPr lang="en-US" sz="1100" dirty="0">
                <a:solidFill>
                  <a:srgbClr val="14213D"/>
                </a:solidFill>
                <a:latin typeface="Courier New" pitchFamily="34" charset="0"/>
                <a:ea typeface="Courier New" pitchFamily="34" charset="-122"/>
                <a:cs typeface="Courier New" pitchFamily="34" charset="-120"/>
              </a:rPr>
              <a:t>    def update(self, s, a, r, s_next, a_next, done):</a:t>
            </a:r>
            <a:endParaRPr lang="en-US" sz="1100" dirty="0"/>
          </a:p>
          <a:p>
            <a:pPr indent="0" marL="0">
              <a:lnSpc>
                <a:spcPct val="112000"/>
              </a:lnSpc>
              <a:buNone/>
            </a:pPr>
            <a:r>
              <a:rPr lang="en-US" sz="1100" dirty="0">
                <a:solidFill>
                  <a:srgbClr val="14213D"/>
                </a:solidFill>
                <a:latin typeface="Courier New" pitchFamily="34" charset="0"/>
                <a:ea typeface="Courier New" pitchFamily="34" charset="-122"/>
                <a:cs typeface="Courier New" pitchFamily="34" charset="-120"/>
              </a:rPr>
              <a:t>        tgt = self._target(r, s_next, a_next, done)</a:t>
            </a:r>
            <a:endParaRPr lang="en-US" sz="1100" dirty="0"/>
          </a:p>
          <a:p>
            <a:pPr indent="0" marL="0">
              <a:lnSpc>
                <a:spcPct val="112000"/>
              </a:lnSpc>
              <a:buNone/>
            </a:pPr>
            <a:r>
              <a:rPr lang="en-US" sz="1100" dirty="0">
                <a:solidFill>
                  <a:srgbClr val="14213D"/>
                </a:solidFill>
                <a:latin typeface="Courier New" pitchFamily="34" charset="0"/>
                <a:ea typeface="Courier New" pitchFamily="34" charset="-122"/>
                <a:cs typeface="Courier New" pitchFamily="34" charset="-120"/>
              </a:rPr>
              <a:t>        self.Q[s, a] += self.alpha * (tgt - self.Q[s, a])</a:t>
            </a:r>
            <a:endParaRPr lang="en-US" sz="1100" dirty="0"/>
          </a:p>
        </p:txBody>
      </p:sp>
      <p:sp>
        <p:nvSpPr>
          <p:cNvPr id="8" name="badge-1"/>
          <p:cNvSpPr/>
          <p:nvPr/>
        </p:nvSpPr>
        <p:spPr>
          <a:xfrm>
            <a:off x="7040880" y="1325880"/>
            <a:ext cx="384048" cy="384048"/>
          </a:xfrm>
          <a:prstGeom prst="ellipse">
            <a:avLst/>
          </a:prstGeom>
          <a:solidFill>
            <a:srgbClr val="2A78D6"/>
          </a:solidFill>
          <a:ln/>
        </p:spPr>
      </p:sp>
      <p:sp>
        <p:nvSpPr>
          <p:cNvPr id="9" name="Text 7"/>
          <p:cNvSpPr txBox="1"/>
          <p:nvPr/>
        </p:nvSpPr>
        <p:spPr>
          <a:xfrm>
            <a:off x="7040880" y="13258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0" name="Text 8"/>
          <p:cNvSpPr txBox="1"/>
          <p:nvPr/>
        </p:nvSpPr>
        <p:spPr>
          <a:xfrm>
            <a:off x="7607808" y="1298448"/>
            <a:ext cx="3913632" cy="310896"/>
          </a:xfrm>
          <a:prstGeom prst="rect">
            <a:avLst/>
          </a:prstGeom>
          <a:noFill/>
          <a:ln/>
        </p:spPr>
        <p:txBody>
          <a:bodyPr wrap="square" lIns="0" tIns="0" rIns="0" bIns="0" rtlCol="0" anchor="ctr"/>
          <a:lstStyle/>
          <a:p>
            <a:pPr indent="0" marL="0">
              <a:buNone/>
            </a:pPr>
            <a:r>
              <a:rPr lang="en-US" sz="1500" b="1" dirty="0">
                <a:solidFill>
                  <a:srgbClr val="14213D"/>
                </a:solidFill>
              </a:rPr>
              <a:t>No reinforcement learning library</a:t>
            </a:r>
            <a:endParaRPr lang="en-US" sz="1500" dirty="0"/>
          </a:p>
        </p:txBody>
      </p:sp>
      <p:sp>
        <p:nvSpPr>
          <p:cNvPr id="11" name="Text 9"/>
          <p:cNvSpPr txBox="1"/>
          <p:nvPr/>
        </p:nvSpPr>
        <p:spPr>
          <a:xfrm>
            <a:off x="7607808" y="1618488"/>
            <a:ext cx="39136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No gymnasium, no stable-baselines. NumPy supplies arrays and RNG; the MDP, the TD control loop and both update rules are written out.</a:t>
            </a:r>
            <a:endParaRPr lang="en-US" sz="1250" dirty="0"/>
          </a:p>
        </p:txBody>
      </p:sp>
      <p:sp>
        <p:nvSpPr>
          <p:cNvPr id="12" name="badge-2"/>
          <p:cNvSpPr/>
          <p:nvPr/>
        </p:nvSpPr>
        <p:spPr>
          <a:xfrm>
            <a:off x="7040880" y="2606040"/>
            <a:ext cx="384048" cy="384048"/>
          </a:xfrm>
          <a:prstGeom prst="ellipse">
            <a:avLst/>
          </a:prstGeom>
          <a:solidFill>
            <a:srgbClr val="EB6834"/>
          </a:solidFill>
          <a:ln/>
        </p:spPr>
      </p:sp>
      <p:sp>
        <p:nvSpPr>
          <p:cNvPr id="13" name="Text 11"/>
          <p:cNvSpPr txBox="1"/>
          <p:nvPr/>
        </p:nvSpPr>
        <p:spPr>
          <a:xfrm>
            <a:off x="7040880" y="2606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txBox="1"/>
          <p:nvPr/>
        </p:nvSpPr>
        <p:spPr>
          <a:xfrm>
            <a:off x="7607808" y="2578608"/>
            <a:ext cx="3913632" cy="310896"/>
          </a:xfrm>
          <a:prstGeom prst="rect">
            <a:avLst/>
          </a:prstGeom>
          <a:noFill/>
          <a:ln/>
        </p:spPr>
        <p:txBody>
          <a:bodyPr wrap="square" lIns="0" tIns="0" rIns="0" bIns="0" rtlCol="0" anchor="ctr"/>
          <a:lstStyle/>
          <a:p>
            <a:pPr indent="0" marL="0">
              <a:buNone/>
            </a:pPr>
            <a:r>
              <a:rPr lang="en-US" sz="1500" b="1" dirty="0">
                <a:solidFill>
                  <a:srgbClr val="14213D"/>
                </a:solidFill>
              </a:rPr>
              <a:t>Random tie-breaking, deliberately</a:t>
            </a:r>
            <a:endParaRPr lang="en-US" sz="1500" dirty="0"/>
          </a:p>
        </p:txBody>
      </p:sp>
      <p:sp>
        <p:nvSpPr>
          <p:cNvPr id="15" name="Text 13"/>
          <p:cNvSpPr txBox="1"/>
          <p:nvPr/>
        </p:nvSpPr>
        <p:spPr>
          <a:xfrm>
            <a:off x="7607808" y="2898648"/>
            <a:ext cx="39136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Q starts at zero so every action ties. Breaking ties by argmax would bias the robot toward action 0 — straight into the walkway.</a:t>
            </a:r>
            <a:endParaRPr lang="en-US" sz="1250" dirty="0"/>
          </a:p>
        </p:txBody>
      </p:sp>
      <p:sp>
        <p:nvSpPr>
          <p:cNvPr id="16" name="badge-3"/>
          <p:cNvSpPr/>
          <p:nvPr/>
        </p:nvSpPr>
        <p:spPr>
          <a:xfrm>
            <a:off x="7040880" y="3886200"/>
            <a:ext cx="384048" cy="384048"/>
          </a:xfrm>
          <a:prstGeom prst="ellipse">
            <a:avLst/>
          </a:prstGeom>
          <a:solidFill>
            <a:srgbClr val="1BAF7A"/>
          </a:solidFill>
          <a:ln/>
        </p:spPr>
      </p:sp>
      <p:sp>
        <p:nvSpPr>
          <p:cNvPr id="17" name="Text 15"/>
          <p:cNvSpPr txBox="1"/>
          <p:nvPr/>
        </p:nvSpPr>
        <p:spPr>
          <a:xfrm>
            <a:off x="704088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txBox="1"/>
          <p:nvPr/>
        </p:nvSpPr>
        <p:spPr>
          <a:xfrm>
            <a:off x="7607808" y="3858768"/>
            <a:ext cx="3913632" cy="310896"/>
          </a:xfrm>
          <a:prstGeom prst="rect">
            <a:avLst/>
          </a:prstGeom>
          <a:noFill/>
          <a:ln/>
        </p:spPr>
        <p:txBody>
          <a:bodyPr wrap="square" lIns="0" tIns="0" rIns="0" bIns="0" rtlCol="0" anchor="ctr"/>
          <a:lstStyle/>
          <a:p>
            <a:pPr indent="0" marL="0">
              <a:buNone/>
            </a:pPr>
            <a:r>
              <a:rPr lang="en-US" sz="1500" b="1" dirty="0">
                <a:solidFill>
                  <a:srgbClr val="14213D"/>
                </a:solidFill>
              </a:rPr>
              <a:t>Terminal states bootstrap to zero</a:t>
            </a:r>
            <a:endParaRPr lang="en-US" sz="1500" dirty="0"/>
          </a:p>
        </p:txBody>
      </p:sp>
      <p:sp>
        <p:nvSpPr>
          <p:cNvPr id="19" name="Text 17"/>
          <p:cNvSpPr txBox="1"/>
          <p:nvPr/>
        </p:nvSpPr>
        <p:spPr>
          <a:xfrm>
            <a:off x="7607808" y="4178808"/>
            <a:ext cx="39136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On termination the target is r alone. Omitting that inflates every value by a spurious gamma·V(terminal) term.</a:t>
            </a:r>
            <a:endParaRPr lang="en-US" sz="1250" dirty="0"/>
          </a:p>
        </p:txBody>
      </p:sp>
      <p:sp>
        <p:nvSpPr>
          <p:cNvPr id="20" name="card-One harness, both algorithms"/>
          <p:cNvSpPr/>
          <p:nvPr/>
        </p:nvSpPr>
        <p:spPr>
          <a:xfrm>
            <a:off x="640080" y="4434840"/>
            <a:ext cx="5943600" cy="1371600"/>
          </a:xfrm>
          <a:prstGeom prst="roundRect">
            <a:avLst>
              <a:gd name="adj" fmla="val 5333"/>
            </a:avLst>
          </a:prstGeom>
          <a:solidFill>
            <a:srgbClr val="EDF2F7"/>
          </a:solidFill>
          <a:ln w="12700">
            <a:solidFill>
              <a:srgbClr val="333333"/>
            </a:solidFill>
            <a:prstDash val="solid"/>
          </a:ln>
        </p:spPr>
      </p:sp>
      <p:sp>
        <p:nvSpPr>
          <p:cNvPr id="21" name="Text 19"/>
          <p:cNvSpPr txBox="1"/>
          <p:nvPr/>
        </p:nvSpPr>
        <p:spPr>
          <a:xfrm>
            <a:off x="841248" y="4599432"/>
            <a:ext cx="5541264" cy="292608"/>
          </a:xfrm>
          <a:prstGeom prst="rect">
            <a:avLst/>
          </a:prstGeom>
          <a:noFill/>
          <a:ln/>
        </p:spPr>
        <p:txBody>
          <a:bodyPr wrap="square" lIns="0" tIns="0" rIns="0" bIns="0" rtlCol="0" anchor="ctr"/>
          <a:lstStyle/>
          <a:p>
            <a:pPr indent="0" marL="0">
              <a:buNone/>
            </a:pPr>
            <a:r>
              <a:rPr lang="en-US" sz="1400" b="1" dirty="0">
                <a:solidFill>
                  <a:srgbClr val="14213D"/>
                </a:solidFill>
              </a:rPr>
              <a:t>One harness, both algorithms</a:t>
            </a:r>
            <a:endParaRPr lang="en-US" sz="1400" dirty="0"/>
          </a:p>
        </p:txBody>
      </p:sp>
      <p:sp>
        <p:nvSpPr>
          <p:cNvPr id="22" name="Text 20"/>
          <p:cNvSpPr txBox="1"/>
          <p:nvPr/>
        </p:nvSpPr>
        <p:spPr>
          <a:xfrm>
            <a:off x="841248" y="4928616"/>
            <a:ext cx="5541264" cy="71323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A single train() function runs both, so the episode budget, hyperparameters, epsilon schedule and seed are identical by construction rather than by careful duplication.</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entire difference is one expression</a:t>
            </a:r>
            <a:endParaRPr lang="en-US" sz="3000" dirty="0"/>
          </a:p>
        </p:txBody>
      </p:sp>
      <p:sp>
        <p:nvSpPr>
          <p:cNvPr id="3" name="chip-Model Implementation"/>
          <p:cNvSpPr/>
          <p:nvPr/>
        </p:nvSpPr>
        <p:spPr>
          <a:xfrm>
            <a:off x="8869680" y="420624"/>
            <a:ext cx="2651760" cy="384048"/>
          </a:xfrm>
          <a:prstGeom prst="roundRect">
            <a:avLst>
              <a:gd name="adj" fmla="val 23810"/>
            </a:avLst>
          </a:prstGeom>
          <a:solidFill>
            <a:srgbClr val="2A78D6"/>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Model Implementation  ·  10 marks</a:t>
            </a:r>
            <a:endParaRPr lang="en-US" sz="1050" dirty="0"/>
          </a:p>
        </p:txBody>
      </p:sp>
      <p:sp>
        <p:nvSpPr>
          <p:cNvPr id="5" name="qcard"/>
          <p:cNvSpPr/>
          <p:nvPr/>
        </p:nvSpPr>
        <p:spPr>
          <a:xfrm>
            <a:off x="640080" y="1325880"/>
            <a:ext cx="5303520" cy="1737360"/>
          </a:xfrm>
          <a:prstGeom prst="roundRect">
            <a:avLst>
              <a:gd name="adj" fmla="val 5263"/>
            </a:avLst>
          </a:prstGeom>
          <a:solidFill>
            <a:srgbClr val="1E3356"/>
          </a:solidFill>
          <a:ln w="12700">
            <a:solidFill>
              <a:srgbClr val="333333"/>
            </a:solidFill>
            <a:prstDash val="solid"/>
          </a:ln>
        </p:spPr>
      </p:sp>
      <p:sp>
        <p:nvSpPr>
          <p:cNvPr id="6" name="Text 4"/>
          <p:cNvSpPr txBox="1"/>
          <p:nvPr/>
        </p:nvSpPr>
        <p:spPr>
          <a:xfrm>
            <a:off x="914400" y="1463040"/>
            <a:ext cx="4754880" cy="320040"/>
          </a:xfrm>
          <a:prstGeom prst="rect">
            <a:avLst/>
          </a:prstGeom>
          <a:noFill/>
          <a:ln/>
        </p:spPr>
        <p:txBody>
          <a:bodyPr wrap="square" lIns="0" tIns="0" rIns="0" bIns="0" rtlCol="0" anchor="ctr"/>
          <a:lstStyle/>
          <a:p>
            <a:pPr indent="0" marL="0">
              <a:buNone/>
            </a:pPr>
            <a:r>
              <a:rPr lang="en-US" sz="1500" b="1" dirty="0">
                <a:solidFill>
                  <a:srgbClr val="2A78D6"/>
                </a:solidFill>
              </a:rPr>
              <a:t>Q-learning   ·   off-policy      γ = discount factor</a:t>
            </a:r>
            <a:endParaRPr lang="en-US" sz="1500" dirty="0"/>
          </a:p>
        </p:txBody>
      </p:sp>
      <p:sp>
        <p:nvSpPr>
          <p:cNvPr id="7" name="Text 5"/>
          <p:cNvSpPr txBox="1"/>
          <p:nvPr/>
        </p:nvSpPr>
        <p:spPr>
          <a:xfrm>
            <a:off x="914400" y="1874520"/>
            <a:ext cx="4754880" cy="713232"/>
          </a:xfrm>
          <a:prstGeom prst="rect">
            <a:avLst/>
          </a:prstGeom>
          <a:noFill/>
          <a:ln/>
        </p:spPr>
        <p:txBody>
          <a:bodyPr wrap="square" lIns="0" tIns="0" rIns="0" bIns="0" rtlCol="0" anchor="ctr"/>
          <a:lstStyle/>
          <a:p>
            <a:pPr indent="0" marL="0">
              <a:buNone/>
            </a:pPr>
            <a:r>
              <a:rPr lang="en-US" sz="1600" dirty="0">
                <a:solidFill>
                  <a:srgbClr val="FFFFFF"/>
                </a:solidFill>
                <a:latin typeface="Cambria" pitchFamily="34" charset="0"/>
                <a:ea typeface="Cambria" pitchFamily="34" charset="-122"/>
                <a:cs typeface="Cambria" pitchFamily="34" charset="-120"/>
              </a:rPr>
              <a:t>target  =  r  +  γ · max  Q(s′, a′)</a:t>
            </a:r>
            <a:endParaRPr lang="en-US" sz="1600" dirty="0"/>
          </a:p>
          <a:p>
            <a:pPr indent="0" marL="0">
              <a:buNone/>
            </a:pPr>
            <a:r>
              <a:rPr lang="en-US" sz="1600" dirty="0">
                <a:solidFill>
                  <a:srgbClr val="FFFFFF"/>
                </a:solidFill>
                <a:latin typeface="Cambria" pitchFamily="34" charset="0"/>
                <a:ea typeface="Cambria" pitchFamily="34" charset="-122"/>
                <a:cs typeface="Cambria" pitchFamily="34" charset="-120"/>
              </a:rPr>
              <a:t>                                a′</a:t>
            </a:r>
            <a:endParaRPr lang="en-US" sz="1600" dirty="0"/>
          </a:p>
        </p:txBody>
      </p:sp>
      <p:sp>
        <p:nvSpPr>
          <p:cNvPr id="8" name="Text 6"/>
          <p:cNvSpPr txBox="1"/>
          <p:nvPr/>
        </p:nvSpPr>
        <p:spPr>
          <a:xfrm>
            <a:off x="914400" y="2651760"/>
            <a:ext cx="4754880" cy="320040"/>
          </a:xfrm>
          <a:prstGeom prst="rect">
            <a:avLst/>
          </a:prstGeom>
          <a:noFill/>
          <a:ln/>
        </p:spPr>
        <p:txBody>
          <a:bodyPr wrap="square" lIns="0" tIns="0" rIns="0" bIns="0" rtlCol="0" anchor="ctr"/>
          <a:lstStyle/>
          <a:p>
            <a:pPr indent="0" marL="0">
              <a:buNone/>
            </a:pPr>
            <a:r>
              <a:rPr lang="en-US" sz="1150" dirty="0">
                <a:solidFill>
                  <a:srgbClr val="AEBCD1"/>
                </a:solidFill>
              </a:rPr>
              <a:t>Values the BEST next action — whatever the robot actually does</a:t>
            </a:r>
            <a:endParaRPr lang="en-US" sz="1150" dirty="0"/>
          </a:p>
        </p:txBody>
      </p:sp>
      <p:sp>
        <p:nvSpPr>
          <p:cNvPr id="9" name="scard"/>
          <p:cNvSpPr/>
          <p:nvPr/>
        </p:nvSpPr>
        <p:spPr>
          <a:xfrm>
            <a:off x="6217920" y="1325880"/>
            <a:ext cx="5303520" cy="1737360"/>
          </a:xfrm>
          <a:prstGeom prst="roundRect">
            <a:avLst>
              <a:gd name="adj" fmla="val 5263"/>
            </a:avLst>
          </a:prstGeom>
          <a:solidFill>
            <a:srgbClr val="1E3356"/>
          </a:solidFill>
          <a:ln w="12700">
            <a:solidFill>
              <a:srgbClr val="333333"/>
            </a:solidFill>
            <a:prstDash val="solid"/>
          </a:ln>
        </p:spPr>
      </p:sp>
      <p:sp>
        <p:nvSpPr>
          <p:cNvPr id="10" name="Text 8"/>
          <p:cNvSpPr txBox="1"/>
          <p:nvPr/>
        </p:nvSpPr>
        <p:spPr>
          <a:xfrm>
            <a:off x="6492240" y="1463040"/>
            <a:ext cx="4754880" cy="320040"/>
          </a:xfrm>
          <a:prstGeom prst="rect">
            <a:avLst/>
          </a:prstGeom>
          <a:noFill/>
          <a:ln/>
        </p:spPr>
        <p:txBody>
          <a:bodyPr wrap="square" lIns="0" tIns="0" rIns="0" bIns="0" rtlCol="0" anchor="ctr"/>
          <a:lstStyle/>
          <a:p>
            <a:pPr indent="0" marL="0">
              <a:buNone/>
            </a:pPr>
            <a:r>
              <a:rPr lang="en-US" sz="1500" b="1" dirty="0">
                <a:solidFill>
                  <a:srgbClr val="EB6834"/>
                </a:solidFill>
              </a:rPr>
              <a:t>SARSA   ·   on-policy</a:t>
            </a:r>
            <a:endParaRPr lang="en-US" sz="1500" dirty="0"/>
          </a:p>
        </p:txBody>
      </p:sp>
      <p:sp>
        <p:nvSpPr>
          <p:cNvPr id="11" name="Text 9"/>
          <p:cNvSpPr txBox="1"/>
          <p:nvPr/>
        </p:nvSpPr>
        <p:spPr>
          <a:xfrm>
            <a:off x="6492240" y="1874520"/>
            <a:ext cx="4754880" cy="713232"/>
          </a:xfrm>
          <a:prstGeom prst="rect">
            <a:avLst/>
          </a:prstGeom>
          <a:noFill/>
          <a:ln/>
        </p:spPr>
        <p:txBody>
          <a:bodyPr wrap="square" lIns="0" tIns="0" rIns="0" bIns="0" rtlCol="0" anchor="ctr"/>
          <a:lstStyle/>
          <a:p>
            <a:pPr indent="0" marL="0">
              <a:buNone/>
            </a:pPr>
            <a:r>
              <a:rPr lang="en-US" sz="1600" dirty="0">
                <a:solidFill>
                  <a:srgbClr val="FFFFFF"/>
                </a:solidFill>
                <a:latin typeface="Cambria" pitchFamily="34" charset="0"/>
                <a:ea typeface="Cambria" pitchFamily="34" charset="-122"/>
                <a:cs typeface="Cambria" pitchFamily="34" charset="-120"/>
              </a:rPr>
              <a:t>target  =  r  +  γ · Q(s′, a′)</a:t>
            </a:r>
            <a:endParaRPr lang="en-US" sz="1600" dirty="0"/>
          </a:p>
          <a:p>
            <a:pPr indent="0" marL="0">
              <a:buNone/>
            </a:pPr>
            <a:r>
              <a:rPr lang="en-US" sz="1600" dirty="0">
                <a:solidFill>
                  <a:srgbClr val="FFFFFF"/>
                </a:solidFill>
                <a:latin typeface="Cambria" pitchFamily="34" charset="0"/>
                <a:ea typeface="Cambria" pitchFamily="34" charset="-122"/>
                <a:cs typeface="Cambria" pitchFamily="34" charset="-120"/>
              </a:rPr>
              <a:t>              with a′ ~ ε-greedy(s′)</a:t>
            </a:r>
            <a:endParaRPr lang="en-US" sz="1600" dirty="0"/>
          </a:p>
        </p:txBody>
      </p:sp>
      <p:sp>
        <p:nvSpPr>
          <p:cNvPr id="12" name="Text 10"/>
          <p:cNvSpPr txBox="1"/>
          <p:nvPr/>
        </p:nvSpPr>
        <p:spPr>
          <a:xfrm>
            <a:off x="6492240" y="2651760"/>
            <a:ext cx="4754880" cy="320040"/>
          </a:xfrm>
          <a:prstGeom prst="rect">
            <a:avLst/>
          </a:prstGeom>
          <a:noFill/>
          <a:ln/>
        </p:spPr>
        <p:txBody>
          <a:bodyPr wrap="square" lIns="0" tIns="0" rIns="0" bIns="0" rtlCol="0" anchor="ctr"/>
          <a:lstStyle/>
          <a:p>
            <a:pPr indent="0" marL="0">
              <a:buNone/>
            </a:pPr>
            <a:r>
              <a:rPr lang="en-US" sz="1150" dirty="0">
                <a:solidFill>
                  <a:srgbClr val="AEBCD1"/>
                </a:solidFill>
              </a:rPr>
              <a:t>Values the action it WILL ACTUALLY TAKE — exploration included</a:t>
            </a:r>
            <a:endParaRPr lang="en-US" sz="1150" dirty="0"/>
          </a:p>
        </p:txBody>
      </p:sp>
      <p:sp>
        <p:nvSpPr>
          <p:cNvPr id="13" name="Text 11"/>
          <p:cNvSpPr txBox="1"/>
          <p:nvPr/>
        </p:nvSpPr>
        <p:spPr>
          <a:xfrm>
            <a:off x="640080" y="3337560"/>
            <a:ext cx="1088136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Why that produces different routes</a:t>
            </a:r>
            <a:endParaRPr lang="en-US" sz="1700" dirty="0"/>
          </a:p>
        </p:txBody>
      </p:sp>
      <p:sp>
        <p:nvSpPr>
          <p:cNvPr id="14" name="Text 12"/>
          <p:cNvSpPr txBox="1"/>
          <p:nvPr/>
        </p:nvSpPr>
        <p:spPr>
          <a:xfrm>
            <a:off x="640080" y="3794760"/>
            <a:ext cx="10881360" cy="2011680"/>
          </a:xfrm>
          <a:prstGeom prst="rect">
            <a:avLst/>
          </a:prstGeom>
          <a:noFill/>
          <a:ln/>
        </p:spPr>
        <p:txBody>
          <a:bodyPr wrap="square" lIns="0" tIns="0" rIns="0" bIns="0" rtlCol="0" anchor="ctr"/>
          <a:lstStyle/>
          <a:p>
            <a:pPr indent="0" marL="0">
              <a:lnSpc>
                <a:spcPct val="112000"/>
              </a:lnSpc>
              <a:buNone/>
            </a:pPr>
            <a:r>
              <a:rPr lang="en-US" sz="1350" dirty="0">
                <a:solidFill>
                  <a:srgbClr val="CBD6E6"/>
                </a:solidFill>
              </a:rPr>
              <a:t>Take a cell on the main aisle, with the walkway directly above it.</a:t>
            </a:r>
            <a:endParaRPr lang="en-US" sz="1350" dirty="0"/>
          </a:p>
          <a:p>
            <a:pPr indent="0" marL="0">
              <a:lnSpc>
                <a:spcPct val="112000"/>
              </a:lnSpc>
              <a:buNone/>
            </a:pPr>
            <a:endParaRPr lang="en-US" sz="1350" dirty="0"/>
          </a:p>
          <a:p>
            <a:pPr indent="0" marL="0">
              <a:lnSpc>
                <a:spcPct val="112000"/>
              </a:lnSpc>
              <a:buNone/>
            </a:pPr>
            <a:r>
              <a:rPr lang="en-US" sz="1350" dirty="0">
                <a:solidFill>
                  <a:srgbClr val="CBD6E6"/>
                </a:solidFill>
              </a:rPr>
              <a:t>Q-learning backs up through max Q(s,a), which selects the safe action — so the −100 attaches to Q(s, a_bad) but NEVER reaches V(s). The aisle looks exactly as good as any other corridor.</a:t>
            </a:r>
            <a:endParaRPr lang="en-US" sz="1350" dirty="0"/>
          </a:p>
          <a:p>
            <a:pPr indent="0" marL="0">
              <a:lnSpc>
                <a:spcPct val="112000"/>
              </a:lnSpc>
              <a:buNone/>
            </a:pPr>
            <a:endParaRPr lang="en-US" sz="1350" dirty="0"/>
          </a:p>
          <a:p>
            <a:pPr indent="0" marL="0">
              <a:lnSpc>
                <a:spcPct val="112000"/>
              </a:lnSpc>
              <a:buNone/>
            </a:pPr>
            <a:r>
              <a:rPr lang="en-US" sz="1350" dirty="0">
                <a:solidFill>
                  <a:srgbClr val="CBD6E6"/>
                </a:solidFill>
              </a:rPr>
              <a:t>SARSA backs up through Q(s, A') where A' is sampled from the ε-greedy policy, so E[Q(s,A')] carries a term of weight ε/|A| on Q(s, a_bad). The −100 propagates into V(s), the aisle is devalued, and the safe lane wins.</a:t>
            </a:r>
            <a:endParaRPr lang="en-US" sz="13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Verification: 13 checks before any experiment</a:t>
            </a:r>
            <a:endParaRPr lang="en-US" sz="3000" dirty="0"/>
          </a:p>
        </p:txBody>
      </p:sp>
      <p:sp>
        <p:nvSpPr>
          <p:cNvPr id="3" name="chip-Model Implementation"/>
          <p:cNvSpPr/>
          <p:nvPr/>
        </p:nvSpPr>
        <p:spPr>
          <a:xfrm>
            <a:off x="8869680" y="420624"/>
            <a:ext cx="2651760" cy="384048"/>
          </a:xfrm>
          <a:prstGeom prst="roundRect">
            <a:avLst>
              <a:gd name="adj" fmla="val 23810"/>
            </a:avLst>
          </a:prstGeom>
          <a:solidFill>
            <a:srgbClr val="2A78D6"/>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Model Implementation  ·  10 marks</a:t>
            </a:r>
            <a:endParaRPr lang="en-US" sz="1050" dirty="0"/>
          </a:p>
        </p:txBody>
      </p:sp>
      <p:sp>
        <p:nvSpPr>
          <p:cNvPr id="5" name="Text 3"/>
          <p:cNvSpPr txBox="1"/>
          <p:nvPr/>
        </p:nvSpPr>
        <p:spPr>
          <a:xfrm>
            <a:off x="640080" y="1188720"/>
            <a:ext cx="10881360" cy="548640"/>
          </a:xfrm>
          <a:prstGeom prst="rect">
            <a:avLst/>
          </a:prstGeom>
          <a:noFill/>
          <a:ln/>
        </p:spPr>
        <p:txBody>
          <a:bodyPr wrap="square" lIns="0" tIns="0" rIns="0" bIns="0" rtlCol="0" anchor="ctr"/>
          <a:lstStyle/>
          <a:p>
            <a:pPr indent="0" marL="0">
              <a:buNone/>
            </a:pPr>
            <a:r>
              <a:rPr lang="en-US" sz="1350" i="1" dirty="0">
                <a:solidFill>
                  <a:srgbClr val="14213D"/>
                </a:solidFill>
              </a:rPr>
              <a:t>An RL bug does not announce itself. A mis-signed reward or a wrong bootstrap still produces a learning curve that goes up and to the right — the agent learns something, just not what you are measuring.</a:t>
            </a:r>
            <a:endParaRPr lang="en-US" sz="13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914400"/>
        </p:xfrm>
        <a:graphic>
          <a:graphicData uri="http://schemas.openxmlformats.org/drawingml/2006/table">
            <a:tbl>
              <a:tblPr/>
              <a:tblGrid>
                <a:gridCol w="4206240"/>
                <a:gridCol w="4480560"/>
                <a:gridCol w="2194560"/>
              </a:tblGrid>
              <a:tr h="329184">
                <a:tc>
                  <a:txBody>
                    <a:bodyPr/>
                    <a:lstStyle/>
                    <a:p>
                      <a:pPr indent="0" marL="0">
                        <a:buNone/>
                      </a:pPr>
                      <a:r>
                        <a:rPr lang="en-US" sz="1250" b="1" dirty="0">
                          <a:solidFill>
                            <a:srgbClr val="FFFFFF"/>
                          </a:solidFill>
                        </a:rPr>
                        <a:t>Check</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Rules out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50" b="1" dirty="0">
                          <a:solidFill>
                            <a:srgbClr val="FFFFFF"/>
                          </a:solidFill>
                        </a:rPr>
                        <a:t>Result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329184">
                <a:tc>
                  <a:txBody>
                    <a:bodyPr/>
                    <a:lstStyle/>
                    <a:p>
                      <a:pPr indent="0" marL="0">
                        <a:buNone/>
                      </a:pPr>
                      <a:r>
                        <a:rPr lang="en-US" sz="1250" dirty="0">
                          <a:solidFill>
                            <a:srgbClr val="14213D"/>
                          </a:solidFill>
                        </a:rPr>
                        <a:t>State encoding bijective</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index collisions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400 / 400</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4213D"/>
                          </a:solidFill>
                        </a:rPr>
                        <a:t>Bump: no movement, no termination</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transition bookkeeping</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pass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4213D"/>
                          </a:solidFill>
                        </a:rPr>
                        <a:t>Incident: returned to charging station</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hazard semantics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pass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4213D"/>
                          </a:solidFill>
                        </a:rPr>
                        <a:t>Goal: reward paid once, episode ends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double-counted terminal</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pass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4213D"/>
                          </a:solidFill>
                        </a:rPr>
                        <a:t>BFS vs a hand-checked grid</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broken ground truth</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8 = 8</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b="1" dirty="0">
                          <a:solidFill>
                            <a:srgbClr val="14213D"/>
                          </a:solidFill>
                        </a:rPr>
                        <a:t>ε = 0: the two agents are IDENTICAL</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4213D"/>
                          </a:solidFill>
                        </a:rPr>
                        <a:t>any difference beyond on-policy/off-policy</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1BAF7A"/>
                          </a:solidFill>
                        </a:rPr>
                        <a:t>0.00e+00</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4213D"/>
                          </a:solidFill>
                        </a:rPr>
                        <a:t>Both optimal on a 3×3 open grid</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dead value propagation</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4 of 4 steps</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29184">
                <a:tc>
                  <a:txBody>
                    <a:bodyPr/>
                    <a:lstStyle/>
                    <a:p>
                      <a:pPr indent="0" marL="0">
                        <a:buNone/>
                      </a:pPr>
                      <a:r>
                        <a:rPr lang="en-US" sz="1250" dirty="0">
                          <a:solidFill>
                            <a:srgbClr val="14213D"/>
                          </a:solidFill>
                        </a:rPr>
                        <a:t>Return accounting matches the env</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drift between env and agent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50" dirty="0">
                          <a:solidFill>
                            <a:srgbClr val="14213D"/>
                          </a:solidFill>
                        </a:rPr>
                        <a:t>exact</a:t>
                      </a:r>
                      <a:endParaRPr lang="en-US" sz="125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7" name="pass"/>
          <p:cNvSpPr/>
          <p:nvPr/>
        </p:nvSpPr>
        <p:spPr>
          <a:xfrm>
            <a:off x="640080" y="5029200"/>
            <a:ext cx="10881360" cy="868680"/>
          </a:xfrm>
          <a:prstGeom prst="roundRect">
            <a:avLst>
              <a:gd name="adj" fmla="val 8421"/>
            </a:avLst>
          </a:prstGeom>
          <a:solidFill>
            <a:srgbClr val="E6F6EF"/>
          </a:solidFill>
          <a:ln w="12700">
            <a:solidFill>
              <a:srgbClr val="333333"/>
            </a:solidFill>
            <a:prstDash val="solid"/>
          </a:ln>
        </p:spPr>
      </p:sp>
      <p:sp>
        <p:nvSpPr>
          <p:cNvPr id="8" name="Text 5"/>
          <p:cNvSpPr txBox="1"/>
          <p:nvPr/>
        </p:nvSpPr>
        <p:spPr>
          <a:xfrm>
            <a:off x="914400" y="5029200"/>
            <a:ext cx="10332720" cy="868680"/>
          </a:xfrm>
          <a:prstGeom prst="rect">
            <a:avLst/>
          </a:prstGeom>
          <a:noFill/>
          <a:ln/>
        </p:spPr>
        <p:txBody>
          <a:bodyPr wrap="square" lIns="0" tIns="0" rIns="0" bIns="0" rtlCol="0" anchor="ctr"/>
          <a:lstStyle/>
          <a:p>
            <a:pPr indent="0" marL="0">
              <a:buNone/>
            </a:pPr>
            <a:r>
              <a:rPr lang="en-US" sz="1250" b="1" dirty="0">
                <a:solidFill>
                  <a:srgbClr val="0E6B4A"/>
                </a:solidFill>
              </a:rPr>
              <a:t>The decisive one: at ε = 0 the behaviour policy is greedy, so max Q(s',a') and Q(s',a') are the SAME quantity — the two update rules are mathematically identical and must produce bit-identical tables. They do, to 0.00e+00.</a:t>
            </a:r>
            <a:endParaRPr lang="en-US" sz="12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Results: they separate in opposite directions</a:t>
            </a:r>
            <a:endParaRPr lang="en-US" sz="3000" dirty="0"/>
          </a:p>
        </p:txBody>
      </p:sp>
      <p:sp>
        <p:nvSpPr>
          <p:cNvPr id="3" name="chip-Results &amp; Evaluation"/>
          <p:cNvSpPr/>
          <p:nvPr/>
        </p:nvSpPr>
        <p:spPr>
          <a:xfrm>
            <a:off x="8869680" y="420624"/>
            <a:ext cx="2651760" cy="384048"/>
          </a:xfrm>
          <a:prstGeom prst="roundRect">
            <a:avLst>
              <a:gd name="adj" fmla="val 23810"/>
            </a:avLst>
          </a:prstGeom>
          <a:solidFill>
            <a:srgbClr val="EB6834"/>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Results &amp; Evaluation  ·  10 marks</a:t>
            </a:r>
            <a:endParaRPr lang="en-US" sz="1050" dirty="0"/>
          </a:p>
        </p:txBody>
      </p:sp>
      <p:sp>
        <p:nvSpPr>
          <p:cNvPr id="5" name="stat-Q-learning route"/>
          <p:cNvSpPr/>
          <p:nvPr/>
        </p:nvSpPr>
        <p:spPr>
          <a:xfrm>
            <a:off x="640080" y="1371600"/>
            <a:ext cx="3429000" cy="1965960"/>
          </a:xfrm>
          <a:prstGeom prst="roundRect">
            <a:avLst>
              <a:gd name="adj" fmla="val 4651"/>
            </a:avLst>
          </a:prstGeom>
          <a:solidFill>
            <a:srgbClr val="1E3356"/>
          </a:solidFill>
          <a:ln w="12700">
            <a:solidFill>
              <a:srgbClr val="333333"/>
            </a:solidFill>
            <a:prstDash val="solid"/>
          </a:ln>
        </p:spPr>
      </p:sp>
      <p:sp>
        <p:nvSpPr>
          <p:cNvPr id="6" name="Text 4"/>
          <p:cNvSpPr txBox="1"/>
          <p:nvPr/>
        </p:nvSpPr>
        <p:spPr>
          <a:xfrm>
            <a:off x="777240" y="1463040"/>
            <a:ext cx="3154680" cy="1022299"/>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19.40</a:t>
            </a:r>
            <a:endParaRPr lang="en-US" sz="4000" dirty="0"/>
          </a:p>
        </p:txBody>
      </p:sp>
      <p:sp>
        <p:nvSpPr>
          <p:cNvPr id="7" name="Text 5"/>
          <p:cNvSpPr txBox="1"/>
          <p:nvPr/>
        </p:nvSpPr>
        <p:spPr>
          <a:xfrm>
            <a:off x="777240" y="2485339"/>
            <a:ext cx="3154680" cy="274320"/>
          </a:xfrm>
          <a:prstGeom prst="rect">
            <a:avLst/>
          </a:prstGeom>
          <a:noFill/>
          <a:ln/>
        </p:spPr>
        <p:txBody>
          <a:bodyPr wrap="square" lIns="0" tIns="0" rIns="0" bIns="0" rtlCol="0" anchor="ctr"/>
          <a:lstStyle/>
          <a:p>
            <a:pPr algn="ctr" indent="0" marL="0">
              <a:buNone/>
            </a:pPr>
            <a:r>
              <a:rPr lang="en-US" sz="1300" b="1" dirty="0">
                <a:solidFill>
                  <a:srgbClr val="FFFFFF"/>
                </a:solidFill>
              </a:rPr>
              <a:t>Q-learning route</a:t>
            </a:r>
            <a:endParaRPr lang="en-US" sz="1300" dirty="0"/>
          </a:p>
        </p:txBody>
      </p:sp>
      <p:sp>
        <p:nvSpPr>
          <p:cNvPr id="8" name="Text 6"/>
          <p:cNvSpPr txBox="1"/>
          <p:nvPr/>
        </p:nvSpPr>
        <p:spPr>
          <a:xfrm>
            <a:off x="749808" y="2796235"/>
            <a:ext cx="3209544" cy="468173"/>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steps, vs a BFS optimum of 19</a:t>
            </a:r>
            <a:endParaRPr lang="en-US" sz="1050" dirty="0"/>
          </a:p>
        </p:txBody>
      </p:sp>
      <p:sp>
        <p:nvSpPr>
          <p:cNvPr id="9" name="stat-SARSA route"/>
          <p:cNvSpPr/>
          <p:nvPr/>
        </p:nvSpPr>
        <p:spPr>
          <a:xfrm>
            <a:off x="4343400" y="1371600"/>
            <a:ext cx="3429000" cy="1965960"/>
          </a:xfrm>
          <a:prstGeom prst="roundRect">
            <a:avLst>
              <a:gd name="adj" fmla="val 4651"/>
            </a:avLst>
          </a:prstGeom>
          <a:solidFill>
            <a:srgbClr val="1E3356"/>
          </a:solidFill>
          <a:ln w="12700">
            <a:solidFill>
              <a:srgbClr val="333333"/>
            </a:solidFill>
            <a:prstDash val="solid"/>
          </a:ln>
        </p:spPr>
      </p:sp>
      <p:sp>
        <p:nvSpPr>
          <p:cNvPr id="10" name="Text 8"/>
          <p:cNvSpPr txBox="1"/>
          <p:nvPr/>
        </p:nvSpPr>
        <p:spPr>
          <a:xfrm>
            <a:off x="4480560" y="1463040"/>
            <a:ext cx="3154680" cy="1022299"/>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33.34</a:t>
            </a:r>
            <a:endParaRPr lang="en-US" sz="4000" dirty="0"/>
          </a:p>
        </p:txBody>
      </p:sp>
      <p:sp>
        <p:nvSpPr>
          <p:cNvPr id="11" name="Text 9"/>
          <p:cNvSpPr txBox="1"/>
          <p:nvPr/>
        </p:nvSpPr>
        <p:spPr>
          <a:xfrm>
            <a:off x="4480560" y="2485339"/>
            <a:ext cx="3154680" cy="274320"/>
          </a:xfrm>
          <a:prstGeom prst="rect">
            <a:avLst/>
          </a:prstGeom>
          <a:noFill/>
          <a:ln/>
        </p:spPr>
        <p:txBody>
          <a:bodyPr wrap="square" lIns="0" tIns="0" rIns="0" bIns="0" rtlCol="0" anchor="ctr"/>
          <a:lstStyle/>
          <a:p>
            <a:pPr algn="ctr" indent="0" marL="0">
              <a:buNone/>
            </a:pPr>
            <a:r>
              <a:rPr lang="en-US" sz="1300" b="1" dirty="0">
                <a:solidFill>
                  <a:srgbClr val="FFFFFF"/>
                </a:solidFill>
              </a:rPr>
              <a:t>SARSA route</a:t>
            </a:r>
            <a:endParaRPr lang="en-US" sz="1300" dirty="0"/>
          </a:p>
        </p:txBody>
      </p:sp>
      <p:sp>
        <p:nvSpPr>
          <p:cNvPr id="12" name="Text 10"/>
          <p:cNvSpPr txBox="1"/>
          <p:nvPr/>
        </p:nvSpPr>
        <p:spPr>
          <a:xfrm>
            <a:off x="4453128" y="2796235"/>
            <a:ext cx="3209544" cy="468173"/>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steps — a deliberate detour</a:t>
            </a:r>
            <a:endParaRPr lang="en-US" sz="1050" dirty="0"/>
          </a:p>
        </p:txBody>
      </p:sp>
      <p:sp>
        <p:nvSpPr>
          <p:cNvPr id="13" name="stat-more incidents"/>
          <p:cNvSpPr/>
          <p:nvPr/>
        </p:nvSpPr>
        <p:spPr>
          <a:xfrm>
            <a:off x="8046720" y="1371600"/>
            <a:ext cx="3474720" cy="1965960"/>
          </a:xfrm>
          <a:prstGeom prst="roundRect">
            <a:avLst>
              <a:gd name="adj" fmla="val 4651"/>
            </a:avLst>
          </a:prstGeom>
          <a:solidFill>
            <a:srgbClr val="1E3356"/>
          </a:solidFill>
          <a:ln w="12700">
            <a:solidFill>
              <a:srgbClr val="333333"/>
            </a:solidFill>
            <a:prstDash val="solid"/>
          </a:ln>
        </p:spPr>
      </p:sp>
      <p:sp>
        <p:nvSpPr>
          <p:cNvPr id="14" name="Text 12"/>
          <p:cNvSpPr txBox="1"/>
          <p:nvPr/>
        </p:nvSpPr>
        <p:spPr>
          <a:xfrm>
            <a:off x="8183880" y="1463040"/>
            <a:ext cx="3200400" cy="1022299"/>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4.3×</a:t>
            </a:r>
            <a:endParaRPr lang="en-US" sz="4000" dirty="0"/>
          </a:p>
        </p:txBody>
      </p:sp>
      <p:sp>
        <p:nvSpPr>
          <p:cNvPr id="15" name="Text 13"/>
          <p:cNvSpPr txBox="1"/>
          <p:nvPr/>
        </p:nvSpPr>
        <p:spPr>
          <a:xfrm>
            <a:off x="8183880" y="2485339"/>
            <a:ext cx="3200400" cy="274320"/>
          </a:xfrm>
          <a:prstGeom prst="rect">
            <a:avLst/>
          </a:prstGeom>
          <a:noFill/>
          <a:ln/>
        </p:spPr>
        <p:txBody>
          <a:bodyPr wrap="square" lIns="0" tIns="0" rIns="0" bIns="0" rtlCol="0" anchor="ctr"/>
          <a:lstStyle/>
          <a:p>
            <a:pPr algn="ctr" indent="0" marL="0">
              <a:buNone/>
            </a:pPr>
            <a:r>
              <a:rPr lang="en-US" sz="1300" b="1" dirty="0">
                <a:solidFill>
                  <a:srgbClr val="FFFFFF"/>
                </a:solidFill>
              </a:rPr>
              <a:t>more incidents</a:t>
            </a:r>
            <a:endParaRPr lang="en-US" sz="1300" dirty="0"/>
          </a:p>
        </p:txBody>
      </p:sp>
      <p:sp>
        <p:nvSpPr>
          <p:cNvPr id="16" name="Text 14"/>
          <p:cNvSpPr txBox="1"/>
          <p:nvPr/>
        </p:nvSpPr>
        <p:spPr>
          <a:xfrm>
            <a:off x="8156448" y="2796235"/>
            <a:ext cx="3255264" cy="468173"/>
          </a:xfrm>
          <a:prstGeom prst="rect">
            <a:avLst/>
          </a:prstGeom>
          <a:noFill/>
          <a:ln/>
        </p:spPr>
        <p:txBody>
          <a:bodyPr wrap="square" lIns="0" tIns="0" rIns="0" bIns="0" rtlCol="0" anchor="t"/>
          <a:lstStyle/>
          <a:p>
            <a:pPr algn="ctr" indent="0" marL="0">
              <a:lnSpc>
                <a:spcPct val="100000"/>
              </a:lnSpc>
              <a:buNone/>
            </a:pPr>
            <a:r>
              <a:rPr lang="en-US" sz="1050" dirty="0">
                <a:solidFill>
                  <a:srgbClr val="AEBCD1"/>
                </a:solidFill>
              </a:rPr>
              <a:t>Q-learning, while training</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3611880"/>
          <a:ext cx="10881360" cy="914400"/>
        </p:xfrm>
        <a:graphic>
          <a:graphicData uri="http://schemas.openxmlformats.org/drawingml/2006/table">
            <a:tbl>
              <a:tblPr/>
              <a:tblGrid>
                <a:gridCol w="4206240"/>
                <a:gridCol w="2286000"/>
                <a:gridCol w="2286000"/>
                <a:gridCol w="2103120"/>
              </a:tblGrid>
              <a:tr h="365760">
                <a:tc>
                  <a:txBody>
                    <a:bodyPr/>
                    <a:lstStyle/>
                    <a:p>
                      <a:pPr indent="0" marL="0">
                        <a:buNone/>
                      </a:pPr>
                      <a:r>
                        <a:rPr lang="en-US" sz="1250" b="1" dirty="0">
                          <a:solidFill>
                            <a:srgbClr val="FFFFFF"/>
                          </a:solidFill>
                        </a:rPr>
                        <a:t>Measure</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24405F"/>
                    </a:solidFill>
                  </a:tcPr>
                </a:tc>
                <a:tc>
                  <a:txBody>
                    <a:bodyPr/>
                    <a:lstStyle/>
                    <a:p>
                      <a:pPr indent="0" marL="0">
                        <a:buNone/>
                      </a:pPr>
                      <a:r>
                        <a:rPr lang="en-US" sz="1250" b="1" dirty="0">
                          <a:solidFill>
                            <a:srgbClr val="FFFFFF"/>
                          </a:solidFill>
                        </a:rPr>
                        <a:t>Q-learning</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24405F"/>
                    </a:solidFill>
                  </a:tcPr>
                </a:tc>
                <a:tc>
                  <a:txBody>
                    <a:bodyPr/>
                    <a:lstStyle/>
                    <a:p>
                      <a:pPr indent="0" marL="0">
                        <a:buNone/>
                      </a:pPr>
                      <a:r>
                        <a:rPr lang="en-US" sz="1250" b="1" dirty="0">
                          <a:solidFill>
                            <a:srgbClr val="FFFFFF"/>
                          </a:solidFill>
                        </a:rPr>
                        <a:t>SARSA</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24405F"/>
                    </a:solidFill>
                  </a:tcPr>
                </a:tc>
                <a:tc>
                  <a:txBody>
                    <a:bodyPr/>
                    <a:lstStyle/>
                    <a:p>
                      <a:pPr indent="0" marL="0">
                        <a:buNone/>
                      </a:pPr>
                      <a:r>
                        <a:rPr lang="en-US" sz="1250" b="1" dirty="0">
                          <a:solidFill>
                            <a:srgbClr val="FFFFFF"/>
                          </a:solidFill>
                        </a:rPr>
                        <a:t>Wilcoxon p</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24405F"/>
                    </a:solidFill>
                  </a:tcPr>
                </a:tc>
              </a:tr>
              <a:tr h="365760">
                <a:tc>
                  <a:txBody>
                    <a:bodyPr/>
                    <a:lstStyle/>
                    <a:p>
                      <a:pPr indent="0" marL="0">
                        <a:buNone/>
                      </a:pPr>
                      <a:r>
                        <a:rPr lang="en-US" sz="1250" dirty="0">
                          <a:solidFill>
                            <a:srgbClr val="FFFFFF"/>
                          </a:solidFill>
                        </a:rPr>
                        <a:t>Online return while learning</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dirty="0">
                          <a:solidFill>
                            <a:srgbClr val="FFFFFF"/>
                          </a:solidFill>
                        </a:rPr>
                        <a:t>−838.33</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b="1" dirty="0">
                          <a:solidFill>
                            <a:srgbClr val="1BAF7A"/>
                          </a:solidFill>
                        </a:rPr>
                        <a:t>−297.32</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dirty="0">
                          <a:solidFill>
                            <a:srgbClr val="FFFFFF"/>
                          </a:solidFill>
                        </a:rPr>
                        <a:t>1.9 × 10⁻⁹</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r>
              <a:tr h="365760">
                <a:tc>
                  <a:txBody>
                    <a:bodyPr/>
                    <a:lstStyle/>
                    <a:p>
                      <a:pPr indent="0" marL="0">
                        <a:buNone/>
                      </a:pPr>
                      <a:r>
                        <a:rPr lang="en-US" sz="1250" dirty="0">
                          <a:solidFill>
                            <a:srgbClr val="FFFFFF"/>
                          </a:solidFill>
                        </a:rPr>
                        <a:t>Walkway incidents in training</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dirty="0">
                          <a:solidFill>
                            <a:srgbClr val="FFFFFF"/>
                          </a:solidFill>
                        </a:rPr>
                        <a:t>21,626</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b="1" dirty="0">
                          <a:solidFill>
                            <a:srgbClr val="1BAF7A"/>
                          </a:solidFill>
                        </a:rPr>
                        <a:t>5,068</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dirty="0">
                          <a:solidFill>
                            <a:srgbClr val="FFFFFF"/>
                          </a:solidFill>
                        </a:rPr>
                        <a:t>1.9 × 10⁻⁹</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r>
              <a:tr h="365760">
                <a:tc>
                  <a:txBody>
                    <a:bodyPr/>
                    <a:lstStyle/>
                    <a:p>
                      <a:pPr indent="0" marL="0">
                        <a:buNone/>
                      </a:pPr>
                      <a:r>
                        <a:rPr lang="en-US" sz="1250" dirty="0">
                          <a:solidFill>
                            <a:srgbClr val="FFFFFF"/>
                          </a:solidFill>
                        </a:rPr>
                        <a:t>Deployed route length</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b="1" dirty="0">
                          <a:solidFill>
                            <a:srgbClr val="1BAF7A"/>
                          </a:solidFill>
                        </a:rPr>
                        <a:t>19.40</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dirty="0">
                          <a:solidFill>
                            <a:srgbClr val="FFFFFF"/>
                          </a:solidFill>
                        </a:rPr>
                        <a:t>33.34</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dirty="0">
                          <a:solidFill>
                            <a:srgbClr val="FFFFFF"/>
                          </a:solidFill>
                        </a:rPr>
                        <a:t>6.7 × 10⁻⁷</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r>
              <a:tr h="365760">
                <a:tc>
                  <a:txBody>
                    <a:bodyPr/>
                    <a:lstStyle/>
                    <a:p>
                      <a:pPr indent="0" marL="0">
                        <a:buNone/>
                      </a:pPr>
                      <a:r>
                        <a:rPr lang="en-US" sz="1250" dirty="0">
                          <a:solidFill>
                            <a:srgbClr val="FFFFFF"/>
                          </a:solidFill>
                        </a:rPr>
                        <a:t>Distance kept from the walkway</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dirty="0">
                          <a:solidFill>
                            <a:srgbClr val="FFFFFF"/>
                          </a:solidFill>
                        </a:rPr>
                        <a:t>1.00</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b="1" dirty="0">
                          <a:solidFill>
                            <a:srgbClr val="1BAF7A"/>
                          </a:solidFill>
                        </a:rPr>
                        <a:t>5.21</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c>
                  <a:txBody>
                    <a:bodyPr/>
                    <a:lstStyle/>
                    <a:p>
                      <a:pPr indent="0" marL="0">
                        <a:buNone/>
                      </a:pPr>
                      <a:r>
                        <a:rPr lang="en-US" sz="1250" dirty="0">
                          <a:solidFill>
                            <a:srgbClr val="FFFFFF"/>
                          </a:solidFill>
                        </a:rPr>
                        <a:t>—</a:t>
                      </a:r>
                      <a:endParaRPr lang="en-US" sz="1250" dirty="0"/>
                    </a:p>
                  </a:txBody>
                  <a:tcPr marL="91440" marR="91440" marT="45720" marB="45720" anchor="ctr">
                    <a:lnL w="12700" cap="flat" cmpd="sng" algn="ctr">
                      <a:solidFill>
                        <a:srgbClr val="2C4A6E"/>
                      </a:solidFill>
                      <a:prstDash val="solid"/>
                      <a:round/>
                      <a:headEnd type="none" w="med" len="med"/>
                      <a:tailEnd type="none" w="med" len="med"/>
                    </a:lnL>
                    <a:lnR w="12700" cap="flat" cmpd="sng" algn="ctr">
                      <a:solidFill>
                        <a:srgbClr val="2C4A6E"/>
                      </a:solidFill>
                      <a:prstDash val="solid"/>
                      <a:round/>
                      <a:headEnd type="none" w="med" len="med"/>
                      <a:tailEnd type="none" w="med" len="med"/>
                    </a:lnR>
                    <a:lnT w="12700" cap="flat" cmpd="sng" algn="ctr">
                      <a:solidFill>
                        <a:srgbClr val="2C4A6E"/>
                      </a:solidFill>
                      <a:prstDash val="solid"/>
                      <a:round/>
                      <a:headEnd type="none" w="med" len="med"/>
                      <a:tailEnd type="none" w="med" len="med"/>
                    </a:lnT>
                    <a:lnB w="12700" cap="flat" cmpd="sng" algn="ctr">
                      <a:solidFill>
                        <a:srgbClr val="2C4A6E"/>
                      </a:solidFill>
                      <a:prstDash val="solid"/>
                      <a:round/>
                      <a:headEnd type="none" w="med" len="med"/>
                      <a:tailEnd type="none" w="med" len="med"/>
                    </a:lnB>
                    <a:solidFill>
                      <a:srgbClr val="16304D"/>
                    </a:solidFill>
                  </a:tcPr>
                </a:tc>
              </a:tr>
            </a:tbl>
          </a:graphicData>
        </a:graphic>
      </p:graphicFrame>
      <p:sp>
        <p:nvSpPr>
          <p:cNvPr id="18" name="Text 15"/>
          <p:cNvSpPr txBox="1"/>
          <p:nvPr/>
        </p:nvSpPr>
        <p:spPr>
          <a:xfrm>
            <a:off x="640080" y="5715000"/>
            <a:ext cx="10881360" cy="365760"/>
          </a:xfrm>
          <a:prstGeom prst="rect">
            <a:avLst/>
          </a:prstGeom>
          <a:noFill/>
          <a:ln/>
        </p:spPr>
        <p:txBody>
          <a:bodyPr wrap="square" lIns="0" tIns="0" rIns="0" bIns="0" rtlCol="0" anchor="ctr"/>
          <a:lstStyle/>
          <a:p>
            <a:pPr indent="0" marL="0">
              <a:buNone/>
            </a:pPr>
            <a:r>
              <a:rPr lang="en-US" sz="1150" dirty="0">
                <a:solidFill>
                  <a:srgbClr val="6B7A8F"/>
                </a:solidFill>
              </a:rPr>
              <a:t>30 paired seeds · 3,000 episodes each · identical hyperparameters · Wilcoxon signed-rank on the paired differences</a:t>
            </a:r>
            <a:endParaRPr lang="en-US" sz="11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What each algorithm actually learned</a:t>
            </a:r>
            <a:endParaRPr lang="en-US" sz="3000" dirty="0"/>
          </a:p>
        </p:txBody>
      </p:sp>
      <p:sp>
        <p:nvSpPr>
          <p:cNvPr id="3" name="chip-Results &amp; Evaluation"/>
          <p:cNvSpPr/>
          <p:nvPr/>
        </p:nvSpPr>
        <p:spPr>
          <a:xfrm>
            <a:off x="8869680" y="420624"/>
            <a:ext cx="2651760" cy="384048"/>
          </a:xfrm>
          <a:prstGeom prst="roundRect">
            <a:avLst>
              <a:gd name="adj" fmla="val 23810"/>
            </a:avLst>
          </a:prstGeom>
          <a:solidFill>
            <a:srgbClr val="EB6834"/>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Results &amp; Evaluation  ·  10 marks</a:t>
            </a:r>
            <a:endParaRPr lang="en-US" sz="1050" dirty="0"/>
          </a:p>
        </p:txBody>
      </p:sp>
      <p:pic>
        <p:nvPicPr>
          <p:cNvPr id="5" name="Image 0" descr="fig3_learned_routes.png">    </p:cNvPr>
          <p:cNvPicPr>
            <a:picLocks noChangeAspect="1"/>
          </p:cNvPicPr>
          <p:nvPr/>
        </p:nvPicPr>
        <p:blipFill>
          <a:blip r:embed="rId1"/>
          <a:stretch>
            <a:fillRect/>
          </a:stretch>
        </p:blipFill>
        <p:spPr>
          <a:xfrm>
            <a:off x="640080" y="1188720"/>
            <a:ext cx="7680960" cy="4114800"/>
          </a:xfrm>
          <a:prstGeom prst="rect">
            <a:avLst/>
          </a:prstGeom>
        </p:spPr>
      </p:pic>
      <p:sp>
        <p:nvSpPr>
          <p:cNvPr id="6" name="card-Q-learning"/>
          <p:cNvSpPr/>
          <p:nvPr/>
        </p:nvSpPr>
        <p:spPr>
          <a:xfrm>
            <a:off x="8595360" y="1188720"/>
            <a:ext cx="2926080" cy="1965960"/>
          </a:xfrm>
          <a:prstGeom prst="roundRect">
            <a:avLst>
              <a:gd name="adj" fmla="val 3721"/>
            </a:avLst>
          </a:prstGeom>
          <a:solidFill>
            <a:srgbClr val="EDF2F7"/>
          </a:solidFill>
          <a:ln w="12700">
            <a:solidFill>
              <a:srgbClr val="333333"/>
            </a:solidFill>
            <a:prstDash val="solid"/>
          </a:ln>
        </p:spPr>
      </p:sp>
      <p:sp>
        <p:nvSpPr>
          <p:cNvPr id="7" name="Text 4"/>
          <p:cNvSpPr txBox="1"/>
          <p:nvPr/>
        </p:nvSpPr>
        <p:spPr>
          <a:xfrm>
            <a:off x="8796528" y="1353312"/>
            <a:ext cx="2523744" cy="292608"/>
          </a:xfrm>
          <a:prstGeom prst="rect">
            <a:avLst/>
          </a:prstGeom>
          <a:noFill/>
          <a:ln/>
        </p:spPr>
        <p:txBody>
          <a:bodyPr wrap="square" lIns="0" tIns="0" rIns="0" bIns="0" rtlCol="0" anchor="ctr"/>
          <a:lstStyle/>
          <a:p>
            <a:pPr indent="0" marL="0">
              <a:buNone/>
            </a:pPr>
            <a:r>
              <a:rPr lang="en-US" sz="1400" b="1" dirty="0">
                <a:solidFill>
                  <a:srgbClr val="2A78D6"/>
                </a:solidFill>
              </a:rPr>
              <a:t>Q-learning</a:t>
            </a:r>
            <a:endParaRPr lang="en-US" sz="1400" dirty="0"/>
          </a:p>
        </p:txBody>
      </p:sp>
      <p:sp>
        <p:nvSpPr>
          <p:cNvPr id="8" name="Text 5"/>
          <p:cNvSpPr txBox="1"/>
          <p:nvPr/>
        </p:nvSpPr>
        <p:spPr>
          <a:xfrm>
            <a:off x="8796528" y="1682496"/>
            <a:ext cx="2523744" cy="13075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A dead-straight 19-step run along the aisle, hugging the walkway. Mean distance from people: 1.00 cells.</a:t>
            </a:r>
            <a:endParaRPr lang="en-US" sz="1200" dirty="0"/>
          </a:p>
        </p:txBody>
      </p:sp>
      <p:sp>
        <p:nvSpPr>
          <p:cNvPr id="9" name="card-SARSA"/>
          <p:cNvSpPr/>
          <p:nvPr/>
        </p:nvSpPr>
        <p:spPr>
          <a:xfrm>
            <a:off x="8595360" y="3337560"/>
            <a:ext cx="2926080" cy="1965960"/>
          </a:xfrm>
          <a:prstGeom prst="roundRect">
            <a:avLst>
              <a:gd name="adj" fmla="val 3721"/>
            </a:avLst>
          </a:prstGeom>
          <a:solidFill>
            <a:srgbClr val="EDF2F7"/>
          </a:solidFill>
          <a:ln w="12700">
            <a:solidFill>
              <a:srgbClr val="333333"/>
            </a:solidFill>
            <a:prstDash val="solid"/>
          </a:ln>
        </p:spPr>
      </p:sp>
      <p:sp>
        <p:nvSpPr>
          <p:cNvPr id="10" name="Text 7"/>
          <p:cNvSpPr txBox="1"/>
          <p:nvPr/>
        </p:nvSpPr>
        <p:spPr>
          <a:xfrm>
            <a:off x="8796528" y="3502152"/>
            <a:ext cx="2523744" cy="292608"/>
          </a:xfrm>
          <a:prstGeom prst="rect">
            <a:avLst/>
          </a:prstGeom>
          <a:noFill/>
          <a:ln/>
        </p:spPr>
        <p:txBody>
          <a:bodyPr wrap="square" lIns="0" tIns="0" rIns="0" bIns="0" rtlCol="0" anchor="ctr"/>
          <a:lstStyle/>
          <a:p>
            <a:pPr indent="0" marL="0">
              <a:buNone/>
            </a:pPr>
            <a:r>
              <a:rPr lang="en-US" sz="1400" b="1" dirty="0">
                <a:solidFill>
                  <a:srgbClr val="EB6834"/>
                </a:solidFill>
              </a:rPr>
              <a:t>SARSA</a:t>
            </a:r>
            <a:endParaRPr lang="en-US" sz="1400" dirty="0"/>
          </a:p>
        </p:txBody>
      </p:sp>
      <p:sp>
        <p:nvSpPr>
          <p:cNvPr id="11" name="Text 8"/>
          <p:cNvSpPr txBox="1"/>
          <p:nvPr/>
        </p:nvSpPr>
        <p:spPr>
          <a:xfrm>
            <a:off x="8796528" y="3831336"/>
            <a:ext cx="2523744" cy="130759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Dives into the racking and takes 33 steps. Mean distance from people: 5.21 cells — five times the clearance.</a:t>
            </a:r>
            <a:endParaRPr lang="en-US" sz="1200" dirty="0"/>
          </a:p>
        </p:txBody>
      </p:sp>
      <p:sp>
        <p:nvSpPr>
          <p:cNvPr id="12" name="Text 9"/>
          <p:cNvSpPr txBox="1"/>
          <p:nvPr/>
        </p:nvSpPr>
        <p:spPr>
          <a:xfrm>
            <a:off x="640080" y="5440680"/>
            <a:ext cx="7680960" cy="640080"/>
          </a:xfrm>
          <a:prstGeom prst="rect">
            <a:avLst/>
          </a:prstGeom>
          <a:noFill/>
          <a:ln/>
        </p:spPr>
        <p:txBody>
          <a:bodyPr wrap="square" lIns="0" tIns="0" rIns="0" bIns="0" rtlCol="0" anchor="ctr"/>
          <a:lstStyle/>
          <a:p>
            <a:pPr indent="0" marL="0">
              <a:buNone/>
            </a:pPr>
            <a:r>
              <a:rPr lang="en-US" sz="1250" i="1" dirty="0">
                <a:solidFill>
                  <a:srgbClr val="14213D"/>
                </a:solidFill>
              </a:rPr>
              <a:t>Identical data, identical hyperparameters, identical experience budget. They differ only in which policy's value they estimate — and one produced a straight line along the hazard while the other produced a detour that never approaches it.</a:t>
            </a:r>
            <a:endParaRPr lang="en-US" sz="12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 mechanism, confirmed by measurement</a:t>
            </a:r>
            <a:endParaRPr lang="en-US" sz="3000" dirty="0"/>
          </a:p>
        </p:txBody>
      </p:sp>
      <p:sp>
        <p:nvSpPr>
          <p:cNvPr id="3" name="chip-Results &amp; Evaluation"/>
          <p:cNvSpPr/>
          <p:nvPr/>
        </p:nvSpPr>
        <p:spPr>
          <a:xfrm>
            <a:off x="8869680" y="420624"/>
            <a:ext cx="2651760" cy="384048"/>
          </a:xfrm>
          <a:prstGeom prst="roundRect">
            <a:avLst>
              <a:gd name="adj" fmla="val 23810"/>
            </a:avLst>
          </a:prstGeom>
          <a:solidFill>
            <a:srgbClr val="EB6834"/>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Results &amp; Evaluation  ·  10 marks</a:t>
            </a:r>
            <a:endParaRPr lang="en-US" sz="1050" dirty="0"/>
          </a:p>
        </p:txBody>
      </p:sp>
      <p:pic>
        <p:nvPicPr>
          <p:cNvPr id="5" name="Image 0" descr="fig6_penalty_sensitivity.png">    </p:cNvPr>
          <p:cNvPicPr>
            <a:picLocks noChangeAspect="1"/>
          </p:cNvPicPr>
          <p:nvPr/>
        </p:nvPicPr>
        <p:blipFill>
          <a:blip r:embed="rId1"/>
          <a:stretch>
            <a:fillRect/>
          </a:stretch>
        </p:blipFill>
        <p:spPr>
          <a:xfrm>
            <a:off x="640080" y="1188720"/>
            <a:ext cx="6675120" cy="219456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3611880"/>
          <a:ext cx="6675120" cy="914400"/>
        </p:xfrm>
        <a:graphic>
          <a:graphicData uri="http://schemas.openxmlformats.org/drawingml/2006/table">
            <a:tbl>
              <a:tblPr/>
              <a:tblGrid>
                <a:gridCol w="1554480"/>
                <a:gridCol w="2103120"/>
                <a:gridCol w="1463040"/>
                <a:gridCol w="1554480"/>
              </a:tblGrid>
              <a:tr h="310896">
                <a:tc>
                  <a:txBody>
                    <a:bodyPr/>
                    <a:lstStyle/>
                    <a:p>
                      <a:pPr indent="0" marL="0">
                        <a:buNone/>
                      </a:pPr>
                      <a:r>
                        <a:rPr lang="en-US" sz="1200" b="1" dirty="0">
                          <a:solidFill>
                            <a:srgbClr val="FFFFFF"/>
                          </a:solidFill>
                        </a:rPr>
                        <a:t>Hazard penalty</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Q-learning incidents</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Q clearance</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SARSA clearance</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310896">
                <a:tc>
                  <a:txBody>
                    <a:bodyPr/>
                    <a:lstStyle/>
                    <a:p>
                      <a:pPr indent="0" marL="0">
                        <a:buNone/>
                      </a:pPr>
                      <a:r>
                        <a:rPr lang="en-US" sz="1200" dirty="0">
                          <a:solidFill>
                            <a:srgbClr val="14213D"/>
                          </a:solidFill>
                        </a:rPr>
                        <a:t>−10</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6,522</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1.74</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2.27</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4213D"/>
                          </a:solidFill>
                        </a:rPr>
                        <a:t>−25</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6,522</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1.74</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4.84</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4213D"/>
                          </a:solidFill>
                        </a:rPr>
                        <a:t>−50</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6,522</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1.74</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5.15</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4213D"/>
                          </a:solidFill>
                        </a:rPr>
                        <a:t>−100</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6,522</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1.74</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5.25</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10896">
                <a:tc>
                  <a:txBody>
                    <a:bodyPr/>
                    <a:lstStyle/>
                    <a:p>
                      <a:pPr indent="0" marL="0">
                        <a:buNone/>
                      </a:pPr>
                      <a:r>
                        <a:rPr lang="en-US" sz="1200" dirty="0">
                          <a:solidFill>
                            <a:srgbClr val="14213D"/>
                          </a:solidFill>
                        </a:rPr>
                        <a:t>−200</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6,522</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14213D"/>
                          </a:solidFill>
                        </a:rPr>
                        <a:t>1.74</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b="1" dirty="0">
                          <a:solidFill>
                            <a:srgbClr val="EB6834"/>
                          </a:solidFill>
                        </a:rPr>
                        <a:t>5.39</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7" name="card-Q-learning is INVARIANT to the penalty"/>
          <p:cNvSpPr/>
          <p:nvPr/>
        </p:nvSpPr>
        <p:spPr>
          <a:xfrm>
            <a:off x="7680960" y="1188720"/>
            <a:ext cx="3840480" cy="2377440"/>
          </a:xfrm>
          <a:prstGeom prst="roundRect">
            <a:avLst>
              <a:gd name="adj" fmla="val 3077"/>
            </a:avLst>
          </a:prstGeom>
          <a:solidFill>
            <a:srgbClr val="EDF2F7"/>
          </a:solidFill>
          <a:ln w="12700">
            <a:solidFill>
              <a:srgbClr val="333333"/>
            </a:solidFill>
            <a:prstDash val="solid"/>
          </a:ln>
        </p:spPr>
      </p:sp>
      <p:sp>
        <p:nvSpPr>
          <p:cNvPr id="8" name="Text 4"/>
          <p:cNvSpPr txBox="1"/>
          <p:nvPr/>
        </p:nvSpPr>
        <p:spPr>
          <a:xfrm>
            <a:off x="7882128" y="1353312"/>
            <a:ext cx="3438144" cy="292608"/>
          </a:xfrm>
          <a:prstGeom prst="rect">
            <a:avLst/>
          </a:prstGeom>
          <a:noFill/>
          <a:ln/>
        </p:spPr>
        <p:txBody>
          <a:bodyPr wrap="square" lIns="0" tIns="0" rIns="0" bIns="0" rtlCol="0" anchor="ctr"/>
          <a:lstStyle/>
          <a:p>
            <a:pPr indent="0" marL="0">
              <a:buNone/>
            </a:pPr>
            <a:r>
              <a:rPr lang="en-US" sz="1400" b="1" dirty="0">
                <a:solidFill>
                  <a:srgbClr val="2A78D6"/>
                </a:solidFill>
              </a:rPr>
              <a:t>Q-learning is INVARIANT to the penalty</a:t>
            </a:r>
            <a:endParaRPr lang="en-US" sz="1400" dirty="0"/>
          </a:p>
        </p:txBody>
      </p:sp>
      <p:sp>
        <p:nvSpPr>
          <p:cNvPr id="9" name="Text 5"/>
          <p:cNvSpPr txBox="1"/>
          <p:nvPr/>
        </p:nvSpPr>
        <p:spPr>
          <a:xfrm>
            <a:off x="7882128" y="1682496"/>
            <a:ext cx="3438144" cy="171907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Identical incident counts and identical clearance at −10, −25, −50, −100 and −200.</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A twenty-fold increase in the cost of an incident changes its behaviour by nothing at all.</a:t>
            </a:r>
            <a:endParaRPr lang="en-US" sz="1200" dirty="0"/>
          </a:p>
        </p:txBody>
      </p:sp>
      <p:sp>
        <p:nvSpPr>
          <p:cNvPr id="10" name="card-Exactly as the theory predicts"/>
          <p:cNvSpPr/>
          <p:nvPr/>
        </p:nvSpPr>
        <p:spPr>
          <a:xfrm>
            <a:off x="7680960" y="3749040"/>
            <a:ext cx="3840480" cy="2103120"/>
          </a:xfrm>
          <a:prstGeom prst="roundRect">
            <a:avLst>
              <a:gd name="adj" fmla="val 3478"/>
            </a:avLst>
          </a:prstGeom>
          <a:solidFill>
            <a:srgbClr val="EDF2F7"/>
          </a:solidFill>
          <a:ln w="12700">
            <a:solidFill>
              <a:srgbClr val="333333"/>
            </a:solidFill>
            <a:prstDash val="solid"/>
          </a:ln>
        </p:spPr>
      </p:sp>
      <p:sp>
        <p:nvSpPr>
          <p:cNvPr id="11" name="Text 7"/>
          <p:cNvSpPr txBox="1"/>
          <p:nvPr/>
        </p:nvSpPr>
        <p:spPr>
          <a:xfrm>
            <a:off x="7882128" y="3913632"/>
            <a:ext cx="3438144" cy="292608"/>
          </a:xfrm>
          <a:prstGeom prst="rect">
            <a:avLst/>
          </a:prstGeom>
          <a:noFill/>
          <a:ln/>
        </p:spPr>
        <p:txBody>
          <a:bodyPr wrap="square" lIns="0" tIns="0" rIns="0" bIns="0" rtlCol="0" anchor="ctr"/>
          <a:lstStyle/>
          <a:p>
            <a:pPr indent="0" marL="0">
              <a:buNone/>
            </a:pPr>
            <a:r>
              <a:rPr lang="en-US" sz="1400" b="1" dirty="0">
                <a:solidFill>
                  <a:srgbClr val="EB6834"/>
                </a:solidFill>
              </a:rPr>
              <a:t>Exactly as the theory predicts</a:t>
            </a:r>
            <a:endParaRPr lang="en-US" sz="1400" dirty="0"/>
          </a:p>
        </p:txBody>
      </p:sp>
      <p:sp>
        <p:nvSpPr>
          <p:cNvPr id="12" name="Text 8"/>
          <p:cNvSpPr txBox="1"/>
          <p:nvPr/>
        </p:nvSpPr>
        <p:spPr>
          <a:xfrm>
            <a:off x="7882128" y="4242816"/>
            <a:ext cx="3438144" cy="144475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The max operator selects the safe action, so the penalty attaches to Q(s, a_bad) but never propagates into V(s).</a:t>
            </a:r>
            <a:endParaRPr lang="en-US" sz="1200" dirty="0"/>
          </a:p>
          <a:p>
            <a:pPr indent="0" marL="0">
              <a:lnSpc>
                <a:spcPct val="108000"/>
              </a:lnSpc>
              <a:buNone/>
            </a:pPr>
            <a:endParaRPr lang="en-US" sz="1200" dirty="0"/>
          </a:p>
          <a:p>
            <a:pPr indent="0" marL="0">
              <a:lnSpc>
                <a:spcPct val="108000"/>
              </a:lnSpc>
              <a:buNone/>
            </a:pPr>
            <a:r>
              <a:rPr lang="en-US" sz="1200" dirty="0">
                <a:solidFill>
                  <a:srgbClr val="3D5A80"/>
                </a:solidFill>
              </a:rPr>
              <a:t>SARSA's clearance rises monotonically, 1.91 → 5.39.</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Is the result real? Three checks</a:t>
            </a:r>
            <a:endParaRPr lang="en-US" sz="3000" dirty="0"/>
          </a:p>
        </p:txBody>
      </p:sp>
      <p:sp>
        <p:nvSpPr>
          <p:cNvPr id="3" name="chip-Results &amp; Evaluation"/>
          <p:cNvSpPr/>
          <p:nvPr/>
        </p:nvSpPr>
        <p:spPr>
          <a:xfrm>
            <a:off x="8869680" y="420624"/>
            <a:ext cx="2651760" cy="384048"/>
          </a:xfrm>
          <a:prstGeom prst="roundRect">
            <a:avLst>
              <a:gd name="adj" fmla="val 23810"/>
            </a:avLst>
          </a:prstGeom>
          <a:solidFill>
            <a:srgbClr val="EB6834"/>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Results &amp; Evaluation  ·  10 marks</a:t>
            </a:r>
            <a:endParaRPr lang="en-US" sz="1050" dirty="0"/>
          </a:p>
        </p:txBody>
      </p:sp>
      <p:sp>
        <p:nvSpPr>
          <p:cNvPr id="5" name="badge-1"/>
          <p:cNvSpPr/>
          <p:nvPr/>
        </p:nvSpPr>
        <p:spPr>
          <a:xfrm>
            <a:off x="640080" y="1280160"/>
            <a:ext cx="384048" cy="384048"/>
          </a:xfrm>
          <a:prstGeom prst="ellipse">
            <a:avLst/>
          </a:prstGeom>
          <a:solidFill>
            <a:srgbClr val="2A78D6"/>
          </a:solidFill>
          <a:ln/>
        </p:spPr>
      </p:sp>
      <p:sp>
        <p:nvSpPr>
          <p:cNvPr id="6" name="Text 4"/>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1207008" y="1252728"/>
            <a:ext cx="2953512" cy="310896"/>
          </a:xfrm>
          <a:prstGeom prst="rect">
            <a:avLst/>
          </a:prstGeom>
          <a:noFill/>
          <a:ln/>
        </p:spPr>
        <p:txBody>
          <a:bodyPr wrap="square" lIns="0" tIns="0" rIns="0" bIns="0" rtlCol="0" anchor="ctr"/>
          <a:lstStyle/>
          <a:p>
            <a:pPr indent="0" marL="0">
              <a:buNone/>
            </a:pPr>
            <a:r>
              <a:rPr lang="en-US" sz="1500" b="1" dirty="0">
                <a:solidFill>
                  <a:srgbClr val="14213D"/>
                </a:solidFill>
              </a:rPr>
              <a:t>Against external baselines</a:t>
            </a:r>
            <a:endParaRPr lang="en-US" sz="1500" dirty="0"/>
          </a:p>
        </p:txBody>
      </p:sp>
      <p:sp>
        <p:nvSpPr>
          <p:cNvPr id="8" name="Text 6"/>
          <p:cNvSpPr txBox="1"/>
          <p:nvPr/>
        </p:nvSpPr>
        <p:spPr>
          <a:xfrm>
            <a:off x="1207008" y="1572768"/>
            <a:ext cx="295351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BFS optimum 19 steps. Q-learning 19.40, SARSA 33.34. Neither deployed policy causes any incident.</a:t>
            </a:r>
            <a:endParaRPr lang="en-US" sz="1250" dirty="0"/>
          </a:p>
        </p:txBody>
      </p:sp>
      <p:sp>
        <p:nvSpPr>
          <p:cNvPr id="9" name="badge-2"/>
          <p:cNvSpPr/>
          <p:nvPr/>
        </p:nvSpPr>
        <p:spPr>
          <a:xfrm>
            <a:off x="4297680" y="1280160"/>
            <a:ext cx="384048" cy="384048"/>
          </a:xfrm>
          <a:prstGeom prst="ellipse">
            <a:avLst/>
          </a:prstGeom>
          <a:solidFill>
            <a:srgbClr val="EB6834"/>
          </a:solidFill>
          <a:ln/>
        </p:spPr>
      </p:sp>
      <p:sp>
        <p:nvSpPr>
          <p:cNvPr id="10" name="Text 8"/>
          <p:cNvSpPr txBox="1"/>
          <p:nvPr/>
        </p:nvSpPr>
        <p:spPr>
          <a:xfrm>
            <a:off x="429768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4864608" y="1252728"/>
            <a:ext cx="2953512" cy="310896"/>
          </a:xfrm>
          <a:prstGeom prst="rect">
            <a:avLst/>
          </a:prstGeom>
          <a:noFill/>
          <a:ln/>
        </p:spPr>
        <p:txBody>
          <a:bodyPr wrap="square" lIns="0" tIns="0" rIns="0" bIns="0" rtlCol="0" anchor="ctr"/>
          <a:lstStyle/>
          <a:p>
            <a:pPr indent="0" marL="0">
              <a:buNone/>
            </a:pPr>
            <a:r>
              <a:rPr lang="en-US" sz="1500" b="1" dirty="0">
                <a:solidFill>
                  <a:srgbClr val="14213D"/>
                </a:solidFill>
              </a:rPr>
              <a:t>Across 12 independent floors</a:t>
            </a:r>
            <a:endParaRPr lang="en-US" sz="1500" dirty="0"/>
          </a:p>
        </p:txBody>
      </p:sp>
      <p:sp>
        <p:nvSpPr>
          <p:cNvPr id="12" name="Text 10"/>
          <p:cNvSpPr txBox="1"/>
          <p:nvPr/>
        </p:nvSpPr>
        <p:spPr>
          <a:xfrm>
            <a:off x="4864608" y="1572768"/>
            <a:ext cx="295351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Pattern holds on every one: Q-learning +2.17 excess steps, SARSA +11.33; incidents 5,927 vs 1,792, p = 4.9e−4.</a:t>
            </a:r>
            <a:endParaRPr lang="en-US" sz="1250" dirty="0"/>
          </a:p>
        </p:txBody>
      </p:sp>
      <p:sp>
        <p:nvSpPr>
          <p:cNvPr id="13" name="badge-3"/>
          <p:cNvSpPr/>
          <p:nvPr/>
        </p:nvSpPr>
        <p:spPr>
          <a:xfrm>
            <a:off x="7955280" y="1280160"/>
            <a:ext cx="384048" cy="384048"/>
          </a:xfrm>
          <a:prstGeom prst="ellipse">
            <a:avLst/>
          </a:prstGeom>
          <a:solidFill>
            <a:srgbClr val="1BAF7A"/>
          </a:solidFill>
          <a:ln/>
        </p:spPr>
      </p:sp>
      <p:sp>
        <p:nvSpPr>
          <p:cNvPr id="14" name="Text 12"/>
          <p:cNvSpPr txBox="1"/>
          <p:nvPr/>
        </p:nvSpPr>
        <p:spPr>
          <a:xfrm>
            <a:off x="7955280" y="1280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8522208" y="1252728"/>
            <a:ext cx="2999232" cy="310896"/>
          </a:xfrm>
          <a:prstGeom prst="rect">
            <a:avLst/>
          </a:prstGeom>
          <a:noFill/>
          <a:ln/>
        </p:spPr>
        <p:txBody>
          <a:bodyPr wrap="square" lIns="0" tIns="0" rIns="0" bIns="0" rtlCol="0" anchor="ctr"/>
          <a:lstStyle/>
          <a:p>
            <a:pPr indent="0" marL="0">
              <a:buNone/>
            </a:pPr>
            <a:r>
              <a:rPr lang="en-US" sz="1500" b="1" dirty="0">
                <a:solidFill>
                  <a:srgbClr val="14213D"/>
                </a:solidFill>
              </a:rPr>
              <a:t>Across the hazard penalty</a:t>
            </a:r>
            <a:endParaRPr lang="en-US" sz="1500" dirty="0"/>
          </a:p>
        </p:txBody>
      </p:sp>
      <p:sp>
        <p:nvSpPr>
          <p:cNvPr id="16" name="Text 14"/>
          <p:cNvSpPr txBox="1"/>
          <p:nvPr/>
        </p:nvSpPr>
        <p:spPr>
          <a:xfrm>
            <a:off x="8522208" y="1572768"/>
            <a:ext cx="2999232" cy="777240"/>
          </a:xfrm>
          <a:prstGeom prst="rect">
            <a:avLst/>
          </a:prstGeom>
          <a:noFill/>
          <a:ln/>
        </p:spPr>
        <p:txBody>
          <a:bodyPr wrap="square" lIns="0" tIns="0" rIns="0" bIns="0" rtlCol="0" anchor="ctr"/>
          <a:lstStyle/>
          <a:p>
            <a:pPr indent="0" marL="0">
              <a:lnSpc>
                <a:spcPct val="105000"/>
              </a:lnSpc>
              <a:buNone/>
            </a:pPr>
            <a:r>
              <a:rPr lang="en-US" sz="1250" dirty="0">
                <a:solidFill>
                  <a:srgbClr val="3D5A80"/>
                </a:solidFill>
              </a:rPr>
              <a:t>Holds from −10 to −200. At penalty 0 the effect disappears entirely — as predicted.</a:t>
            </a:r>
            <a:endParaRPr lang="en-US" sz="1250" dirty="0"/>
          </a:p>
        </p:txBody>
      </p:sp>
      <p:sp>
        <p:nvSpPr>
          <p:cNvPr id="17" name="negctrl"/>
          <p:cNvSpPr/>
          <p:nvPr/>
        </p:nvSpPr>
        <p:spPr>
          <a:xfrm>
            <a:off x="640080" y="2743200"/>
            <a:ext cx="10881360" cy="1463040"/>
          </a:xfrm>
          <a:prstGeom prst="roundRect">
            <a:avLst>
              <a:gd name="adj" fmla="val 5000"/>
            </a:avLst>
          </a:prstGeom>
          <a:solidFill>
            <a:srgbClr val="14213D"/>
          </a:solidFill>
          <a:ln w="12700">
            <a:solidFill>
              <a:srgbClr val="333333"/>
            </a:solidFill>
            <a:prstDash val="solid"/>
          </a:ln>
        </p:spPr>
      </p:sp>
      <p:sp>
        <p:nvSpPr>
          <p:cNvPr id="18" name="Text 16"/>
          <p:cNvSpPr txBox="1"/>
          <p:nvPr/>
        </p:nvSpPr>
        <p:spPr>
          <a:xfrm>
            <a:off x="960120" y="2926080"/>
            <a:ext cx="10058400" cy="320040"/>
          </a:xfrm>
          <a:prstGeom prst="rect">
            <a:avLst/>
          </a:prstGeom>
          <a:noFill/>
          <a:ln/>
        </p:spPr>
        <p:txBody>
          <a:bodyPr wrap="square" lIns="0" tIns="0" rIns="0" bIns="0" rtlCol="0" anchor="ctr"/>
          <a:lstStyle/>
          <a:p>
            <a:pPr indent="0" marL="0">
              <a:buNone/>
            </a:pPr>
            <a:r>
              <a:rPr lang="en-US" sz="1600" b="1" dirty="0">
                <a:solidFill>
                  <a:srgbClr val="EB6834"/>
                </a:solidFill>
                <a:latin typeface="Cambria" pitchFamily="34" charset="0"/>
                <a:ea typeface="Cambria" pitchFamily="34" charset="-122"/>
                <a:cs typeface="Cambria" pitchFamily="34" charset="-120"/>
              </a:rPr>
              <a:t>The negative control</a:t>
            </a:r>
            <a:endParaRPr lang="en-US" sz="1600" dirty="0"/>
          </a:p>
        </p:txBody>
      </p:sp>
      <p:sp>
        <p:nvSpPr>
          <p:cNvPr id="19" name="Text 17"/>
          <p:cNvSpPr txBox="1"/>
          <p:nvPr/>
        </p:nvSpPr>
        <p:spPr>
          <a:xfrm>
            <a:off x="960120" y="3310128"/>
            <a:ext cx="10241280" cy="822960"/>
          </a:xfrm>
          <a:prstGeom prst="rect">
            <a:avLst/>
          </a:prstGeom>
          <a:noFill/>
          <a:ln/>
        </p:spPr>
        <p:txBody>
          <a:bodyPr wrap="square" lIns="0" tIns="0" rIns="0" bIns="0" rtlCol="0" anchor="ctr"/>
          <a:lstStyle/>
          <a:p>
            <a:pPr indent="0" marL="0">
              <a:lnSpc>
                <a:spcPct val="110000"/>
              </a:lnSpc>
              <a:buNone/>
            </a:pPr>
            <a:r>
              <a:rPr lang="en-US" sz="1350" dirty="0">
                <a:solidFill>
                  <a:srgbClr val="CBD6E6"/>
                </a:solidFill>
              </a:rPr>
              <a:t>On a floor of scattered racking with NO localised hazard, both algorithms converged on the identical 39-step optimum. There was no difference to measure. The on-policy/off-policy distinction is a response to a property of the task — not a general ranking of the two algorithms.</a:t>
            </a:r>
            <a:endParaRPr lang="en-US" sz="1350" dirty="0"/>
          </a:p>
        </p:txBody>
      </p:sp>
      <p:sp>
        <p:nvSpPr>
          <p:cNvPr id="20" name="card-An uncomfortable finding, reported anyway"/>
          <p:cNvSpPr/>
          <p:nvPr/>
        </p:nvSpPr>
        <p:spPr>
          <a:xfrm>
            <a:off x="640080" y="4389120"/>
            <a:ext cx="5394960" cy="1417320"/>
          </a:xfrm>
          <a:prstGeom prst="roundRect">
            <a:avLst>
              <a:gd name="adj" fmla="val 5161"/>
            </a:avLst>
          </a:prstGeom>
          <a:solidFill>
            <a:srgbClr val="EDF2F7"/>
          </a:solidFill>
          <a:ln w="12700">
            <a:solidFill>
              <a:srgbClr val="333333"/>
            </a:solidFill>
            <a:prstDash val="solid"/>
          </a:ln>
        </p:spPr>
      </p:sp>
      <p:sp>
        <p:nvSpPr>
          <p:cNvPr id="21" name="Text 19"/>
          <p:cNvSpPr txBox="1"/>
          <p:nvPr/>
        </p:nvSpPr>
        <p:spPr>
          <a:xfrm>
            <a:off x="841248" y="4553712"/>
            <a:ext cx="4992624" cy="292608"/>
          </a:xfrm>
          <a:prstGeom prst="rect">
            <a:avLst/>
          </a:prstGeom>
          <a:noFill/>
          <a:ln/>
        </p:spPr>
        <p:txBody>
          <a:bodyPr wrap="square" lIns="0" tIns="0" rIns="0" bIns="0" rtlCol="0" anchor="ctr"/>
          <a:lstStyle/>
          <a:p>
            <a:pPr indent="0" marL="0">
              <a:buNone/>
            </a:pPr>
            <a:r>
              <a:rPr lang="en-US" sz="1400" b="1" dirty="0">
                <a:solidFill>
                  <a:srgbClr val="EB6834"/>
                </a:solidFill>
              </a:rPr>
              <a:t>An uncomfortable finding, reported anyway</a:t>
            </a:r>
            <a:endParaRPr lang="en-US" sz="1400" dirty="0"/>
          </a:p>
        </p:txBody>
      </p:sp>
      <p:sp>
        <p:nvSpPr>
          <p:cNvPr id="22" name="Text 20"/>
          <p:cNvSpPr txBox="1"/>
          <p:nvPr/>
        </p:nvSpPr>
        <p:spPr>
          <a:xfrm>
            <a:off x="841248" y="4882896"/>
            <a:ext cx="4992624" cy="75895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The heuristic recovered from the dataset — simply move toward the goal — also achieves 19 steps with zero incidents, matching Q-learning and beating SARSA on this floor.</a:t>
            </a:r>
            <a:endParaRPr lang="en-US" sz="1200" dirty="0"/>
          </a:p>
        </p:txBody>
      </p:sp>
      <p:sp>
        <p:nvSpPr>
          <p:cNvPr id="23" name="card-What that means"/>
          <p:cNvSpPr/>
          <p:nvPr/>
        </p:nvSpPr>
        <p:spPr>
          <a:xfrm>
            <a:off x="6400800" y="4389120"/>
            <a:ext cx="5120640" cy="1417320"/>
          </a:xfrm>
          <a:prstGeom prst="roundRect">
            <a:avLst>
              <a:gd name="adj" fmla="val 5161"/>
            </a:avLst>
          </a:prstGeom>
          <a:solidFill>
            <a:srgbClr val="EDF2F7"/>
          </a:solidFill>
          <a:ln w="12700">
            <a:solidFill>
              <a:srgbClr val="333333"/>
            </a:solidFill>
            <a:prstDash val="solid"/>
          </a:ln>
        </p:spPr>
      </p:sp>
      <p:sp>
        <p:nvSpPr>
          <p:cNvPr id="24" name="Text 22"/>
          <p:cNvSpPr txBox="1"/>
          <p:nvPr/>
        </p:nvSpPr>
        <p:spPr>
          <a:xfrm>
            <a:off x="6601968" y="4553712"/>
            <a:ext cx="4718304" cy="292608"/>
          </a:xfrm>
          <a:prstGeom prst="rect">
            <a:avLst/>
          </a:prstGeom>
          <a:noFill/>
          <a:ln/>
        </p:spPr>
        <p:txBody>
          <a:bodyPr wrap="square" lIns="0" tIns="0" rIns="0" bIns="0" rtlCol="0" anchor="ctr"/>
          <a:lstStyle/>
          <a:p>
            <a:pPr indent="0" marL="0">
              <a:buNone/>
            </a:pPr>
            <a:r>
              <a:rPr lang="en-US" sz="1400" b="1" dirty="0">
                <a:solidFill>
                  <a:srgbClr val="14213D"/>
                </a:solidFill>
              </a:rPr>
              <a:t>What that means</a:t>
            </a:r>
            <a:endParaRPr lang="en-US" sz="1400" dirty="0"/>
          </a:p>
        </p:txBody>
      </p:sp>
      <p:sp>
        <p:nvSpPr>
          <p:cNvPr id="25" name="Text 23"/>
          <p:cNvSpPr txBox="1"/>
          <p:nvPr/>
        </p:nvSpPr>
        <p:spPr>
          <a:xfrm>
            <a:off x="6601968" y="4882896"/>
            <a:ext cx="4718304" cy="75895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This floor is a good instrument for isolating the on-policy/off-policy distinction, and a poor advertisement for RL on this particular routing problem. Stated in the report, not buried.</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14213D"/>
                </a:solidFill>
                <a:latin typeface="Cambria" pitchFamily="34" charset="0"/>
                <a:ea typeface="Cambria" pitchFamily="34" charset="-122"/>
                <a:cs typeface="Cambria" pitchFamily="34" charset="-120"/>
              </a:rPr>
              <a:t>The technical report and codebase</a:t>
            </a:r>
            <a:endParaRPr lang="en-US" sz="3000" dirty="0"/>
          </a:p>
        </p:txBody>
      </p:sp>
      <p:sp>
        <p:nvSpPr>
          <p:cNvPr id="3" name="chip-Technical Report"/>
          <p:cNvSpPr/>
          <p:nvPr/>
        </p:nvSpPr>
        <p:spPr>
          <a:xfrm>
            <a:off x="8869680" y="420624"/>
            <a:ext cx="2651760" cy="384048"/>
          </a:xfrm>
          <a:prstGeom prst="roundRect">
            <a:avLst>
              <a:gd name="adj" fmla="val 23810"/>
            </a:avLst>
          </a:prstGeom>
          <a:solidFill>
            <a:srgbClr val="1BAF7A"/>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Technical Report  ·  5 marks</a:t>
            </a:r>
            <a:endParaRPr lang="en-US" sz="1050" dirty="0"/>
          </a:p>
        </p:txBody>
      </p:sp>
      <p:sp>
        <p:nvSpPr>
          <p:cNvPr id="5" name="stat-pages"/>
          <p:cNvSpPr/>
          <p:nvPr/>
        </p:nvSpPr>
        <p:spPr>
          <a:xfrm>
            <a:off x="640080" y="1234440"/>
            <a:ext cx="2514600" cy="1645920"/>
          </a:xfrm>
          <a:prstGeom prst="roundRect">
            <a:avLst>
              <a:gd name="adj" fmla="val 5556"/>
            </a:avLst>
          </a:prstGeom>
          <a:solidFill>
            <a:srgbClr val="EDF2F7"/>
          </a:solidFill>
          <a:ln w="12700">
            <a:solidFill>
              <a:srgbClr val="333333"/>
            </a:solidFill>
            <a:prstDash val="solid"/>
          </a:ln>
        </p:spPr>
      </p:sp>
      <p:sp>
        <p:nvSpPr>
          <p:cNvPr id="6" name="Text 4"/>
          <p:cNvSpPr txBox="1"/>
          <p:nvPr/>
        </p:nvSpPr>
        <p:spPr>
          <a:xfrm>
            <a:off x="777240" y="1325880"/>
            <a:ext cx="2240280" cy="855878"/>
          </a:xfrm>
          <a:prstGeom prst="rect">
            <a:avLst/>
          </a:prstGeom>
          <a:noFill/>
          <a:ln/>
        </p:spPr>
        <p:txBody>
          <a:bodyPr wrap="square" lIns="0" tIns="0" rIns="0" bIns="0" rtlCol="0" anchor="ctr"/>
          <a:lstStyle/>
          <a:p>
            <a:pPr algn="ctr" indent="0" marL="0">
              <a:buNone/>
            </a:pPr>
            <a:r>
              <a:rPr lang="en-US" sz="4000" b="1" dirty="0">
                <a:solidFill>
                  <a:srgbClr val="14213D"/>
                </a:solidFill>
                <a:latin typeface="Cambria" pitchFamily="34" charset="0"/>
                <a:ea typeface="Cambria" pitchFamily="34" charset="-122"/>
                <a:cs typeface="Cambria" pitchFamily="34" charset="-120"/>
              </a:rPr>
              <a:t>49</a:t>
            </a:r>
            <a:endParaRPr lang="en-US" sz="4000" dirty="0"/>
          </a:p>
        </p:txBody>
      </p:sp>
      <p:sp>
        <p:nvSpPr>
          <p:cNvPr id="7" name="Text 5"/>
          <p:cNvSpPr txBox="1"/>
          <p:nvPr/>
        </p:nvSpPr>
        <p:spPr>
          <a:xfrm>
            <a:off x="777240" y="2181758"/>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pages</a:t>
            </a:r>
            <a:endParaRPr lang="en-US" sz="1300" dirty="0"/>
          </a:p>
        </p:txBody>
      </p:sp>
      <p:sp>
        <p:nvSpPr>
          <p:cNvPr id="8" name="Text 6"/>
          <p:cNvSpPr txBox="1"/>
          <p:nvPr/>
        </p:nvSpPr>
        <p:spPr>
          <a:xfrm>
            <a:off x="749808" y="2492654"/>
            <a:ext cx="2295144" cy="314554"/>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LaTeX, 9 chapters + 5 appendices</a:t>
            </a:r>
            <a:endParaRPr lang="en-US" sz="1050" dirty="0"/>
          </a:p>
        </p:txBody>
      </p:sp>
      <p:sp>
        <p:nvSpPr>
          <p:cNvPr id="9" name="stat-checks"/>
          <p:cNvSpPr/>
          <p:nvPr/>
        </p:nvSpPr>
        <p:spPr>
          <a:xfrm>
            <a:off x="3337560" y="1234440"/>
            <a:ext cx="2514600" cy="1645920"/>
          </a:xfrm>
          <a:prstGeom prst="roundRect">
            <a:avLst>
              <a:gd name="adj" fmla="val 5556"/>
            </a:avLst>
          </a:prstGeom>
          <a:solidFill>
            <a:srgbClr val="EDF2F7"/>
          </a:solidFill>
          <a:ln w="12700">
            <a:solidFill>
              <a:srgbClr val="333333"/>
            </a:solidFill>
            <a:prstDash val="solid"/>
          </a:ln>
        </p:spPr>
      </p:sp>
      <p:sp>
        <p:nvSpPr>
          <p:cNvPr id="10" name="Text 8"/>
          <p:cNvSpPr txBox="1"/>
          <p:nvPr/>
        </p:nvSpPr>
        <p:spPr>
          <a:xfrm>
            <a:off x="3474720" y="1325880"/>
            <a:ext cx="2240280" cy="855878"/>
          </a:xfrm>
          <a:prstGeom prst="rect">
            <a:avLst/>
          </a:prstGeom>
          <a:noFill/>
          <a:ln/>
        </p:spPr>
        <p:txBody>
          <a:bodyPr wrap="square" lIns="0" tIns="0" rIns="0" bIns="0" rtlCol="0" anchor="ctr"/>
          <a:lstStyle/>
          <a:p>
            <a:pPr algn="ctr" indent="0" marL="0">
              <a:buNone/>
            </a:pPr>
            <a:r>
              <a:rPr lang="en-US" sz="4000" b="1" dirty="0">
                <a:solidFill>
                  <a:srgbClr val="1BAF7A"/>
                </a:solidFill>
                <a:latin typeface="Cambria" pitchFamily="34" charset="0"/>
                <a:ea typeface="Cambria" pitchFamily="34" charset="-122"/>
                <a:cs typeface="Cambria" pitchFamily="34" charset="-120"/>
              </a:rPr>
              <a:t>13</a:t>
            </a:r>
            <a:endParaRPr lang="en-US" sz="4000" dirty="0"/>
          </a:p>
        </p:txBody>
      </p:sp>
      <p:sp>
        <p:nvSpPr>
          <p:cNvPr id="11" name="Text 9"/>
          <p:cNvSpPr txBox="1"/>
          <p:nvPr/>
        </p:nvSpPr>
        <p:spPr>
          <a:xfrm>
            <a:off x="3474720" y="2181758"/>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checks</a:t>
            </a:r>
            <a:endParaRPr lang="en-US" sz="1300" dirty="0"/>
          </a:p>
        </p:txBody>
      </p:sp>
      <p:sp>
        <p:nvSpPr>
          <p:cNvPr id="12" name="Text 10"/>
          <p:cNvSpPr txBox="1"/>
          <p:nvPr/>
        </p:nvSpPr>
        <p:spPr>
          <a:xfrm>
            <a:off x="3447288" y="2492654"/>
            <a:ext cx="2295144" cy="314554"/>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all passing, before any run</a:t>
            </a:r>
            <a:endParaRPr lang="en-US" sz="1050" dirty="0"/>
          </a:p>
        </p:txBody>
      </p:sp>
      <p:sp>
        <p:nvSpPr>
          <p:cNvPr id="13" name="stat-paired seeds"/>
          <p:cNvSpPr/>
          <p:nvPr/>
        </p:nvSpPr>
        <p:spPr>
          <a:xfrm>
            <a:off x="6035040" y="1234440"/>
            <a:ext cx="2514600" cy="1645920"/>
          </a:xfrm>
          <a:prstGeom prst="roundRect">
            <a:avLst>
              <a:gd name="adj" fmla="val 5556"/>
            </a:avLst>
          </a:prstGeom>
          <a:solidFill>
            <a:srgbClr val="EDF2F7"/>
          </a:solidFill>
          <a:ln w="12700">
            <a:solidFill>
              <a:srgbClr val="333333"/>
            </a:solidFill>
            <a:prstDash val="solid"/>
          </a:ln>
        </p:spPr>
      </p:sp>
      <p:sp>
        <p:nvSpPr>
          <p:cNvPr id="14" name="Text 12"/>
          <p:cNvSpPr txBox="1"/>
          <p:nvPr/>
        </p:nvSpPr>
        <p:spPr>
          <a:xfrm>
            <a:off x="6172200" y="1325880"/>
            <a:ext cx="2240280" cy="855878"/>
          </a:xfrm>
          <a:prstGeom prst="rect">
            <a:avLst/>
          </a:prstGeom>
          <a:noFill/>
          <a:ln/>
        </p:spPr>
        <p:txBody>
          <a:bodyPr wrap="square" lIns="0" tIns="0" rIns="0" bIns="0" rtlCol="0" anchor="ctr"/>
          <a:lstStyle/>
          <a:p>
            <a:pPr algn="ctr" indent="0" marL="0">
              <a:buNone/>
            </a:pPr>
            <a:r>
              <a:rPr lang="en-US" sz="4000" b="1" dirty="0">
                <a:solidFill>
                  <a:srgbClr val="2A78D6"/>
                </a:solidFill>
                <a:latin typeface="Cambria" pitchFamily="34" charset="0"/>
                <a:ea typeface="Cambria" pitchFamily="34" charset="-122"/>
                <a:cs typeface="Cambria" pitchFamily="34" charset="-120"/>
              </a:rPr>
              <a:t>30</a:t>
            </a:r>
            <a:endParaRPr lang="en-US" sz="4000" dirty="0"/>
          </a:p>
        </p:txBody>
      </p:sp>
      <p:sp>
        <p:nvSpPr>
          <p:cNvPr id="15" name="Text 13"/>
          <p:cNvSpPr txBox="1"/>
          <p:nvPr/>
        </p:nvSpPr>
        <p:spPr>
          <a:xfrm>
            <a:off x="6172200" y="2181758"/>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paired seeds</a:t>
            </a:r>
            <a:endParaRPr lang="en-US" sz="1300" dirty="0"/>
          </a:p>
        </p:txBody>
      </p:sp>
      <p:sp>
        <p:nvSpPr>
          <p:cNvPr id="16" name="Text 14"/>
          <p:cNvSpPr txBox="1"/>
          <p:nvPr/>
        </p:nvSpPr>
        <p:spPr>
          <a:xfrm>
            <a:off x="6144768" y="2492654"/>
            <a:ext cx="2295144" cy="314554"/>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with significance testing</a:t>
            </a:r>
            <a:endParaRPr lang="en-US" sz="1050" dirty="0"/>
          </a:p>
        </p:txBody>
      </p:sp>
      <p:sp>
        <p:nvSpPr>
          <p:cNvPr id="17" name="stat-figures"/>
          <p:cNvSpPr/>
          <p:nvPr/>
        </p:nvSpPr>
        <p:spPr>
          <a:xfrm>
            <a:off x="8732520" y="1234440"/>
            <a:ext cx="2514600" cy="1645920"/>
          </a:xfrm>
          <a:prstGeom prst="roundRect">
            <a:avLst>
              <a:gd name="adj" fmla="val 5556"/>
            </a:avLst>
          </a:prstGeom>
          <a:solidFill>
            <a:srgbClr val="EDF2F7"/>
          </a:solidFill>
          <a:ln w="12700">
            <a:solidFill>
              <a:srgbClr val="333333"/>
            </a:solidFill>
            <a:prstDash val="solid"/>
          </a:ln>
        </p:spPr>
      </p:sp>
      <p:sp>
        <p:nvSpPr>
          <p:cNvPr id="18" name="Text 16"/>
          <p:cNvSpPr txBox="1"/>
          <p:nvPr/>
        </p:nvSpPr>
        <p:spPr>
          <a:xfrm>
            <a:off x="8869680" y="1325880"/>
            <a:ext cx="2240280" cy="855878"/>
          </a:xfrm>
          <a:prstGeom prst="rect">
            <a:avLst/>
          </a:prstGeom>
          <a:noFill/>
          <a:ln/>
        </p:spPr>
        <p:txBody>
          <a:bodyPr wrap="square" lIns="0" tIns="0" rIns="0" bIns="0" rtlCol="0" anchor="ctr"/>
          <a:lstStyle/>
          <a:p>
            <a:pPr algn="ctr" indent="0" marL="0">
              <a:buNone/>
            </a:pPr>
            <a:r>
              <a:rPr lang="en-US" sz="4000" b="1" dirty="0">
                <a:solidFill>
                  <a:srgbClr val="EB6834"/>
                </a:solidFill>
                <a:latin typeface="Cambria" pitchFamily="34" charset="0"/>
                <a:ea typeface="Cambria" pitchFamily="34" charset="-122"/>
                <a:cs typeface="Cambria" pitchFamily="34" charset="-120"/>
              </a:rPr>
              <a:t>6</a:t>
            </a:r>
            <a:endParaRPr lang="en-US" sz="4000" dirty="0"/>
          </a:p>
        </p:txBody>
      </p:sp>
      <p:sp>
        <p:nvSpPr>
          <p:cNvPr id="19" name="Text 17"/>
          <p:cNvSpPr txBox="1"/>
          <p:nvPr/>
        </p:nvSpPr>
        <p:spPr>
          <a:xfrm>
            <a:off x="8869680" y="2181758"/>
            <a:ext cx="2240280" cy="274320"/>
          </a:xfrm>
          <a:prstGeom prst="rect">
            <a:avLst/>
          </a:prstGeom>
          <a:noFill/>
          <a:ln/>
        </p:spPr>
        <p:txBody>
          <a:bodyPr wrap="square" lIns="0" tIns="0" rIns="0" bIns="0" rtlCol="0" anchor="ctr"/>
          <a:lstStyle/>
          <a:p>
            <a:pPr algn="ctr" indent="0" marL="0">
              <a:buNone/>
            </a:pPr>
            <a:r>
              <a:rPr lang="en-US" sz="1300" b="1" dirty="0">
                <a:solidFill>
                  <a:srgbClr val="14213D"/>
                </a:solidFill>
              </a:rPr>
              <a:t>figures</a:t>
            </a:r>
            <a:endParaRPr lang="en-US" sz="1300" dirty="0"/>
          </a:p>
        </p:txBody>
      </p:sp>
      <p:sp>
        <p:nvSpPr>
          <p:cNvPr id="20" name="Text 18"/>
          <p:cNvSpPr txBox="1"/>
          <p:nvPr/>
        </p:nvSpPr>
        <p:spPr>
          <a:xfrm>
            <a:off x="8842248" y="2492654"/>
            <a:ext cx="2295144" cy="314554"/>
          </a:xfrm>
          <a:prstGeom prst="rect">
            <a:avLst/>
          </a:prstGeom>
          <a:noFill/>
          <a:ln/>
        </p:spPr>
        <p:txBody>
          <a:bodyPr wrap="square" lIns="0" tIns="0" rIns="0" bIns="0" rtlCol="0" anchor="t"/>
          <a:lstStyle/>
          <a:p>
            <a:pPr algn="ctr" indent="0" marL="0">
              <a:lnSpc>
                <a:spcPct val="100000"/>
              </a:lnSpc>
              <a:buNone/>
            </a:pPr>
            <a:r>
              <a:rPr lang="en-US" sz="1050" dirty="0">
                <a:solidFill>
                  <a:srgbClr val="6B7A8F"/>
                </a:solidFill>
              </a:rPr>
              <a:t>all generated by the notebook</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3063240"/>
          <a:ext cx="10881360" cy="914400"/>
        </p:xfrm>
        <a:graphic>
          <a:graphicData uri="http://schemas.openxmlformats.org/drawingml/2006/table">
            <a:tbl>
              <a:tblPr/>
              <a:tblGrid>
                <a:gridCol w="3200400"/>
                <a:gridCol w="7680960"/>
              </a:tblGrid>
              <a:tr h="301752">
                <a:tc>
                  <a:txBody>
                    <a:bodyPr/>
                    <a:lstStyle/>
                    <a:p>
                      <a:pPr indent="0" marL="0">
                        <a:buNone/>
                      </a:pPr>
                      <a:r>
                        <a:rPr lang="en-US" sz="1200" b="1" dirty="0">
                          <a:solidFill>
                            <a:srgbClr val="FFFFFF"/>
                          </a:solidFill>
                        </a:rPr>
                        <a:t>Chapter</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c>
                  <a:txBody>
                    <a:bodyPr/>
                    <a:lstStyle/>
                    <a:p>
                      <a:pPr indent="0" marL="0">
                        <a:buNone/>
                      </a:pPr>
                      <a:r>
                        <a:rPr lang="en-US" sz="1200" b="1" dirty="0">
                          <a:solidFill>
                            <a:srgbClr val="FFFFFF"/>
                          </a:solidFill>
                        </a:rPr>
                        <a:t>Contents</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4213D"/>
                    </a:solidFill>
                  </a:tcPr>
                </a:tc>
              </a:tr>
              <a:tr h="301752">
                <a:tc>
                  <a:txBody>
                    <a:bodyPr/>
                    <a:lstStyle/>
                    <a:p>
                      <a:pPr indent="0" marL="0">
                        <a:buNone/>
                      </a:pPr>
                      <a:r>
                        <a:rPr lang="en-US" sz="1200" dirty="0">
                          <a:solidFill>
                            <a:srgbClr val="14213D"/>
                          </a:solidFill>
                        </a:rPr>
                        <a:t>1–2  Introduction, literature</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MDPs, TD learning, Watkins' Q-learning, Rummery &amp; Niranjan's SARSA, Cliff Walking, safe RL</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14213D"/>
                          </a:solidFill>
                        </a:rPr>
                        <a:t>3     Theory</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Bellman equations, TD(0), both update rules derived, convergence conditions, pseudocode</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14213D"/>
                          </a:solidFill>
                        </a:rPr>
                        <a:t>4     Dataset and environment</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the full audit, and the explicit separation of data from assumption</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14213D"/>
                          </a:solidFill>
                        </a:rPr>
                        <a:t>5–6  Implementation, verification</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both agents, and the 13 numerical checks</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301752">
                <a:tc>
                  <a:txBody>
                    <a:bodyPr/>
                    <a:lstStyle/>
                    <a:p>
                      <a:pPr indent="0" marL="0">
                        <a:buNone/>
                      </a:pPr>
                      <a:r>
                        <a:rPr lang="en-US" sz="1200" dirty="0">
                          <a:solidFill>
                            <a:srgbClr val="14213D"/>
                          </a:solidFill>
                        </a:rPr>
                        <a:t>7–9  Results, discussion, conclusion</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rPr>
                        <a:t>30-seed comparison, significance, robustness, threats to validity</a:t>
                      </a:r>
                      <a:endParaRPr lang="en-US" sz="1200" dirty="0"/>
                    </a:p>
                  </a:txBody>
                  <a:tcPr marL="91440" marR="91440" marT="45720" marB="4572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22" name="card-Reproducibility"/>
          <p:cNvSpPr/>
          <p:nvPr/>
        </p:nvSpPr>
        <p:spPr>
          <a:xfrm>
            <a:off x="640080" y="4983480"/>
            <a:ext cx="10881360" cy="960120"/>
          </a:xfrm>
          <a:prstGeom prst="roundRect">
            <a:avLst>
              <a:gd name="adj" fmla="val 7619"/>
            </a:avLst>
          </a:prstGeom>
          <a:solidFill>
            <a:srgbClr val="EDF2F7"/>
          </a:solidFill>
          <a:ln w="12700">
            <a:solidFill>
              <a:srgbClr val="333333"/>
            </a:solidFill>
            <a:prstDash val="solid"/>
          </a:ln>
        </p:spPr>
      </p:sp>
      <p:sp>
        <p:nvSpPr>
          <p:cNvPr id="23" name="Text 20"/>
          <p:cNvSpPr txBox="1"/>
          <p:nvPr/>
        </p:nvSpPr>
        <p:spPr>
          <a:xfrm>
            <a:off x="841248" y="5148072"/>
            <a:ext cx="10479024" cy="292608"/>
          </a:xfrm>
          <a:prstGeom prst="rect">
            <a:avLst/>
          </a:prstGeom>
          <a:noFill/>
          <a:ln/>
        </p:spPr>
        <p:txBody>
          <a:bodyPr wrap="square" lIns="0" tIns="0" rIns="0" bIns="0" rtlCol="0" anchor="ctr"/>
          <a:lstStyle/>
          <a:p>
            <a:pPr indent="0" marL="0">
              <a:buNone/>
            </a:pPr>
            <a:r>
              <a:rPr lang="en-US" sz="1400" b="1" dirty="0">
                <a:solidFill>
                  <a:srgbClr val="2A78D6"/>
                </a:solidFill>
              </a:rPr>
              <a:t>Reproducibility</a:t>
            </a:r>
            <a:endParaRPr lang="en-US" sz="1400" dirty="0"/>
          </a:p>
        </p:txBody>
      </p:sp>
      <p:sp>
        <p:nvSpPr>
          <p:cNvPr id="24" name="Text 21"/>
          <p:cNvSpPr txBox="1"/>
          <p:nvPr/>
        </p:nvSpPr>
        <p:spPr>
          <a:xfrm>
            <a:off x="841248" y="5477256"/>
            <a:ext cx="10479024" cy="301752"/>
          </a:xfrm>
          <a:prstGeom prst="rect">
            <a:avLst/>
          </a:prstGeom>
          <a:noFill/>
          <a:ln/>
        </p:spPr>
        <p:txBody>
          <a:bodyPr wrap="square" lIns="0" tIns="0" rIns="0" bIns="0" rtlCol="0" anchor="ctr"/>
          <a:lstStyle/>
          <a:p>
            <a:pPr indent="0" marL="0">
              <a:lnSpc>
                <a:spcPct val="108000"/>
              </a:lnSpc>
              <a:buNone/>
            </a:pPr>
            <a:r>
              <a:rPr lang="en-US" sz="1200" dirty="0">
                <a:solidFill>
                  <a:srgbClr val="3D5A80"/>
                </a:solidFill>
              </a:rPr>
              <a:t>One command executes the whole study end to end in about four minutes. All generators are seeded; the experiment was run twice and every reported metric was identical.</a:t>
            </a:r>
            <a:endParaRPr lang="en-US" sz="120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384048"/>
            <a:ext cx="10881360" cy="68580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Conclusions, limitations, and likely questions</a:t>
            </a:r>
            <a:endParaRPr lang="en-US" sz="3000" dirty="0"/>
          </a:p>
        </p:txBody>
      </p:sp>
      <p:sp>
        <p:nvSpPr>
          <p:cNvPr id="3" name="chip-Conclusion &amp; Viva"/>
          <p:cNvSpPr/>
          <p:nvPr/>
        </p:nvSpPr>
        <p:spPr>
          <a:xfrm>
            <a:off x="8869680" y="420624"/>
            <a:ext cx="2651760" cy="384048"/>
          </a:xfrm>
          <a:prstGeom prst="roundRect">
            <a:avLst>
              <a:gd name="adj" fmla="val 23810"/>
            </a:avLst>
          </a:prstGeom>
          <a:solidFill>
            <a:srgbClr val="EB6834"/>
          </a:solidFill>
          <a:ln w="12700">
            <a:solidFill>
              <a:srgbClr val="333333"/>
            </a:solidFill>
            <a:prstDash val="solid"/>
          </a:ln>
        </p:spPr>
      </p:sp>
      <p:sp>
        <p:nvSpPr>
          <p:cNvPr id="4" name="Text 2"/>
          <p:cNvSpPr txBox="1"/>
          <p:nvPr/>
        </p:nvSpPr>
        <p:spPr>
          <a:xfrm>
            <a:off x="8869680" y="420624"/>
            <a:ext cx="2651760" cy="384048"/>
          </a:xfrm>
          <a:prstGeom prst="rect">
            <a:avLst/>
          </a:prstGeom>
          <a:noFill/>
          <a:ln/>
        </p:spPr>
        <p:txBody>
          <a:bodyPr wrap="square" lIns="0" tIns="0" rIns="0" bIns="0" rtlCol="0" anchor="ctr"/>
          <a:lstStyle/>
          <a:p>
            <a:pPr algn="ctr" indent="0" marL="0">
              <a:buNone/>
            </a:pPr>
            <a:r>
              <a:rPr lang="en-US" sz="1050" b="1" dirty="0">
                <a:solidFill>
                  <a:srgbClr val="FFFFFF"/>
                </a:solidFill>
              </a:rPr>
              <a:t>Conclusion &amp; Viva  ·  10 marks</a:t>
            </a:r>
            <a:endParaRPr lang="en-US" sz="1050" dirty="0"/>
          </a:p>
        </p:txBody>
      </p:sp>
      <p:sp>
        <p:nvSpPr>
          <p:cNvPr id="5" name="f0"/>
          <p:cNvSpPr/>
          <p:nvPr/>
        </p:nvSpPr>
        <p:spPr>
          <a:xfrm>
            <a:off x="640080" y="1280160"/>
            <a:ext cx="365760" cy="365760"/>
          </a:xfrm>
          <a:prstGeom prst="ellipse">
            <a:avLst/>
          </a:prstGeom>
          <a:solidFill>
            <a:srgbClr val="2A78D6"/>
          </a:solidFill>
          <a:ln/>
        </p:spPr>
      </p:sp>
      <p:sp>
        <p:nvSpPr>
          <p:cNvPr id="6" name="Text 4"/>
          <p:cNvSpPr txBox="1"/>
          <p:nvPr/>
        </p:nvSpPr>
        <p:spPr>
          <a:xfrm>
            <a:off x="640080" y="128016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rPr>
              <a:t>1</a:t>
            </a:r>
            <a:endParaRPr lang="en-US" sz="1250" dirty="0"/>
          </a:p>
        </p:txBody>
      </p:sp>
      <p:sp>
        <p:nvSpPr>
          <p:cNvPr id="7" name="Text 5"/>
          <p:cNvSpPr txBox="1"/>
          <p:nvPr/>
        </p:nvSpPr>
        <p:spPr>
          <a:xfrm>
            <a:off x="1152144" y="1261872"/>
            <a:ext cx="4846320" cy="274320"/>
          </a:xfrm>
          <a:prstGeom prst="rect">
            <a:avLst/>
          </a:prstGeom>
          <a:noFill/>
          <a:ln/>
        </p:spPr>
        <p:txBody>
          <a:bodyPr wrap="square" lIns="0" tIns="0" rIns="0" bIns="0" rtlCol="0" anchor="ctr"/>
          <a:lstStyle/>
          <a:p>
            <a:pPr indent="0" marL="0">
              <a:buNone/>
            </a:pPr>
            <a:r>
              <a:rPr lang="en-US" sz="1400" b="1" dirty="0">
                <a:solidFill>
                  <a:srgbClr val="FFFFFF"/>
                </a:solidFill>
              </a:rPr>
              <a:t>Opposite answers to two questions</a:t>
            </a:r>
            <a:endParaRPr lang="en-US" sz="1400" dirty="0"/>
          </a:p>
        </p:txBody>
      </p:sp>
      <p:sp>
        <p:nvSpPr>
          <p:cNvPr id="8" name="Text 6"/>
          <p:cNvSpPr txBox="1"/>
          <p:nvPr/>
        </p:nvSpPr>
        <p:spPr>
          <a:xfrm>
            <a:off x="1152144" y="1563624"/>
            <a:ext cx="4846320" cy="658368"/>
          </a:xfrm>
          <a:prstGeom prst="rect">
            <a:avLst/>
          </a:prstGeom>
          <a:noFill/>
          <a:ln/>
        </p:spPr>
        <p:txBody>
          <a:bodyPr wrap="square" lIns="0" tIns="0" rIns="0" bIns="0" rtlCol="0" anchor="ctr"/>
          <a:lstStyle/>
          <a:p>
            <a:pPr indent="0" marL="0">
              <a:lnSpc>
                <a:spcPct val="105000"/>
              </a:lnSpc>
              <a:buNone/>
            </a:pPr>
            <a:r>
              <a:rPr lang="en-US" sz="1200" dirty="0">
                <a:solidFill>
                  <a:srgbClr val="AEBCD1"/>
                </a:solidFill>
              </a:rPr>
              <a:t>Q-learning deploys better (19.40 vs 33.34 steps); SARSA trains 4.3× cheaper in incidents.</a:t>
            </a:r>
            <a:endParaRPr lang="en-US" sz="1200" dirty="0"/>
          </a:p>
        </p:txBody>
      </p:sp>
      <p:sp>
        <p:nvSpPr>
          <p:cNvPr id="9" name="f1"/>
          <p:cNvSpPr/>
          <p:nvPr/>
        </p:nvSpPr>
        <p:spPr>
          <a:xfrm>
            <a:off x="6217920" y="1280160"/>
            <a:ext cx="365760" cy="365760"/>
          </a:xfrm>
          <a:prstGeom prst="ellipse">
            <a:avLst/>
          </a:prstGeom>
          <a:solidFill>
            <a:srgbClr val="EB6834"/>
          </a:solidFill>
          <a:ln/>
        </p:spPr>
      </p:sp>
      <p:sp>
        <p:nvSpPr>
          <p:cNvPr id="10" name="Text 8"/>
          <p:cNvSpPr txBox="1"/>
          <p:nvPr/>
        </p:nvSpPr>
        <p:spPr>
          <a:xfrm>
            <a:off x="6217920" y="128016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rPr>
              <a:t>2</a:t>
            </a:r>
            <a:endParaRPr lang="en-US" sz="1250" dirty="0"/>
          </a:p>
        </p:txBody>
      </p:sp>
      <p:sp>
        <p:nvSpPr>
          <p:cNvPr id="11" name="Text 9"/>
          <p:cNvSpPr txBox="1"/>
          <p:nvPr/>
        </p:nvSpPr>
        <p:spPr>
          <a:xfrm>
            <a:off x="6729984" y="1261872"/>
            <a:ext cx="4846320" cy="274320"/>
          </a:xfrm>
          <a:prstGeom prst="rect">
            <a:avLst/>
          </a:prstGeom>
          <a:noFill/>
          <a:ln/>
        </p:spPr>
        <p:txBody>
          <a:bodyPr wrap="square" lIns="0" tIns="0" rIns="0" bIns="0" rtlCol="0" anchor="ctr"/>
          <a:lstStyle/>
          <a:p>
            <a:pPr indent="0" marL="0">
              <a:buNone/>
            </a:pPr>
            <a:r>
              <a:rPr lang="en-US" sz="1400" b="1" dirty="0">
                <a:solidFill>
                  <a:srgbClr val="FFFFFF"/>
                </a:solidFill>
              </a:rPr>
              <a:t>The mechanism is directly visible</a:t>
            </a:r>
            <a:endParaRPr lang="en-US" sz="1400" dirty="0"/>
          </a:p>
        </p:txBody>
      </p:sp>
      <p:sp>
        <p:nvSpPr>
          <p:cNvPr id="12" name="Text 10"/>
          <p:cNvSpPr txBox="1"/>
          <p:nvPr/>
        </p:nvSpPr>
        <p:spPr>
          <a:xfrm>
            <a:off x="6729984" y="1563624"/>
            <a:ext cx="4846320" cy="658368"/>
          </a:xfrm>
          <a:prstGeom prst="rect">
            <a:avLst/>
          </a:prstGeom>
          <a:noFill/>
          <a:ln/>
        </p:spPr>
        <p:txBody>
          <a:bodyPr wrap="square" lIns="0" tIns="0" rIns="0" bIns="0" rtlCol="0" anchor="ctr"/>
          <a:lstStyle/>
          <a:p>
            <a:pPr indent="0" marL="0">
              <a:lnSpc>
                <a:spcPct val="105000"/>
              </a:lnSpc>
              <a:buNone/>
            </a:pPr>
            <a:r>
              <a:rPr lang="en-US" sz="1200" dirty="0">
                <a:solidFill>
                  <a:srgbClr val="AEBCD1"/>
                </a:solidFill>
              </a:rPr>
              <a:t>Q-learning's behaviour is numerically invariant to a 20× change in hazard penalty.</a:t>
            </a:r>
            <a:endParaRPr lang="en-US" sz="1200" dirty="0"/>
          </a:p>
        </p:txBody>
      </p:sp>
      <p:sp>
        <p:nvSpPr>
          <p:cNvPr id="13" name="f2"/>
          <p:cNvSpPr/>
          <p:nvPr/>
        </p:nvSpPr>
        <p:spPr>
          <a:xfrm>
            <a:off x="640080" y="2514600"/>
            <a:ext cx="365760" cy="365760"/>
          </a:xfrm>
          <a:prstGeom prst="ellipse">
            <a:avLst/>
          </a:prstGeom>
          <a:solidFill>
            <a:srgbClr val="1BAF7A"/>
          </a:solidFill>
          <a:ln/>
        </p:spPr>
      </p:sp>
      <p:sp>
        <p:nvSpPr>
          <p:cNvPr id="14" name="Text 12"/>
          <p:cNvSpPr txBox="1"/>
          <p:nvPr/>
        </p:nvSpPr>
        <p:spPr>
          <a:xfrm>
            <a:off x="640080" y="251460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rPr>
              <a:t>3</a:t>
            </a:r>
            <a:endParaRPr lang="en-US" sz="1250" dirty="0"/>
          </a:p>
        </p:txBody>
      </p:sp>
      <p:sp>
        <p:nvSpPr>
          <p:cNvPr id="15" name="Text 13"/>
          <p:cNvSpPr txBox="1"/>
          <p:nvPr/>
        </p:nvSpPr>
        <p:spPr>
          <a:xfrm>
            <a:off x="1152144" y="2496312"/>
            <a:ext cx="4846320" cy="274320"/>
          </a:xfrm>
          <a:prstGeom prst="rect">
            <a:avLst/>
          </a:prstGeom>
          <a:noFill/>
          <a:ln/>
        </p:spPr>
        <p:txBody>
          <a:bodyPr wrap="square" lIns="0" tIns="0" rIns="0" bIns="0" rtlCol="0" anchor="ctr"/>
          <a:lstStyle/>
          <a:p>
            <a:pPr indent="0" marL="0">
              <a:buNone/>
            </a:pPr>
            <a:r>
              <a:rPr lang="en-US" sz="1400" b="1" dirty="0">
                <a:solidFill>
                  <a:srgbClr val="FFFFFF"/>
                </a:solidFill>
              </a:rPr>
              <a:t>No hazard, no difference</a:t>
            </a:r>
            <a:endParaRPr lang="en-US" sz="1400" dirty="0"/>
          </a:p>
        </p:txBody>
      </p:sp>
      <p:sp>
        <p:nvSpPr>
          <p:cNvPr id="16" name="Text 14"/>
          <p:cNvSpPr txBox="1"/>
          <p:nvPr/>
        </p:nvSpPr>
        <p:spPr>
          <a:xfrm>
            <a:off x="1152144" y="2798064"/>
            <a:ext cx="4846320" cy="658368"/>
          </a:xfrm>
          <a:prstGeom prst="rect">
            <a:avLst/>
          </a:prstGeom>
          <a:noFill/>
          <a:ln/>
        </p:spPr>
        <p:txBody>
          <a:bodyPr wrap="square" lIns="0" tIns="0" rIns="0" bIns="0" rtlCol="0" anchor="ctr"/>
          <a:lstStyle/>
          <a:p>
            <a:pPr indent="0" marL="0">
              <a:lnSpc>
                <a:spcPct val="105000"/>
              </a:lnSpc>
              <a:buNone/>
            </a:pPr>
            <a:r>
              <a:rPr lang="en-US" sz="1200" dirty="0">
                <a:solidFill>
                  <a:srgbClr val="AEBCD1"/>
                </a:solidFill>
              </a:rPr>
              <a:t>On a floor without a localised hazard both find the identical optimum.</a:t>
            </a:r>
            <a:endParaRPr lang="en-US" sz="1200" dirty="0"/>
          </a:p>
        </p:txBody>
      </p:sp>
      <p:sp>
        <p:nvSpPr>
          <p:cNvPr id="17" name="f3"/>
          <p:cNvSpPr/>
          <p:nvPr/>
        </p:nvSpPr>
        <p:spPr>
          <a:xfrm>
            <a:off x="6217920" y="2514600"/>
            <a:ext cx="365760" cy="365760"/>
          </a:xfrm>
          <a:prstGeom prst="ellipse">
            <a:avLst/>
          </a:prstGeom>
          <a:solidFill>
            <a:srgbClr val="EDA100"/>
          </a:solidFill>
          <a:ln/>
        </p:spPr>
      </p:sp>
      <p:sp>
        <p:nvSpPr>
          <p:cNvPr id="18" name="Text 16"/>
          <p:cNvSpPr txBox="1"/>
          <p:nvPr/>
        </p:nvSpPr>
        <p:spPr>
          <a:xfrm>
            <a:off x="6217920" y="2514600"/>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rPr>
              <a:t>4</a:t>
            </a:r>
            <a:endParaRPr lang="en-US" sz="1250" dirty="0"/>
          </a:p>
        </p:txBody>
      </p:sp>
      <p:sp>
        <p:nvSpPr>
          <p:cNvPr id="19" name="Text 17"/>
          <p:cNvSpPr txBox="1"/>
          <p:nvPr/>
        </p:nvSpPr>
        <p:spPr>
          <a:xfrm>
            <a:off x="6729984" y="2496312"/>
            <a:ext cx="4846320" cy="274320"/>
          </a:xfrm>
          <a:prstGeom prst="rect">
            <a:avLst/>
          </a:prstGeom>
          <a:noFill/>
          <a:ln/>
        </p:spPr>
        <p:txBody>
          <a:bodyPr wrap="square" lIns="0" tIns="0" rIns="0" bIns="0" rtlCol="0" anchor="ctr"/>
          <a:lstStyle/>
          <a:p>
            <a:pPr indent="0" marL="0">
              <a:buNone/>
            </a:pPr>
            <a:r>
              <a:rPr lang="en-US" sz="1400" b="1" dirty="0">
                <a:solidFill>
                  <a:srgbClr val="FFFFFF"/>
                </a:solidFill>
              </a:rPr>
              <a:t>A four-line heuristic matched it</a:t>
            </a:r>
            <a:endParaRPr lang="en-US" sz="1400" dirty="0"/>
          </a:p>
        </p:txBody>
      </p:sp>
      <p:sp>
        <p:nvSpPr>
          <p:cNvPr id="20" name="Text 18"/>
          <p:cNvSpPr txBox="1"/>
          <p:nvPr/>
        </p:nvSpPr>
        <p:spPr>
          <a:xfrm>
            <a:off x="6729984" y="2798064"/>
            <a:ext cx="4846320" cy="658368"/>
          </a:xfrm>
          <a:prstGeom prst="rect">
            <a:avLst/>
          </a:prstGeom>
          <a:noFill/>
          <a:ln/>
        </p:spPr>
        <p:txBody>
          <a:bodyPr wrap="square" lIns="0" tIns="0" rIns="0" bIns="0" rtlCol="0" anchor="ctr"/>
          <a:lstStyle/>
          <a:p>
            <a:pPr indent="0" marL="0">
              <a:lnSpc>
                <a:spcPct val="105000"/>
              </a:lnSpc>
              <a:buNone/>
            </a:pPr>
            <a:r>
              <a:rPr lang="en-US" sz="1200" dirty="0">
                <a:solidFill>
                  <a:srgbClr val="AEBCD1"/>
                </a:solidFill>
              </a:rPr>
              <a:t>Reported rather than hidden — this floor isolates the algorithms, it does not sell RL.</a:t>
            </a:r>
            <a:endParaRPr lang="en-US" sz="1200" dirty="0"/>
          </a:p>
        </p:txBody>
      </p:sp>
      <p:sp>
        <p:nvSpPr>
          <p:cNvPr id="21" name="lim"/>
          <p:cNvSpPr/>
          <p:nvPr/>
        </p:nvSpPr>
        <p:spPr>
          <a:xfrm>
            <a:off x="640080" y="3886200"/>
            <a:ext cx="5394960" cy="1920240"/>
          </a:xfrm>
          <a:prstGeom prst="roundRect">
            <a:avLst>
              <a:gd name="adj" fmla="val 3810"/>
            </a:avLst>
          </a:prstGeom>
          <a:solidFill>
            <a:srgbClr val="1E3356"/>
          </a:solidFill>
          <a:ln w="12700">
            <a:solidFill>
              <a:srgbClr val="333333"/>
            </a:solidFill>
            <a:prstDash val="solid"/>
          </a:ln>
        </p:spPr>
      </p:sp>
      <p:sp>
        <p:nvSpPr>
          <p:cNvPr id="22" name="Text 20"/>
          <p:cNvSpPr txBox="1"/>
          <p:nvPr/>
        </p:nvSpPr>
        <p:spPr>
          <a:xfrm>
            <a:off x="914400" y="4041648"/>
            <a:ext cx="4846320" cy="274320"/>
          </a:xfrm>
          <a:prstGeom prst="rect">
            <a:avLst/>
          </a:prstGeom>
          <a:noFill/>
          <a:ln/>
        </p:spPr>
        <p:txBody>
          <a:bodyPr wrap="square" lIns="0" tIns="0" rIns="0" bIns="0" rtlCol="0" anchor="ctr"/>
          <a:lstStyle/>
          <a:p>
            <a:pPr indent="0" marL="0">
              <a:buNone/>
            </a:pPr>
            <a:r>
              <a:rPr lang="en-US" sz="1400" b="1" dirty="0">
                <a:solidFill>
                  <a:srgbClr val="EB6834"/>
                </a:solidFill>
              </a:rPr>
              <a:t>Limitations</a:t>
            </a:r>
            <a:endParaRPr lang="en-US" sz="1400" dirty="0"/>
          </a:p>
        </p:txBody>
      </p:sp>
      <p:sp>
        <p:nvSpPr>
          <p:cNvPr id="23" name="Text 21"/>
          <p:cNvSpPr txBox="1"/>
          <p:nvPr/>
        </p:nvSpPr>
        <p:spPr>
          <a:xfrm>
            <a:off x="914400" y="4370832"/>
            <a:ext cx="4846320" cy="1325880"/>
          </a:xfrm>
          <a:prstGeom prst="rect">
            <a:avLst/>
          </a:prstGeom>
          <a:noFill/>
          <a:ln/>
        </p:spPr>
        <p:txBody>
          <a:bodyPr wrap="square" lIns="0" tIns="0" rIns="0" bIns="0" rtlCol="0" anchor="ctr"/>
          <a:lstStyle/>
          <a:p>
            <a:pPr indent="0" marL="0">
              <a:lnSpc>
                <a:spcPct val="115000"/>
              </a:lnSpc>
              <a:buNone/>
            </a:pPr>
            <a:r>
              <a:rPr lang="en-US" sz="1150" dirty="0">
                <a:solidFill>
                  <a:srgbClr val="CBD6E6"/>
                </a:solidFill>
              </a:rPr>
              <a:t>·  Reward constants are assumptions, not data</a:t>
            </a:r>
            <a:endParaRPr lang="en-US" sz="1150" dirty="0"/>
          </a:p>
          <a:p>
            <a:pPr indent="0" marL="0">
              <a:lnSpc>
                <a:spcPct val="115000"/>
              </a:lnSpc>
              <a:buNone/>
            </a:pPr>
            <a:r>
              <a:rPr lang="en-US" sz="1150" dirty="0">
                <a:solidFill>
                  <a:srgbClr val="CBD6E6"/>
                </a:solidFill>
              </a:rPr>
              <a:t>·  The walkway is a construction; without it there is no effect</a:t>
            </a:r>
            <a:endParaRPr lang="en-US" sz="1150" dirty="0"/>
          </a:p>
          <a:p>
            <a:pPr indent="0" marL="0">
              <a:lnSpc>
                <a:spcPct val="115000"/>
              </a:lnSpc>
              <a:buNone/>
            </a:pPr>
            <a:r>
              <a:rPr lang="en-US" sz="1150" dirty="0">
                <a:solidFill>
                  <a:srgbClr val="CBD6E6"/>
                </a:solidFill>
              </a:rPr>
              <a:t>·  Tabular only — nothing here transfers to function approximation</a:t>
            </a:r>
            <a:endParaRPr lang="en-US" sz="1150" dirty="0"/>
          </a:p>
          <a:p>
            <a:pPr indent="0" marL="0">
              <a:lnSpc>
                <a:spcPct val="115000"/>
              </a:lnSpc>
              <a:buNone/>
            </a:pPr>
            <a:r>
              <a:rPr lang="en-US" sz="1150" dirty="0">
                <a:solidFill>
                  <a:srgbClr val="CBD6E6"/>
                </a:solidFill>
              </a:rPr>
              <a:t>·  Deterministic dynamics; slip probability was zero</a:t>
            </a:r>
            <a:endParaRPr lang="en-US" sz="1150" dirty="0"/>
          </a:p>
        </p:txBody>
      </p:sp>
      <p:sp>
        <p:nvSpPr>
          <p:cNvPr id="24" name="viva"/>
          <p:cNvSpPr/>
          <p:nvPr/>
        </p:nvSpPr>
        <p:spPr>
          <a:xfrm>
            <a:off x="6217920" y="3886200"/>
            <a:ext cx="5394960" cy="1920240"/>
          </a:xfrm>
          <a:prstGeom prst="roundRect">
            <a:avLst>
              <a:gd name="adj" fmla="val 3810"/>
            </a:avLst>
          </a:prstGeom>
          <a:solidFill>
            <a:srgbClr val="1E3356"/>
          </a:solidFill>
          <a:ln w="12700">
            <a:solidFill>
              <a:srgbClr val="333333"/>
            </a:solidFill>
            <a:prstDash val="solid"/>
          </a:ln>
        </p:spPr>
      </p:sp>
      <p:sp>
        <p:nvSpPr>
          <p:cNvPr id="25" name="Text 23"/>
          <p:cNvSpPr txBox="1"/>
          <p:nvPr/>
        </p:nvSpPr>
        <p:spPr>
          <a:xfrm>
            <a:off x="6492240" y="4041648"/>
            <a:ext cx="4846320" cy="274320"/>
          </a:xfrm>
          <a:prstGeom prst="rect">
            <a:avLst/>
          </a:prstGeom>
          <a:noFill/>
          <a:ln/>
        </p:spPr>
        <p:txBody>
          <a:bodyPr wrap="square" lIns="0" tIns="0" rIns="0" bIns="0" rtlCol="0" anchor="ctr"/>
          <a:lstStyle/>
          <a:p>
            <a:pPr indent="0" marL="0">
              <a:buNone/>
            </a:pPr>
            <a:r>
              <a:rPr lang="en-US" sz="1400" b="1" dirty="0">
                <a:solidFill>
                  <a:srgbClr val="1BAF7A"/>
                </a:solidFill>
              </a:rPr>
              <a:t>Anticipated questions</a:t>
            </a:r>
            <a:endParaRPr lang="en-US" sz="1400" dirty="0"/>
          </a:p>
        </p:txBody>
      </p:sp>
      <p:sp>
        <p:nvSpPr>
          <p:cNvPr id="26" name="Text 24"/>
          <p:cNvSpPr txBox="1"/>
          <p:nvPr/>
        </p:nvSpPr>
        <p:spPr>
          <a:xfrm>
            <a:off x="6492240" y="4370832"/>
            <a:ext cx="4846320" cy="1325880"/>
          </a:xfrm>
          <a:prstGeom prst="rect">
            <a:avLst/>
          </a:prstGeom>
          <a:noFill/>
          <a:ln/>
        </p:spPr>
        <p:txBody>
          <a:bodyPr wrap="square" lIns="0" tIns="0" rIns="0" bIns="0" rtlCol="0" anchor="ctr"/>
          <a:lstStyle/>
          <a:p>
            <a:pPr indent="0" marL="0">
              <a:lnSpc>
                <a:spcPct val="115000"/>
              </a:lnSpc>
              <a:buNone/>
            </a:pPr>
            <a:r>
              <a:rPr lang="en-US" sz="1150" dirty="0">
                <a:solidFill>
                  <a:srgbClr val="CBD6E6"/>
                </a:solidFill>
              </a:rPr>
              <a:t>·  Why is SARSA's route longer if it is “better”?  It is not better — it is cheaper to learn.</a:t>
            </a:r>
            <a:endParaRPr lang="en-US" sz="1150" dirty="0"/>
          </a:p>
          <a:p>
            <a:pPr indent="0" marL="0">
              <a:lnSpc>
                <a:spcPct val="115000"/>
              </a:lnSpc>
              <a:buNone/>
            </a:pPr>
            <a:r>
              <a:rPr lang="en-US" sz="1150" dirty="0">
                <a:solidFill>
                  <a:srgbClr val="CBD6E6"/>
                </a:solidFill>
              </a:rPr>
              <a:t>·  Would decaying ε to 0 remove the gap?  Yes — both converge to optimal under GLIE.</a:t>
            </a:r>
            <a:endParaRPr lang="en-US" sz="1150" dirty="0"/>
          </a:p>
          <a:p>
            <a:pPr indent="0" marL="0">
              <a:lnSpc>
                <a:spcPct val="115000"/>
              </a:lnSpc>
              <a:buNone/>
            </a:pPr>
            <a:r>
              <a:rPr lang="en-US" sz="1150" dirty="0">
                <a:solidFill>
                  <a:srgbClr val="CBD6E6"/>
                </a:solidFill>
              </a:rPr>
              <a:t>·  Why not DQN?  400 states are enumerable; approximation adds instability, not insight.</a:t>
            </a:r>
            <a:endParaRPr lang="en-US" sz="1150" dirty="0"/>
          </a:p>
        </p:txBody>
      </p:sp>
      <p:sp>
        <p:nvSpPr>
          <p:cNvPr id="25" name="Slide Number Placeholder 0"/>
          <p:cNvSpPr>
            <a:spLocks noGrp="1"/>
          </p:cNvSpPr>
          <p:nvPr>
            <p:ph type="sldNum" sz="quarter" idx="4294967295"/>
          </p:nvPr>
        </p:nvSpPr>
        <p:spPr>
          <a:xfrm>
            <a:off x="11292840" y="6382512"/>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A8F"/>
                </a:solidFill>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Warehouse RL Study">
  <a:themeElements>
    <a:clrScheme name="Warehouse RL Study">
      <a:dk1>
        <a:srgbClr val="14213D"/>
      </a:dk1>
      <a:lt1>
        <a:srgbClr val="FFFFFF"/>
      </a:lt1>
      <a:dk2>
        <a:srgbClr val="3D5A80"/>
      </a:dk2>
      <a:lt2>
        <a:srgbClr val="EDF2F7"/>
      </a:lt2>
      <a:accent1>
        <a:srgbClr val="2A78D6"/>
      </a:accent1>
      <a:accent2>
        <a:srgbClr val="EB6834"/>
      </a:accent2>
      <a:accent3>
        <a:srgbClr val="1BAF7A"/>
      </a:accent3>
      <a:accent4>
        <a:srgbClr val="EDA100"/>
      </a:accent4>
      <a:accent5>
        <a:srgbClr val="6250D6"/>
      </a:accent5>
      <a:accent6>
        <a:srgbClr val="6B7A8F"/>
      </a:accent6>
      <a:hlink>
        <a:srgbClr val="2A78D6"/>
      </a:hlink>
      <a:folHlink>
        <a:srgbClr val="6250D6"/>
      </a:folHlink>
    </a:clrScheme>
    <a:fontScheme name="Warehouse RL Stud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Q-learning vs SARSA on warehouse robot navigation</dc:title>
  <dc:subject>PptxGenJS Presentation</dc:subject>
  <dc:creator>Ashwin</dc:creator>
  <cp:lastModifiedBy>Ashwin</cp:lastModifiedBy>
  <cp:revision>1</cp:revision>
  <dcterms:created xsi:type="dcterms:W3CDTF">2026-10-31T13:45:34Z</dcterms:created>
  <dcterms:modified xsi:type="dcterms:W3CDTF">2026-10-31T13:45:34Z</dcterms:modified>
</cp:coreProperties>
</file>