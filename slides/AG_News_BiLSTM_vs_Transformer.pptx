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a1bc9fd-a4d0-a206-95b1-d9791f6c6de2}">
          <p14:sldIdLst>
            <p14:sldId id="256"/>
          </p14:sldIdLst>
        </p14:section>
        <p14:section name="Setup" id="{6f0754a9-d9cf-fe77-58c7-fa7b83234cb8}">
          <p14:sldIdLst>
            <p14:sldId id="257"/>
            <p14:sldId id="258"/>
          </p14:sldIdLst>
        </p14:section>
        <p14:section name="Models" id="{4dc26c06-6d65-98ce-1270-a25d93e33bfd}">
          <p14:sldIdLst>
            <p14:sldId id="259"/>
            <p14:sldId id="260"/>
          </p14:sldIdLst>
        </p14:section>
        <p14:section name="Verification" id="{aa11e44f-e3f7-f253-90a1-499e651c0f27}">
          <p14:sldIdLst>
            <p14:sldId id="261"/>
            <p14:sldId id="262"/>
          </p14:sldIdLst>
        </p14:section>
        <p14:section name="Results" id="{e9d6c221-2d1d-dcc1-2766-3d6e954eb4f4}">
          <p14:sldIdLst>
            <p14:sldId id="263"/>
            <p14:sldId id="264"/>
            <p14:sldId id="265"/>
            <p14:sldId id="266"/>
            <p14:sldId id="267"/>
          </p14:sldIdLst>
        </p14:section>
        <p14:section name="Conclusion" id="{fd1737aa-3f64-8eb6-3bcc-473e3007dfd4}">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BiLSTM</c:v>
                </c:pt>
              </c:strCache>
            </c:strRef>
          </c:tx>
          <c:spPr>
            <a:solidFill>
              <a:srgbClr val="2A78D6"/>
            </a:solidFill>
            <a:effectLst/>
          </c:spPr>
          <c:invertIfNegative val="0"/>
          <c:dLbls>
            <c:numFmt formatCode="#,##0.0&quot;s&quot;"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cat>
            <c:multiLvlStrRef>
              <c:f>Sheet1!$A$2:$A$2</c:f>
              <c:multiLvlStrCache>
                <c:ptCount val="1"/>
                <c:lvl>
                  <c:pt idx="0">
                    <c:v>Training time per epoch</c:v>
                  </c:pt>
                </c:lvl>
              </c:multiLvlStrCache>
            </c:multiLvlStrRef>
          </c:cat>
          <c:val>
            <c:numRef>
              <c:f>Sheet1!$B$2:$B$2</c:f>
              <c:numCache>
                <c:formatCode>General</c:formatCode>
                <c:ptCount val="1"/>
                <c:pt idx="0">
                  <c:v>41.2</c:v>
                </c:pt>
              </c:numCache>
            </c:numRef>
          </c:val>
        </c:ser>
        <c:ser>
          <c:idx val="1"/>
          <c:order val="1"/>
          <c:tx>
            <c:strRef>
              <c:f>Sheet1!$C$1</c:f>
              <c:strCache>
                <c:ptCount val="1"/>
                <c:pt idx="0">
                  <c:v>Transformer</c:v>
                </c:pt>
              </c:strCache>
            </c:strRef>
          </c:tx>
          <c:spPr>
            <a:solidFill>
              <a:srgbClr val="EB6834"/>
            </a:solidFill>
            <a:effectLst/>
          </c:spPr>
          <c:invertIfNegative val="0"/>
          <c:dLbls>
            <c:numFmt formatCode="#,##0.0&quot;s&quot;"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cat>
            <c:multiLvlStrRef>
              <c:f>Sheet1!$A$2:$A$2</c:f>
              <c:multiLvlStrCache>
                <c:ptCount val="1"/>
                <c:lvl>
                  <c:pt idx="0">
                    <c:v>Training time per epoch</c:v>
                  </c:pt>
                </c:lvl>
              </c:multiLvlStrCache>
            </c:multiLvlStrRef>
          </c:cat>
          <c:val>
            <c:numRef>
              <c:f>Sheet1!$C$2:$C$2</c:f>
              <c:numCache>
                <c:formatCode>General</c:formatCode>
                <c:ptCount val="1"/>
                <c:pt idx="0">
                  <c:v>68.6</c:v>
                </c:pt>
              </c:numCache>
            </c:numRef>
          </c:val>
        </c:ser>
        <c:dLbls>
          <c:numFmt formatCode="#,##0.0&quot;s&quot;"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gapWidth val="11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7EE"/>
              </a:solidFill>
              <a:prstDash val="solid"/>
              <a:round/>
            </a:ln>
          </c:spPr>
        </c:majorGridlines>
        <c:title>
          <c:tx>
            <c:rich>
              <a:bodyPr/>
              <a:lstStyle/>
              <a:p>
                <a:pPr>
                  <a:defRPr sz="1000" b="0" i="0" u="none" strike="noStrike">
                    <a:solidFill>
                      <a:srgbClr val="6B7A8F"/>
                    </a:solidFill>
                    <a:latin typeface="+mn-lt"/>
                  </a:defRPr>
                </a:pPr>
                <a:r>
                  <a:rPr sz="1000" b="0" i="0" u="none" strike="noStrike">
                    <a:solidFill>
                      <a:srgbClr val="6B7A8F"/>
                    </a:solidFill>
                    <a:latin typeface="+mn-lt"/>
                  </a:rPr>
                  <a:t>seconds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8F"/>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a:solidFill>
                <a:srgbClr val="14213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question: how do recurrent networks and Transformers compare at classifying short news texts. Both models built from first principles - no nn.LSTM, no nn.MultiheadAttention. The short answer is that they tie, and the interesting part is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 News is a good vehicle for this question for three reasons. Four classes give a rich confusion structure. The documents are short, which is the regime where the comparison is most informative. And it is a standard benchmark so we can situate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controls: data, preprocessing, capacity, budget. The learning rate is the one thing tuned per model, on validation only - forcing a shared rate would measure sensitivity to that rate rather than the architectures.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LSTM cell is written out: four gates, fused into one matmul, split with chunk. Gate order i-f-g-o deliberately matches PyTorch so the verification can copy nn.LSTM weights across. The two masking details are the classic silent-failure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Pre-norm encoder, four hand-written pieces: positional encoding, layer norm, multi-head attention with the head split and merge done by hand, and the residual block. The minus-1e9 mask constant rather than minus infinity is a real numerical detail, not pedantry.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control that makes the comparison meaningful. The embedding table dominates both totals and is identical, so the honest measure is non-embedding parameters - matched to 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licenses everything after it. Padding invariance - checks 6 and 7 - is the decisive one, because the masking bugs it catches produce no error at all, only a quietly worse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being upfront: the recurrent model's effective budget was one epoch. Early stopping caught it and restored the right checkpoint, but both models consume 54,000 records very quickly at this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in the expected band. The BiLSTM is nominally ahead by 0.09 points, which is seven documents. The temptation is to call that a win.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result. McNemar looks only at the documents exactly one model gets right: 187 versus 180, p equals 0.754. Not significant. Reporting a winner from a 0.09 point gap would have been wrong, and the test is what prevents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models with genuinely different inductive biases would differ somewhere in this profile. These do not. Both are limited by the same thing: documents whose gold label is one of several defensible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expected the Transformer to be faster and it was not. Rather than explain that away, the report analyses it: the parallelism argument is asymptotic, and at 64 tokens on CPU neither parallelism nor arithmetic favours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explanation that makes the negative result informative rather than just inconclusive. Median 39 tokens means there is nothing for the long-range mechanism to do. FastText corroborates it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findings. The most useful one is negative, and we only have it because a significance test was applied to a difference that looked like a result. The single-seed limitation is stated first because it is the honest bound on the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57400"/>
            <a:ext cx="8138160" cy="17373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640080" y="3931920"/>
            <a:ext cx="10881360" cy="1005840"/>
          </a:xfrm>
          <a:prstGeom prst="rect">
            <a:avLst/>
          </a:prstGeom>
          <a:noFill/>
          <a:ln/>
        </p:spPr>
        <p:txBody>
          <a:bodyPr wrap="square" rtlCol="0"/>
          <a:lstStyle>
            <a:lvl1pPr indent="0" marL="0">
              <a:buNone/>
              <a:defRPr lang="en-US" sz="1700" dirty="0">
                <a:solidFill>
                  <a:srgbClr val="CBD6E6"/>
                </a:solidFill>
              </a:defRPr>
            </a:lvl1pPr>
          </a:lstStyle>
          <a:p>
            <a:pPr indent="0" marL="0">
              <a:buNone/>
            </a:pPr>
            <a:endParaRPr lang="en-US" sz="1700" dirty="0"/>
          </a:p>
        </p:txBody>
      </p:sp>
      <p:sp>
        <p:nvSpPr>
          <p:cNvPr id="4" name="Text 0"/>
          <p:cNvSpPr/>
          <p:nvPr>
            <p:ph idx="102" type="body" hasCustomPrompt="1"/>
          </p:nvPr>
        </p:nvSpPr>
        <p:spPr>
          <a:xfrm>
            <a:off x="640080" y="5577840"/>
            <a:ext cx="10881360" cy="548640"/>
          </a:xfrm>
          <a:prstGeom prst="rect">
            <a:avLst/>
          </a:prstGeom>
          <a:noFill/>
          <a:ln/>
        </p:spPr>
        <p:txBody>
          <a:bodyPr wrap="square" rtlCol="0"/>
          <a:lstStyle>
            <a:lvl1pPr indent="0" marL="0">
              <a:buNone/>
              <a:defRPr lang="en-US" sz="1200" dirty="0">
                <a:solidFill>
                  <a:srgbClr val="6B7A8F"/>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lstStyle>
            <a:lvl1pPr algn="l" indent="0" marL="0">
              <a:buNone/>
              <a:defRPr lang="en-US" sz="30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640080" y="6382512"/>
            <a:ext cx="5486400" cy="274320"/>
          </a:xfrm>
          <a:prstGeom prst="rect">
            <a:avLst/>
          </a:prstGeom>
          <a:noFill/>
          <a:ln/>
        </p:spPr>
        <p:txBody>
          <a:bodyPr wrap="square" rtlCol="0" anchor="ctr"/>
          <a:lstStyle/>
          <a:p>
            <a:pPr indent="0" marL="0">
              <a:buNone/>
            </a:pPr>
            <a:r>
              <a:rPr lang="en-US" sz="1000" dirty="0">
                <a:solidFill>
                  <a:srgbClr val="6B7A8F"/>
                </a:solidFill>
              </a:rPr>
              <a:t>BiLSTM vs Transformer  ·  AG News</a:t>
            </a:r>
            <a:endParaRPr lang="en-US" sz="100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lstStyle>
            <a:lvl1pPr algn="l" indent="0" marL="0">
              <a:buNone/>
              <a:defRPr lang="en-US" sz="3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640080" y="6382512"/>
            <a:ext cx="5486400" cy="274320"/>
          </a:xfrm>
          <a:prstGeom prst="rect">
            <a:avLst/>
          </a:prstGeom>
          <a:noFill/>
          <a:ln/>
        </p:spPr>
        <p:txBody>
          <a:bodyPr wrap="square" rtlCol="0" anchor="ctr"/>
          <a:lstStyle/>
          <a:p>
            <a:pPr indent="0" marL="0">
              <a:buNone/>
            </a:pPr>
            <a:r>
              <a:rPr lang="en-US" sz="1000" dirty="0">
                <a:solidFill>
                  <a:srgbClr val="6B7A8F"/>
                </a:solidFill>
              </a:rPr>
              <a:t>BiLSTM vs Transformer  ·  AG News</a:t>
            </a:r>
            <a:endParaRPr lang="en-US" sz="100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a"/>
          <p:cNvSpPr/>
          <p:nvPr/>
        </p:nvSpPr>
        <p:spPr>
          <a:xfrm>
            <a:off x="9509760" y="1051560"/>
            <a:ext cx="2103120" cy="2103120"/>
          </a:xfrm>
          <a:prstGeom prst="ellipse">
            <a:avLst/>
          </a:prstGeom>
          <a:solidFill>
            <a:srgbClr val="1E3356"/>
          </a:solidFill>
          <a:ln/>
        </p:spPr>
      </p:sp>
      <p:sp>
        <p:nvSpPr>
          <p:cNvPr id="3" name="deco-b"/>
          <p:cNvSpPr/>
          <p:nvPr/>
        </p:nvSpPr>
        <p:spPr>
          <a:xfrm>
            <a:off x="10332720" y="2377440"/>
            <a:ext cx="1143000" cy="1143000"/>
          </a:xfrm>
          <a:prstGeom prst="ellipse">
            <a:avLst/>
          </a:prstGeom>
          <a:solidFill>
            <a:srgbClr val="2A78D6"/>
          </a:solidFill>
          <a:ln/>
        </p:spPr>
      </p:sp>
      <p:sp>
        <p:nvSpPr>
          <p:cNvPr id="4" name="deco-c"/>
          <p:cNvSpPr/>
          <p:nvPr/>
        </p:nvSpPr>
        <p:spPr>
          <a:xfrm>
            <a:off x="9144000" y="2834640"/>
            <a:ext cx="731520" cy="731520"/>
          </a:xfrm>
          <a:prstGeom prst="ellipse">
            <a:avLst/>
          </a:prstGeom>
          <a:solidFill>
            <a:srgbClr val="EB6834"/>
          </a:solidFill>
          <a:ln/>
        </p:spPr>
      </p:sp>
      <p:sp>
        <p:nvSpPr>
          <p:cNvPr id="5" name="Text 0"/>
          <p:cNvSpPr/>
          <p:nvPr>
            <p:ph idx="100" type="title" hasCustomPrompt="1"/>
          </p:nvPr>
        </p:nvSpPr>
        <p:spPr>
          <a:xfrm>
            <a:off x="640080" y="2057400"/>
            <a:ext cx="8138160" cy="173736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Recurrent networks vs. Transformers,</a:t>
            </a:r>
            <a:endParaRPr lang="en-US" sz="4000" dirty="0"/>
          </a:p>
          <a:p>
            <a:pPr algn="l" indent="0" marL="0">
              <a:buNone/>
            </a:pPr>
            <a:r>
              <a:rPr lang="en-US" sz="4000" b="1" dirty="0">
                <a:solidFill>
                  <a:srgbClr val="FFFFFF"/>
                </a:solidFill>
                <a:latin typeface="Cambria" pitchFamily="34" charset="0"/>
                <a:ea typeface="Cambria" pitchFamily="34" charset="-122"/>
                <a:cs typeface="Cambria" pitchFamily="34" charset="-120"/>
              </a:rPr>
              <a:t>built from scratch</a:t>
            </a:r>
            <a:endParaRPr lang="en-US" sz="4000" dirty="0"/>
          </a:p>
        </p:txBody>
      </p:sp>
      <p:sp>
        <p:nvSpPr>
          <p:cNvPr id="6" name="Text 0"/>
          <p:cNvSpPr/>
          <p:nvPr>
            <p:ph idx="101" type="body" hasCustomPrompt="1"/>
          </p:nvPr>
        </p:nvSpPr>
        <p:spPr>
          <a:xfrm>
            <a:off x="640080" y="3931920"/>
            <a:ext cx="10881360" cy="1005840"/>
          </a:xfrm>
          <a:prstGeom prst="rect">
            <a:avLst/>
          </a:prstGeom>
          <a:noFill/>
          <a:ln/>
        </p:spPr>
        <p:txBody>
          <a:bodyPr wrap="square" rtlCol="0" anchor="t"/>
          <a:lstStyle/>
          <a:p>
            <a:pPr indent="0" marL="0">
              <a:buNone/>
            </a:pPr>
            <a:r>
              <a:rPr lang="en-US" sz="1700" dirty="0">
                <a:solidFill>
                  <a:srgbClr val="CBD6E6"/>
                </a:solidFill>
              </a:rPr>
              <a:t>How do the two architectures compare at classifying short news texts?</a:t>
            </a:r>
            <a:endParaRPr lang="en-US" sz="1700" dirty="0"/>
          </a:p>
          <a:p>
            <a:pPr indent="0" marL="0">
              <a:buNone/>
            </a:pPr>
            <a:r>
              <a:rPr lang="en-US" sz="1700" dirty="0">
                <a:solidFill>
                  <a:srgbClr val="CBD6E6"/>
                </a:solidFill>
              </a:rPr>
              <a:t>A controlled study on AG News  ·  four classes  ·  7,600 held-out test documents</a:t>
            </a:r>
            <a:endParaRPr lang="en-US" sz="1700" dirty="0"/>
          </a:p>
        </p:txBody>
      </p:sp>
      <p:sp>
        <p:nvSpPr>
          <p:cNvPr id="7" name="Text 0"/>
          <p:cNvSpPr/>
          <p:nvPr>
            <p:ph idx="102" type="body" hasCustomPrompt="1"/>
          </p:nvPr>
        </p:nvSpPr>
        <p:spPr>
          <a:xfrm>
            <a:off x="640080" y="5577840"/>
            <a:ext cx="10881360" cy="548640"/>
          </a:xfrm>
          <a:prstGeom prst="rect">
            <a:avLst/>
          </a:prstGeom>
          <a:noFill/>
          <a:ln/>
        </p:spPr>
        <p:txBody>
          <a:bodyPr wrap="square" rtlCol="0" anchor="t"/>
          <a:lstStyle/>
          <a:p>
            <a:pPr indent="0" marL="0">
              <a:buNone/>
            </a:pPr>
            <a:r>
              <a:rPr lang="en-US" sz="1200" dirty="0">
                <a:solidFill>
                  <a:srgbClr val="6B7A8F"/>
                </a:solidFill>
              </a:rPr>
              <a:t>Transformer Modeling and Sequence Learning  ·  Case Study Topic 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The question, and why AG News answers it well</a:t>
            </a:r>
            <a:endParaRPr lang="en-US" sz="3000" dirty="0"/>
          </a:p>
        </p:txBody>
      </p:sp>
      <p:sp>
        <p:nvSpPr>
          <p:cNvPr id="3" name="rq-banner"/>
          <p:cNvSpPr/>
          <p:nvPr/>
        </p:nvSpPr>
        <p:spPr>
          <a:xfrm>
            <a:off x="640080" y="1234440"/>
            <a:ext cx="10881360" cy="914400"/>
          </a:xfrm>
          <a:prstGeom prst="roundRect">
            <a:avLst>
              <a:gd name="adj" fmla="val 8000"/>
            </a:avLst>
          </a:prstGeom>
          <a:solidFill>
            <a:srgbClr val="14213D"/>
          </a:solidFill>
          <a:ln w="12700">
            <a:solidFill>
              <a:srgbClr val="333333"/>
            </a:solidFill>
            <a:prstDash val="solid"/>
          </a:ln>
        </p:spPr>
      </p:sp>
      <p:sp>
        <p:nvSpPr>
          <p:cNvPr id="4" name="Text 2"/>
          <p:cNvSpPr txBox="1"/>
          <p:nvPr/>
        </p:nvSpPr>
        <p:spPr>
          <a:xfrm>
            <a:off x="914400" y="1234440"/>
            <a:ext cx="10332720" cy="914400"/>
          </a:xfrm>
          <a:prstGeom prst="rect">
            <a:avLst/>
          </a:prstGeom>
          <a:noFill/>
          <a:ln/>
        </p:spPr>
        <p:txBody>
          <a:bodyPr wrap="square" lIns="0" tIns="0" rIns="0" bIns="0" rtlCol="0" anchor="ctr"/>
          <a:lstStyle/>
          <a:p>
            <a:pPr indent="0" marL="0">
              <a:buNone/>
            </a:pPr>
            <a:r>
              <a:rPr lang="en-US" sz="1900" b="1" i="1" dirty="0">
                <a:solidFill>
                  <a:srgbClr val="FFFFFF"/>
                </a:solidFill>
                <a:latin typeface="Cambria" pitchFamily="34" charset="0"/>
                <a:ea typeface="Cambria" pitchFamily="34" charset="-122"/>
                <a:cs typeface="Cambria" pitchFamily="34" charset="-120"/>
              </a:rPr>
              <a:t>How do recurrent networks and Transformers compare at classifying short news texts?</a:t>
            </a:r>
            <a:endParaRPr lang="en-US" sz="1900" dirty="0"/>
          </a:p>
        </p:txBody>
      </p:sp>
      <p:sp>
        <p:nvSpPr>
          <p:cNvPr id="5" name="badge-1"/>
          <p:cNvSpPr/>
          <p:nvPr/>
        </p:nvSpPr>
        <p:spPr>
          <a:xfrm>
            <a:off x="640080" y="2468880"/>
            <a:ext cx="384048" cy="384048"/>
          </a:xfrm>
          <a:prstGeom prst="ellipse">
            <a:avLst/>
          </a:prstGeom>
          <a:solidFill>
            <a:srgbClr val="2A78D6"/>
          </a:solidFill>
          <a:ln/>
        </p:spPr>
      </p:sp>
      <p:sp>
        <p:nvSpPr>
          <p:cNvPr id="6" name="Text 4"/>
          <p:cNvSpPr txBox="1"/>
          <p:nvPr/>
        </p:nvSpPr>
        <p:spPr>
          <a:xfrm>
            <a:off x="640080" y="2468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5"/>
          <p:cNvSpPr txBox="1"/>
          <p:nvPr/>
        </p:nvSpPr>
        <p:spPr>
          <a:xfrm>
            <a:off x="1207008" y="2441448"/>
            <a:ext cx="2999232" cy="310896"/>
          </a:xfrm>
          <a:prstGeom prst="rect">
            <a:avLst/>
          </a:prstGeom>
          <a:noFill/>
          <a:ln/>
        </p:spPr>
        <p:txBody>
          <a:bodyPr wrap="square" lIns="0" tIns="0" rIns="0" bIns="0" rtlCol="0" anchor="ctr"/>
          <a:lstStyle/>
          <a:p>
            <a:pPr indent="0" marL="0">
              <a:buNone/>
            </a:pPr>
            <a:r>
              <a:rPr lang="en-US" sz="1500" b="1" dirty="0">
                <a:solidFill>
                  <a:srgbClr val="14213D"/>
                </a:solidFill>
              </a:rPr>
              <a:t>Four classes, not two</a:t>
            </a:r>
            <a:endParaRPr lang="en-US" sz="1500" dirty="0"/>
          </a:p>
        </p:txBody>
      </p:sp>
      <p:sp>
        <p:nvSpPr>
          <p:cNvPr id="8" name="Text 6"/>
          <p:cNvSpPr txBox="1"/>
          <p:nvPr/>
        </p:nvSpPr>
        <p:spPr>
          <a:xfrm>
            <a:off x="1207008" y="2761488"/>
            <a:ext cx="299923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World, Sports, Business, Sci/Tech. Twelve off-diagonal confusion cells show how a model fails, not just how often.</a:t>
            </a:r>
            <a:endParaRPr lang="en-US" sz="1250" dirty="0"/>
          </a:p>
        </p:txBody>
      </p:sp>
      <p:sp>
        <p:nvSpPr>
          <p:cNvPr id="9" name="badge-2"/>
          <p:cNvSpPr/>
          <p:nvPr/>
        </p:nvSpPr>
        <p:spPr>
          <a:xfrm>
            <a:off x="4389120" y="2468880"/>
            <a:ext cx="384048" cy="384048"/>
          </a:xfrm>
          <a:prstGeom prst="ellipse">
            <a:avLst/>
          </a:prstGeom>
          <a:solidFill>
            <a:srgbClr val="EB6834"/>
          </a:solidFill>
          <a:ln/>
        </p:spPr>
      </p:sp>
      <p:sp>
        <p:nvSpPr>
          <p:cNvPr id="10" name="Text 8"/>
          <p:cNvSpPr txBox="1"/>
          <p:nvPr/>
        </p:nvSpPr>
        <p:spPr>
          <a:xfrm>
            <a:off x="4389120" y="2468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txBox="1"/>
          <p:nvPr/>
        </p:nvSpPr>
        <p:spPr>
          <a:xfrm>
            <a:off x="4956048" y="2441448"/>
            <a:ext cx="2999232" cy="310896"/>
          </a:xfrm>
          <a:prstGeom prst="rect">
            <a:avLst/>
          </a:prstGeom>
          <a:noFill/>
          <a:ln/>
        </p:spPr>
        <p:txBody>
          <a:bodyPr wrap="square" lIns="0" tIns="0" rIns="0" bIns="0" rtlCol="0" anchor="ctr"/>
          <a:lstStyle/>
          <a:p>
            <a:pPr indent="0" marL="0">
              <a:buNone/>
            </a:pPr>
            <a:r>
              <a:rPr lang="en-US" sz="1500" b="1" dirty="0">
                <a:solidFill>
                  <a:srgbClr val="14213D"/>
                </a:solidFill>
              </a:rPr>
              <a:t>Genuinely short text</a:t>
            </a:r>
            <a:endParaRPr lang="en-US" sz="1500" dirty="0"/>
          </a:p>
        </p:txBody>
      </p:sp>
      <p:sp>
        <p:nvSpPr>
          <p:cNvPr id="12" name="Text 10"/>
          <p:cNvSpPr txBox="1"/>
          <p:nvPr/>
        </p:nvSpPr>
        <p:spPr>
          <a:xfrm>
            <a:off x="4956048" y="2761488"/>
            <a:ext cx="299923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Median 39 tokens. This is exactly the regime where attention's long-range advantage is weakest.</a:t>
            </a:r>
            <a:endParaRPr lang="en-US" sz="1250" dirty="0"/>
          </a:p>
        </p:txBody>
      </p:sp>
      <p:sp>
        <p:nvSpPr>
          <p:cNvPr id="13" name="badge-3"/>
          <p:cNvSpPr/>
          <p:nvPr/>
        </p:nvSpPr>
        <p:spPr>
          <a:xfrm>
            <a:off x="8138160" y="2468880"/>
            <a:ext cx="384048" cy="384048"/>
          </a:xfrm>
          <a:prstGeom prst="ellipse">
            <a:avLst/>
          </a:prstGeom>
          <a:solidFill>
            <a:srgbClr val="1BAF7A"/>
          </a:solidFill>
          <a:ln/>
        </p:spPr>
      </p:sp>
      <p:sp>
        <p:nvSpPr>
          <p:cNvPr id="14" name="Text 12"/>
          <p:cNvSpPr txBox="1"/>
          <p:nvPr/>
        </p:nvSpPr>
        <p:spPr>
          <a:xfrm>
            <a:off x="8138160" y="2468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txBox="1"/>
          <p:nvPr/>
        </p:nvSpPr>
        <p:spPr>
          <a:xfrm>
            <a:off x="8705088" y="2441448"/>
            <a:ext cx="2999232" cy="310896"/>
          </a:xfrm>
          <a:prstGeom prst="rect">
            <a:avLst/>
          </a:prstGeom>
          <a:noFill/>
          <a:ln/>
        </p:spPr>
        <p:txBody>
          <a:bodyPr wrap="square" lIns="0" tIns="0" rIns="0" bIns="0" rtlCol="0" anchor="ctr"/>
          <a:lstStyle/>
          <a:p>
            <a:pPr indent="0" marL="0">
              <a:buNone/>
            </a:pPr>
            <a:r>
              <a:rPr lang="en-US" sz="1500" b="1" dirty="0">
                <a:solidFill>
                  <a:srgbClr val="14213D"/>
                </a:solidFill>
              </a:rPr>
              <a:t>A standard benchmark</a:t>
            </a:r>
            <a:endParaRPr lang="en-US" sz="1500" dirty="0"/>
          </a:p>
        </p:txBody>
      </p:sp>
      <p:sp>
        <p:nvSpPr>
          <p:cNvPr id="16" name="Text 14"/>
          <p:cNvSpPr txBox="1"/>
          <p:nvPr/>
        </p:nvSpPr>
        <p:spPr>
          <a:xfrm>
            <a:off x="8705088" y="2761488"/>
            <a:ext cx="299923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Published results span roughly 88-95%, so the result can be situated against prior work.</a:t>
            </a:r>
            <a:endParaRPr lang="en-US" sz="1250" dirty="0"/>
          </a:p>
        </p:txBody>
      </p:sp>
      <p:sp>
        <p:nvSpPr>
          <p:cNvPr id="17" name="stat-Training articles"/>
          <p:cNvSpPr/>
          <p:nvPr/>
        </p:nvSpPr>
        <p:spPr>
          <a:xfrm>
            <a:off x="640080" y="4160520"/>
            <a:ext cx="2514600" cy="1783080"/>
          </a:xfrm>
          <a:prstGeom prst="roundRect">
            <a:avLst>
              <a:gd name="adj" fmla="val 5128"/>
            </a:avLst>
          </a:prstGeom>
          <a:solidFill>
            <a:srgbClr val="EDF2F7"/>
          </a:solidFill>
          <a:ln w="12700">
            <a:solidFill>
              <a:srgbClr val="333333"/>
            </a:solidFill>
            <a:prstDash val="solid"/>
          </a:ln>
        </p:spPr>
      </p:sp>
      <p:sp>
        <p:nvSpPr>
          <p:cNvPr id="18" name="Text 16"/>
          <p:cNvSpPr txBox="1"/>
          <p:nvPr/>
        </p:nvSpPr>
        <p:spPr>
          <a:xfrm>
            <a:off x="777240" y="4251960"/>
            <a:ext cx="2240280" cy="927202"/>
          </a:xfrm>
          <a:prstGeom prst="rect">
            <a:avLst/>
          </a:prstGeom>
          <a:noFill/>
          <a:ln/>
        </p:spPr>
        <p:txBody>
          <a:bodyPr wrap="square" lIns="0" tIns="0" rIns="0" bIns="0" rtlCol="0" anchor="ctr"/>
          <a:lstStyle/>
          <a:p>
            <a:pPr algn="ctr" indent="0" marL="0">
              <a:buNone/>
            </a:pPr>
            <a:r>
              <a:rPr lang="en-US" sz="4000" b="1" dirty="0">
                <a:solidFill>
                  <a:srgbClr val="2A78D6"/>
                </a:solidFill>
                <a:latin typeface="Cambria" pitchFamily="34" charset="0"/>
                <a:ea typeface="Cambria" pitchFamily="34" charset="-122"/>
                <a:cs typeface="Cambria" pitchFamily="34" charset="-120"/>
              </a:rPr>
              <a:t>120k</a:t>
            </a:r>
            <a:endParaRPr lang="en-US" sz="4000" dirty="0"/>
          </a:p>
        </p:txBody>
      </p:sp>
      <p:sp>
        <p:nvSpPr>
          <p:cNvPr id="19" name="Text 17"/>
          <p:cNvSpPr txBox="1"/>
          <p:nvPr/>
        </p:nvSpPr>
        <p:spPr>
          <a:xfrm>
            <a:off x="777240" y="5179162"/>
            <a:ext cx="2240280" cy="274320"/>
          </a:xfrm>
          <a:prstGeom prst="rect">
            <a:avLst/>
          </a:prstGeom>
          <a:noFill/>
          <a:ln/>
        </p:spPr>
        <p:txBody>
          <a:bodyPr wrap="square" lIns="0" tIns="0" rIns="0" bIns="0" rtlCol="0" anchor="ctr"/>
          <a:lstStyle/>
          <a:p>
            <a:pPr algn="ctr" indent="0" marL="0">
              <a:buNone/>
            </a:pPr>
            <a:r>
              <a:rPr lang="en-US" sz="1300" b="1" dirty="0">
                <a:solidFill>
                  <a:srgbClr val="14213D"/>
                </a:solidFill>
              </a:rPr>
              <a:t>Training articles</a:t>
            </a:r>
            <a:endParaRPr lang="en-US" sz="1300" dirty="0"/>
          </a:p>
        </p:txBody>
      </p:sp>
      <p:sp>
        <p:nvSpPr>
          <p:cNvPr id="20" name="Text 18"/>
          <p:cNvSpPr txBox="1"/>
          <p:nvPr/>
        </p:nvSpPr>
        <p:spPr>
          <a:xfrm>
            <a:off x="749808" y="5490058"/>
            <a:ext cx="2295144" cy="380390"/>
          </a:xfrm>
          <a:prstGeom prst="rect">
            <a:avLst/>
          </a:prstGeom>
          <a:noFill/>
          <a:ln/>
        </p:spPr>
        <p:txBody>
          <a:bodyPr wrap="square" lIns="0" tIns="0" rIns="0" bIns="0" rtlCol="0" anchor="t"/>
          <a:lstStyle/>
          <a:p>
            <a:pPr algn="ctr" indent="0" marL="0">
              <a:lnSpc>
                <a:spcPct val="100000"/>
              </a:lnSpc>
              <a:buNone/>
            </a:pPr>
            <a:r>
              <a:rPr lang="en-US" sz="1050" dirty="0">
                <a:solidFill>
                  <a:srgbClr val="6B7A8F"/>
                </a:solidFill>
              </a:rPr>
              <a:t>60,000 sampled for the controlled run</a:t>
            </a:r>
            <a:endParaRPr lang="en-US" sz="1050" dirty="0"/>
          </a:p>
        </p:txBody>
      </p:sp>
      <p:sp>
        <p:nvSpPr>
          <p:cNvPr id="21" name="stat-Test articles"/>
          <p:cNvSpPr/>
          <p:nvPr/>
        </p:nvSpPr>
        <p:spPr>
          <a:xfrm>
            <a:off x="3337560" y="4160520"/>
            <a:ext cx="2514600" cy="1783080"/>
          </a:xfrm>
          <a:prstGeom prst="roundRect">
            <a:avLst>
              <a:gd name="adj" fmla="val 5128"/>
            </a:avLst>
          </a:prstGeom>
          <a:solidFill>
            <a:srgbClr val="EDF2F7"/>
          </a:solidFill>
          <a:ln w="12700">
            <a:solidFill>
              <a:srgbClr val="333333"/>
            </a:solidFill>
            <a:prstDash val="solid"/>
          </a:ln>
        </p:spPr>
      </p:sp>
      <p:sp>
        <p:nvSpPr>
          <p:cNvPr id="22" name="Text 20"/>
          <p:cNvSpPr txBox="1"/>
          <p:nvPr/>
        </p:nvSpPr>
        <p:spPr>
          <a:xfrm>
            <a:off x="3474720" y="4251960"/>
            <a:ext cx="2240280" cy="927202"/>
          </a:xfrm>
          <a:prstGeom prst="rect">
            <a:avLst/>
          </a:prstGeom>
          <a:noFill/>
          <a:ln/>
        </p:spPr>
        <p:txBody>
          <a:bodyPr wrap="square" lIns="0" tIns="0" rIns="0" bIns="0" rtlCol="0" anchor="ctr"/>
          <a:lstStyle/>
          <a:p>
            <a:pPr algn="ctr" indent="0" marL="0">
              <a:buNone/>
            </a:pPr>
            <a:r>
              <a:rPr lang="en-US" sz="4000" b="1" dirty="0">
                <a:solidFill>
                  <a:srgbClr val="14213D"/>
                </a:solidFill>
                <a:latin typeface="Cambria" pitchFamily="34" charset="0"/>
                <a:ea typeface="Cambria" pitchFamily="34" charset="-122"/>
                <a:cs typeface="Cambria" pitchFamily="34" charset="-120"/>
              </a:rPr>
              <a:t>7,600</a:t>
            </a:r>
            <a:endParaRPr lang="en-US" sz="4000" dirty="0"/>
          </a:p>
        </p:txBody>
      </p:sp>
      <p:sp>
        <p:nvSpPr>
          <p:cNvPr id="23" name="Text 21"/>
          <p:cNvSpPr txBox="1"/>
          <p:nvPr/>
        </p:nvSpPr>
        <p:spPr>
          <a:xfrm>
            <a:off x="3474720" y="5179162"/>
            <a:ext cx="2240280" cy="274320"/>
          </a:xfrm>
          <a:prstGeom prst="rect">
            <a:avLst/>
          </a:prstGeom>
          <a:noFill/>
          <a:ln/>
        </p:spPr>
        <p:txBody>
          <a:bodyPr wrap="square" lIns="0" tIns="0" rIns="0" bIns="0" rtlCol="0" anchor="ctr"/>
          <a:lstStyle/>
          <a:p>
            <a:pPr algn="ctr" indent="0" marL="0">
              <a:buNone/>
            </a:pPr>
            <a:r>
              <a:rPr lang="en-US" sz="1300" b="1" dirty="0">
                <a:solidFill>
                  <a:srgbClr val="14213D"/>
                </a:solidFill>
              </a:rPr>
              <a:t>Test articles</a:t>
            </a:r>
            <a:endParaRPr lang="en-US" sz="1300" dirty="0"/>
          </a:p>
        </p:txBody>
      </p:sp>
      <p:sp>
        <p:nvSpPr>
          <p:cNvPr id="24" name="Text 22"/>
          <p:cNvSpPr txBox="1"/>
          <p:nvPr/>
        </p:nvSpPr>
        <p:spPr>
          <a:xfrm>
            <a:off x="3447288" y="5490058"/>
            <a:ext cx="2295144" cy="380390"/>
          </a:xfrm>
          <a:prstGeom prst="rect">
            <a:avLst/>
          </a:prstGeom>
          <a:noFill/>
          <a:ln/>
        </p:spPr>
        <p:txBody>
          <a:bodyPr wrap="square" lIns="0" tIns="0" rIns="0" bIns="0" rtlCol="0" anchor="t"/>
          <a:lstStyle/>
          <a:p>
            <a:pPr algn="ctr" indent="0" marL="0">
              <a:lnSpc>
                <a:spcPct val="100000"/>
              </a:lnSpc>
              <a:buNone/>
            </a:pPr>
            <a:r>
              <a:rPr lang="en-US" sz="1050" dirty="0">
                <a:solidFill>
                  <a:srgbClr val="6B7A8F"/>
                </a:solidFill>
              </a:rPr>
              <a:t>Official split, used once</a:t>
            </a:r>
            <a:endParaRPr lang="en-US" sz="1050" dirty="0"/>
          </a:p>
        </p:txBody>
      </p:sp>
      <p:sp>
        <p:nvSpPr>
          <p:cNvPr id="25" name="stat-Classes"/>
          <p:cNvSpPr/>
          <p:nvPr/>
        </p:nvSpPr>
        <p:spPr>
          <a:xfrm>
            <a:off x="6035040" y="4160520"/>
            <a:ext cx="2514600" cy="1783080"/>
          </a:xfrm>
          <a:prstGeom prst="roundRect">
            <a:avLst>
              <a:gd name="adj" fmla="val 5128"/>
            </a:avLst>
          </a:prstGeom>
          <a:solidFill>
            <a:srgbClr val="EDF2F7"/>
          </a:solidFill>
          <a:ln w="12700">
            <a:solidFill>
              <a:srgbClr val="333333"/>
            </a:solidFill>
            <a:prstDash val="solid"/>
          </a:ln>
        </p:spPr>
      </p:sp>
      <p:sp>
        <p:nvSpPr>
          <p:cNvPr id="26" name="Text 24"/>
          <p:cNvSpPr txBox="1"/>
          <p:nvPr/>
        </p:nvSpPr>
        <p:spPr>
          <a:xfrm>
            <a:off x="6172200" y="4251960"/>
            <a:ext cx="2240280" cy="927202"/>
          </a:xfrm>
          <a:prstGeom prst="rect">
            <a:avLst/>
          </a:prstGeom>
          <a:noFill/>
          <a:ln/>
        </p:spPr>
        <p:txBody>
          <a:bodyPr wrap="square" lIns="0" tIns="0" rIns="0" bIns="0" rtlCol="0" anchor="ctr"/>
          <a:lstStyle/>
          <a:p>
            <a:pPr algn="ctr" indent="0" marL="0">
              <a:buNone/>
            </a:pPr>
            <a:r>
              <a:rPr lang="en-US" sz="4000" b="1" dirty="0">
                <a:solidFill>
                  <a:srgbClr val="1BAF7A"/>
                </a:solidFill>
                <a:latin typeface="Cambria" pitchFamily="34" charset="0"/>
                <a:ea typeface="Cambria" pitchFamily="34" charset="-122"/>
                <a:cs typeface="Cambria" pitchFamily="34" charset="-120"/>
              </a:rPr>
              <a:t>4</a:t>
            </a:r>
            <a:endParaRPr lang="en-US" sz="4000" dirty="0"/>
          </a:p>
        </p:txBody>
      </p:sp>
      <p:sp>
        <p:nvSpPr>
          <p:cNvPr id="27" name="Text 25"/>
          <p:cNvSpPr txBox="1"/>
          <p:nvPr/>
        </p:nvSpPr>
        <p:spPr>
          <a:xfrm>
            <a:off x="6172200" y="5179162"/>
            <a:ext cx="2240280" cy="274320"/>
          </a:xfrm>
          <a:prstGeom prst="rect">
            <a:avLst/>
          </a:prstGeom>
          <a:noFill/>
          <a:ln/>
        </p:spPr>
        <p:txBody>
          <a:bodyPr wrap="square" lIns="0" tIns="0" rIns="0" bIns="0" rtlCol="0" anchor="ctr"/>
          <a:lstStyle/>
          <a:p>
            <a:pPr algn="ctr" indent="0" marL="0">
              <a:buNone/>
            </a:pPr>
            <a:r>
              <a:rPr lang="en-US" sz="1300" b="1" dirty="0">
                <a:solidFill>
                  <a:srgbClr val="14213D"/>
                </a:solidFill>
              </a:rPr>
              <a:t>Classes</a:t>
            </a:r>
            <a:endParaRPr lang="en-US" sz="1300" dirty="0"/>
          </a:p>
        </p:txBody>
      </p:sp>
      <p:sp>
        <p:nvSpPr>
          <p:cNvPr id="28" name="Text 26"/>
          <p:cNvSpPr txBox="1"/>
          <p:nvPr/>
        </p:nvSpPr>
        <p:spPr>
          <a:xfrm>
            <a:off x="6144768" y="5490058"/>
            <a:ext cx="2295144" cy="380390"/>
          </a:xfrm>
          <a:prstGeom prst="rect">
            <a:avLst/>
          </a:prstGeom>
          <a:noFill/>
          <a:ln/>
        </p:spPr>
        <p:txBody>
          <a:bodyPr wrap="square" lIns="0" tIns="0" rIns="0" bIns="0" rtlCol="0" anchor="t"/>
          <a:lstStyle/>
          <a:p>
            <a:pPr algn="ctr" indent="0" marL="0">
              <a:lnSpc>
                <a:spcPct val="100000"/>
              </a:lnSpc>
              <a:buNone/>
            </a:pPr>
            <a:r>
              <a:rPr lang="en-US" sz="1050" dirty="0">
                <a:solidFill>
                  <a:srgbClr val="6B7A8F"/>
                </a:solidFill>
              </a:rPr>
              <a:t>Exactly balanced, 1,900 each</a:t>
            </a:r>
            <a:endParaRPr lang="en-US" sz="1050" dirty="0"/>
          </a:p>
        </p:txBody>
      </p:sp>
      <p:sp>
        <p:nvSpPr>
          <p:cNvPr id="29" name="stat-Median tokens"/>
          <p:cNvSpPr/>
          <p:nvPr/>
        </p:nvSpPr>
        <p:spPr>
          <a:xfrm>
            <a:off x="8732520" y="4160520"/>
            <a:ext cx="2514600" cy="1783080"/>
          </a:xfrm>
          <a:prstGeom prst="roundRect">
            <a:avLst>
              <a:gd name="adj" fmla="val 5128"/>
            </a:avLst>
          </a:prstGeom>
          <a:solidFill>
            <a:srgbClr val="EDF2F7"/>
          </a:solidFill>
          <a:ln w="12700">
            <a:solidFill>
              <a:srgbClr val="333333"/>
            </a:solidFill>
            <a:prstDash val="solid"/>
          </a:ln>
        </p:spPr>
      </p:sp>
      <p:sp>
        <p:nvSpPr>
          <p:cNvPr id="30" name="Text 28"/>
          <p:cNvSpPr txBox="1"/>
          <p:nvPr/>
        </p:nvSpPr>
        <p:spPr>
          <a:xfrm>
            <a:off x="8869680" y="4251960"/>
            <a:ext cx="2240280" cy="927202"/>
          </a:xfrm>
          <a:prstGeom prst="rect">
            <a:avLst/>
          </a:prstGeom>
          <a:noFill/>
          <a:ln/>
        </p:spPr>
        <p:txBody>
          <a:bodyPr wrap="square" lIns="0" tIns="0" rIns="0" bIns="0" rtlCol="0" anchor="ctr"/>
          <a:lstStyle/>
          <a:p>
            <a:pPr algn="ctr" indent="0" marL="0">
              <a:buNone/>
            </a:pPr>
            <a:r>
              <a:rPr lang="en-US" sz="4000" b="1" dirty="0">
                <a:solidFill>
                  <a:srgbClr val="EB6834"/>
                </a:solidFill>
                <a:latin typeface="Cambria" pitchFamily="34" charset="0"/>
                <a:ea typeface="Cambria" pitchFamily="34" charset="-122"/>
                <a:cs typeface="Cambria" pitchFamily="34" charset="-120"/>
              </a:rPr>
              <a:t>39</a:t>
            </a:r>
            <a:endParaRPr lang="en-US" sz="4000" dirty="0"/>
          </a:p>
        </p:txBody>
      </p:sp>
      <p:sp>
        <p:nvSpPr>
          <p:cNvPr id="31" name="Text 29"/>
          <p:cNvSpPr txBox="1"/>
          <p:nvPr/>
        </p:nvSpPr>
        <p:spPr>
          <a:xfrm>
            <a:off x="8869680" y="5179162"/>
            <a:ext cx="2240280" cy="274320"/>
          </a:xfrm>
          <a:prstGeom prst="rect">
            <a:avLst/>
          </a:prstGeom>
          <a:noFill/>
          <a:ln/>
        </p:spPr>
        <p:txBody>
          <a:bodyPr wrap="square" lIns="0" tIns="0" rIns="0" bIns="0" rtlCol="0" anchor="ctr"/>
          <a:lstStyle/>
          <a:p>
            <a:pPr algn="ctr" indent="0" marL="0">
              <a:buNone/>
            </a:pPr>
            <a:r>
              <a:rPr lang="en-US" sz="1300" b="1" dirty="0">
                <a:solidFill>
                  <a:srgbClr val="14213D"/>
                </a:solidFill>
              </a:rPr>
              <a:t>Median tokens</a:t>
            </a:r>
            <a:endParaRPr lang="en-US" sz="1300" dirty="0"/>
          </a:p>
        </p:txBody>
      </p:sp>
      <p:sp>
        <p:nvSpPr>
          <p:cNvPr id="32" name="Text 30"/>
          <p:cNvSpPr txBox="1"/>
          <p:nvPr/>
        </p:nvSpPr>
        <p:spPr>
          <a:xfrm>
            <a:off x="8842248" y="5490058"/>
            <a:ext cx="2295144" cy="380390"/>
          </a:xfrm>
          <a:prstGeom prst="rect">
            <a:avLst/>
          </a:prstGeom>
          <a:noFill/>
          <a:ln/>
        </p:spPr>
        <p:txBody>
          <a:bodyPr wrap="square" lIns="0" tIns="0" rIns="0" bIns="0" rtlCol="0" anchor="t"/>
          <a:lstStyle/>
          <a:p>
            <a:pPr algn="ctr" indent="0" marL="0">
              <a:lnSpc>
                <a:spcPct val="100000"/>
              </a:lnSpc>
              <a:buNone/>
            </a:pPr>
            <a:r>
              <a:rPr lang="en-US" sz="1050" dirty="0">
                <a:solidFill>
                  <a:srgbClr val="6B7A8F"/>
                </a:solidFill>
              </a:rPr>
              <a:t>The number that explains the result</a:t>
            </a:r>
            <a:endParaRPr lang="en-US" sz="105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A controlled experiment: architecture is the only variable</a:t>
            </a:r>
            <a:endParaRPr lang="en-US" sz="3000" dirty="0"/>
          </a:p>
        </p:txBody>
      </p:sp>
      <p:sp>
        <p:nvSpPr>
          <p:cNvPr id="3" name="card-1. Same data"/>
          <p:cNvSpPr/>
          <p:nvPr/>
        </p:nvSpPr>
        <p:spPr>
          <a:xfrm>
            <a:off x="640080" y="1234440"/>
            <a:ext cx="2606040" cy="1920240"/>
          </a:xfrm>
          <a:prstGeom prst="roundRect">
            <a:avLst>
              <a:gd name="adj" fmla="val 3810"/>
            </a:avLst>
          </a:prstGeom>
          <a:solidFill>
            <a:srgbClr val="EDF2F7"/>
          </a:solidFill>
          <a:ln w="12700">
            <a:solidFill>
              <a:srgbClr val="333333"/>
            </a:solidFill>
            <a:prstDash val="solid"/>
          </a:ln>
        </p:spPr>
      </p:sp>
      <p:sp>
        <p:nvSpPr>
          <p:cNvPr id="4" name="Text 2"/>
          <p:cNvSpPr txBox="1"/>
          <p:nvPr/>
        </p:nvSpPr>
        <p:spPr>
          <a:xfrm>
            <a:off x="841248" y="1399032"/>
            <a:ext cx="2203704" cy="292608"/>
          </a:xfrm>
          <a:prstGeom prst="rect">
            <a:avLst/>
          </a:prstGeom>
          <a:noFill/>
          <a:ln/>
        </p:spPr>
        <p:txBody>
          <a:bodyPr wrap="square" lIns="0" tIns="0" rIns="0" bIns="0" rtlCol="0" anchor="ctr"/>
          <a:lstStyle/>
          <a:p>
            <a:pPr indent="0" marL="0">
              <a:buNone/>
            </a:pPr>
            <a:r>
              <a:rPr lang="en-US" sz="1400" b="1" dirty="0">
                <a:solidFill>
                  <a:srgbClr val="2A78D6"/>
                </a:solidFill>
              </a:rPr>
              <a:t>1. Same data</a:t>
            </a:r>
            <a:endParaRPr lang="en-US" sz="1400" dirty="0"/>
          </a:p>
        </p:txBody>
      </p:sp>
      <p:sp>
        <p:nvSpPr>
          <p:cNvPr id="5" name="Text 3"/>
          <p:cNvSpPr txBox="1"/>
          <p:nvPr/>
        </p:nvSpPr>
        <p:spPr>
          <a:xfrm>
            <a:off x="841248" y="1728216"/>
            <a:ext cx="2203704" cy="126187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One stratified 60k subset, one split, one seed. Both models see identical records in identical order.</a:t>
            </a:r>
            <a:endParaRPr lang="en-US" sz="1200" dirty="0"/>
          </a:p>
        </p:txBody>
      </p:sp>
      <p:sp>
        <p:nvSpPr>
          <p:cNvPr id="6" name="card-2. Same preprocessing"/>
          <p:cNvSpPr/>
          <p:nvPr/>
        </p:nvSpPr>
        <p:spPr>
          <a:xfrm>
            <a:off x="3429000" y="1234440"/>
            <a:ext cx="2606040" cy="1920240"/>
          </a:xfrm>
          <a:prstGeom prst="roundRect">
            <a:avLst>
              <a:gd name="adj" fmla="val 3810"/>
            </a:avLst>
          </a:prstGeom>
          <a:solidFill>
            <a:srgbClr val="EDF2F7"/>
          </a:solidFill>
          <a:ln w="12700">
            <a:solidFill>
              <a:srgbClr val="333333"/>
            </a:solidFill>
            <a:prstDash val="solid"/>
          </a:ln>
        </p:spPr>
      </p:sp>
      <p:sp>
        <p:nvSpPr>
          <p:cNvPr id="7" name="Text 5"/>
          <p:cNvSpPr txBox="1"/>
          <p:nvPr/>
        </p:nvSpPr>
        <p:spPr>
          <a:xfrm>
            <a:off x="3630168" y="1399032"/>
            <a:ext cx="2203704" cy="292608"/>
          </a:xfrm>
          <a:prstGeom prst="rect">
            <a:avLst/>
          </a:prstGeom>
          <a:noFill/>
          <a:ln/>
        </p:spPr>
        <p:txBody>
          <a:bodyPr wrap="square" lIns="0" tIns="0" rIns="0" bIns="0" rtlCol="0" anchor="ctr"/>
          <a:lstStyle/>
          <a:p>
            <a:pPr indent="0" marL="0">
              <a:buNone/>
            </a:pPr>
            <a:r>
              <a:rPr lang="en-US" sz="1400" b="1" dirty="0">
                <a:solidFill>
                  <a:srgbClr val="EB6834"/>
                </a:solidFill>
              </a:rPr>
              <a:t>2. Same preprocessing</a:t>
            </a:r>
            <a:endParaRPr lang="en-US" sz="1400" dirty="0"/>
          </a:p>
        </p:txBody>
      </p:sp>
      <p:sp>
        <p:nvSpPr>
          <p:cNvPr id="8" name="Text 6"/>
          <p:cNvSpPr txBox="1"/>
          <p:nvPr/>
        </p:nvSpPr>
        <p:spPr>
          <a:xfrm>
            <a:off x="3630168" y="1728216"/>
            <a:ext cx="2203704" cy="126187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One tokeniser, one vocabulary built on train only, one max length. The same tensors, not merely equivalent ones.</a:t>
            </a:r>
            <a:endParaRPr lang="en-US" sz="1200" dirty="0"/>
          </a:p>
        </p:txBody>
      </p:sp>
      <p:sp>
        <p:nvSpPr>
          <p:cNvPr id="9" name="card-3. Same capacity"/>
          <p:cNvSpPr/>
          <p:nvPr/>
        </p:nvSpPr>
        <p:spPr>
          <a:xfrm>
            <a:off x="6217920" y="1234440"/>
            <a:ext cx="2606040" cy="1920240"/>
          </a:xfrm>
          <a:prstGeom prst="roundRect">
            <a:avLst>
              <a:gd name="adj" fmla="val 3810"/>
            </a:avLst>
          </a:prstGeom>
          <a:solidFill>
            <a:srgbClr val="EDF2F7"/>
          </a:solidFill>
          <a:ln w="12700">
            <a:solidFill>
              <a:srgbClr val="333333"/>
            </a:solidFill>
            <a:prstDash val="solid"/>
          </a:ln>
        </p:spPr>
      </p:sp>
      <p:sp>
        <p:nvSpPr>
          <p:cNvPr id="10" name="Text 8"/>
          <p:cNvSpPr txBox="1"/>
          <p:nvPr/>
        </p:nvSpPr>
        <p:spPr>
          <a:xfrm>
            <a:off x="6419088" y="1399032"/>
            <a:ext cx="2203704" cy="292608"/>
          </a:xfrm>
          <a:prstGeom prst="rect">
            <a:avLst/>
          </a:prstGeom>
          <a:noFill/>
          <a:ln/>
        </p:spPr>
        <p:txBody>
          <a:bodyPr wrap="square" lIns="0" tIns="0" rIns="0" bIns="0" rtlCol="0" anchor="ctr"/>
          <a:lstStyle/>
          <a:p>
            <a:pPr indent="0" marL="0">
              <a:buNone/>
            </a:pPr>
            <a:r>
              <a:rPr lang="en-US" sz="1400" b="1" dirty="0">
                <a:solidFill>
                  <a:srgbClr val="1BAF7A"/>
                </a:solidFill>
              </a:rPr>
              <a:t>3. Same capacity</a:t>
            </a:r>
            <a:endParaRPr lang="en-US" sz="1400" dirty="0"/>
          </a:p>
        </p:txBody>
      </p:sp>
      <p:sp>
        <p:nvSpPr>
          <p:cNvPr id="11" name="Text 9"/>
          <p:cNvSpPr txBox="1"/>
          <p:nvPr/>
        </p:nvSpPr>
        <p:spPr>
          <a:xfrm>
            <a:off x="6419088" y="1728216"/>
            <a:ext cx="2203704" cy="126187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265,220 vs 265,732 non-embedding parameters - a difference of 0.19%.</a:t>
            </a:r>
            <a:endParaRPr lang="en-US" sz="1200" dirty="0"/>
          </a:p>
        </p:txBody>
      </p:sp>
      <p:sp>
        <p:nvSpPr>
          <p:cNvPr id="12" name="card-4. Same budget"/>
          <p:cNvSpPr/>
          <p:nvPr/>
        </p:nvSpPr>
        <p:spPr>
          <a:xfrm>
            <a:off x="9006840" y="1234440"/>
            <a:ext cx="2606040" cy="1920240"/>
          </a:xfrm>
          <a:prstGeom prst="roundRect">
            <a:avLst>
              <a:gd name="adj" fmla="val 3810"/>
            </a:avLst>
          </a:prstGeom>
          <a:solidFill>
            <a:srgbClr val="EDF2F7"/>
          </a:solidFill>
          <a:ln w="12700">
            <a:solidFill>
              <a:srgbClr val="333333"/>
            </a:solidFill>
            <a:prstDash val="solid"/>
          </a:ln>
        </p:spPr>
      </p:sp>
      <p:sp>
        <p:nvSpPr>
          <p:cNvPr id="13" name="Text 11"/>
          <p:cNvSpPr txBox="1"/>
          <p:nvPr/>
        </p:nvSpPr>
        <p:spPr>
          <a:xfrm>
            <a:off x="9208008" y="1399032"/>
            <a:ext cx="2203704" cy="292608"/>
          </a:xfrm>
          <a:prstGeom prst="rect">
            <a:avLst/>
          </a:prstGeom>
          <a:noFill/>
          <a:ln/>
        </p:spPr>
        <p:txBody>
          <a:bodyPr wrap="square" lIns="0" tIns="0" rIns="0" bIns="0" rtlCol="0" anchor="ctr"/>
          <a:lstStyle/>
          <a:p>
            <a:pPr indent="0" marL="0">
              <a:buNone/>
            </a:pPr>
            <a:r>
              <a:rPr lang="en-US" sz="1400" b="1" dirty="0">
                <a:solidFill>
                  <a:srgbClr val="6250D6"/>
                </a:solidFill>
              </a:rPr>
              <a:t>4. Same budget</a:t>
            </a:r>
            <a:endParaRPr lang="en-US" sz="1400" dirty="0"/>
          </a:p>
        </p:txBody>
      </p:sp>
      <p:sp>
        <p:nvSpPr>
          <p:cNvPr id="14" name="Text 12"/>
          <p:cNvSpPr txBox="1"/>
          <p:nvPr/>
        </p:nvSpPr>
        <p:spPr>
          <a:xfrm>
            <a:off x="9208008" y="1728216"/>
            <a:ext cx="2203704" cy="126187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Identical batch size, epoch cap, optimiser, weight decay, clipping, early stopping and seed.</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3429000"/>
          <a:ext cx="10881360" cy="914400"/>
        </p:xfrm>
        <a:graphic>
          <a:graphicData uri="http://schemas.openxmlformats.org/drawingml/2006/table">
            <a:tbl>
              <a:tblPr/>
              <a:tblGrid>
                <a:gridCol w="2011680"/>
                <a:gridCol w="1463040"/>
                <a:gridCol w="1463040"/>
                <a:gridCol w="5943600"/>
              </a:tblGrid>
              <a:tr h="347472">
                <a:tc>
                  <a:txBody>
                    <a:bodyPr/>
                    <a:lstStyle/>
                    <a:p>
                      <a:pPr indent="0" marL="0">
                        <a:buNone/>
                      </a:pPr>
                      <a:r>
                        <a:rPr lang="en-US" sz="1300" b="1" dirty="0">
                          <a:solidFill>
                            <a:srgbClr val="FFFFFF"/>
                          </a:solidFill>
                        </a:rPr>
                        <a:t>Split</a:t>
                      </a:r>
                      <a:endParaRPr lang="en-US" sz="13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rPr>
                        <a:t>Records</a:t>
                      </a:r>
                      <a:endParaRPr lang="en-US" sz="13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rPr>
                        <a:t>Per class</a:t>
                      </a:r>
                      <a:endParaRPr lang="en-US" sz="13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rPr>
                        <a:t>Purpose</a:t>
                      </a:r>
                      <a:endParaRPr lang="en-US" sz="13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r>
              <a:tr h="347472">
                <a:tc>
                  <a:txBody>
                    <a:bodyPr/>
                    <a:lstStyle/>
                    <a:p>
                      <a:pPr indent="0" marL="0">
                        <a:buNone/>
                      </a:pPr>
                      <a:r>
                        <a:rPr lang="en-US" sz="1300" dirty="0">
                          <a:solidFill>
                            <a:srgbClr val="14213D"/>
                          </a:solidFill>
                        </a:rPr>
                        <a:t>Training</a:t>
                      </a:r>
                      <a:endParaRPr lang="en-US" sz="13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rPr>
                        <a:t>54,000</a:t>
                      </a:r>
                      <a:endParaRPr lang="en-US" sz="13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rPr>
                        <a:t>13,500</a:t>
                      </a:r>
                      <a:endParaRPr lang="en-US" sz="13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rPr>
                        <a:t>Parameter estimation</a:t>
                      </a:r>
                      <a:endParaRPr lang="en-US" sz="13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14213D"/>
                          </a:solidFill>
                        </a:rPr>
                        <a:t>Validation</a:t>
                      </a:r>
                      <a:endParaRPr lang="en-US" sz="13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rPr>
                        <a:t>6,000</a:t>
                      </a:r>
                      <a:endParaRPr lang="en-US" sz="13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rPr>
                        <a:t>1,500</a:t>
                      </a:r>
                      <a:endParaRPr lang="en-US" sz="13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rPr>
                        <a:t>Early stopping and learning-rate choice</a:t>
                      </a:r>
                      <a:endParaRPr lang="en-US" sz="13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14213D"/>
                          </a:solidFill>
                        </a:rPr>
                        <a:t>Test (official)</a:t>
                      </a:r>
                      <a:endParaRPr lang="en-US" sz="13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rPr>
                        <a:t>7,600</a:t>
                      </a:r>
                      <a:endParaRPr lang="en-US" sz="13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rPr>
                        <a:t>1,900</a:t>
                      </a:r>
                      <a:endParaRPr lang="en-US" sz="13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rPr>
                        <a:t>Final evaluation - used exactly once</a:t>
                      </a:r>
                      <a:endParaRPr lang="en-US" sz="13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bl>
          </a:graphicData>
        </a:graphic>
      </p:graphicFrame>
      <p:sp>
        <p:nvSpPr>
          <p:cNvPr id="16" name="Text 13"/>
          <p:cNvSpPr txBox="1"/>
          <p:nvPr/>
        </p:nvSpPr>
        <p:spPr>
          <a:xfrm>
            <a:off x="640080" y="5349240"/>
            <a:ext cx="10881360" cy="640080"/>
          </a:xfrm>
          <a:prstGeom prst="rect">
            <a:avLst/>
          </a:prstGeom>
          <a:noFill/>
          <a:ln/>
        </p:spPr>
        <p:txBody>
          <a:bodyPr wrap="square" lIns="0" tIns="0" rIns="0" bIns="0" rtlCol="0" anchor="ctr"/>
          <a:lstStyle/>
          <a:p>
            <a:pPr indent="0" marL="0">
              <a:buNone/>
            </a:pPr>
            <a:r>
              <a:rPr lang="en-US" sz="1250" i="1" dirty="0">
                <a:solidFill>
                  <a:srgbClr val="6B7A8F"/>
                </a:solidFill>
              </a:rPr>
              <a:t>The one quantity not shared is the learning rate (1e-3 vs 3e-4), tuned per architecture on validation only. A single shared rate would look fairer but would handicap whichever model it suited less.</a:t>
            </a:r>
            <a:endParaRPr lang="en-US" sz="125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Model A — bidirectional LSTM, written by hand</a:t>
            </a:r>
            <a:endParaRPr lang="en-US" sz="3000" dirty="0"/>
          </a:p>
        </p:txBody>
      </p:sp>
      <p:sp>
        <p:nvSpPr>
          <p:cNvPr id="3" name="eq-card"/>
          <p:cNvSpPr/>
          <p:nvPr/>
        </p:nvSpPr>
        <p:spPr>
          <a:xfrm>
            <a:off x="640080" y="1234440"/>
            <a:ext cx="5577840" cy="2514600"/>
          </a:xfrm>
          <a:prstGeom prst="roundRect">
            <a:avLst>
              <a:gd name="adj" fmla="val 2909"/>
            </a:avLst>
          </a:prstGeom>
          <a:solidFill>
            <a:srgbClr val="EDF2F7"/>
          </a:solidFill>
          <a:ln w="12700">
            <a:solidFill>
              <a:srgbClr val="333333"/>
            </a:solidFill>
            <a:prstDash val="solid"/>
          </a:ln>
        </p:spPr>
      </p:sp>
      <p:sp>
        <p:nvSpPr>
          <p:cNvPr id="4" name="Text 2"/>
          <p:cNvSpPr txBox="1"/>
          <p:nvPr/>
        </p:nvSpPr>
        <p:spPr>
          <a:xfrm>
            <a:off x="868680" y="1371600"/>
            <a:ext cx="5120640" cy="274320"/>
          </a:xfrm>
          <a:prstGeom prst="rect">
            <a:avLst/>
          </a:prstGeom>
          <a:noFill/>
          <a:ln/>
        </p:spPr>
        <p:txBody>
          <a:bodyPr wrap="square" lIns="0" tIns="0" rIns="0" bIns="0" rtlCol="0" anchor="ctr"/>
          <a:lstStyle/>
          <a:p>
            <a:pPr indent="0" marL="0">
              <a:buNone/>
            </a:pPr>
            <a:r>
              <a:rPr lang="en-US" sz="1300" b="1" dirty="0">
                <a:solidFill>
                  <a:srgbClr val="2A78D6"/>
                </a:solidFill>
              </a:rPr>
              <a:t>The four gates, in one fused matmul</a:t>
            </a:r>
            <a:endParaRPr lang="en-US" sz="1300" dirty="0"/>
          </a:p>
        </p:txBody>
      </p:sp>
      <p:sp>
        <p:nvSpPr>
          <p:cNvPr id="5" name="Text 3"/>
          <p:cNvSpPr txBox="1"/>
          <p:nvPr/>
        </p:nvSpPr>
        <p:spPr>
          <a:xfrm>
            <a:off x="868680" y="1719072"/>
            <a:ext cx="5120640" cy="2011680"/>
          </a:xfrm>
          <a:prstGeom prst="rect">
            <a:avLst/>
          </a:prstGeom>
          <a:noFill/>
          <a:ln/>
        </p:spPr>
        <p:txBody>
          <a:bodyPr wrap="square" lIns="0" tIns="0" rIns="0" bIns="0" rtlCol="0" anchor="ctr"/>
          <a:lstStyle/>
          <a:p>
            <a:pPr indent="0" marL="0">
              <a:lnSpc>
                <a:spcPct val="114000"/>
              </a:lnSpc>
              <a:buNone/>
            </a:pPr>
            <a:r>
              <a:rPr lang="en-US" sz="1150" dirty="0">
                <a:solidFill>
                  <a:srgbClr val="14213D"/>
                </a:solidFill>
                <a:latin typeface="Courier New" pitchFamily="34" charset="0"/>
                <a:ea typeface="Courier New" pitchFamily="34" charset="-122"/>
                <a:cs typeface="Courier New" pitchFamily="34" charset="-120"/>
              </a:rPr>
              <a:t>i_t = sigmoid(W_i x_t + U_i h_prev + b_i)   input</a:t>
            </a:r>
            <a:endParaRPr lang="en-US" sz="1150" dirty="0"/>
          </a:p>
          <a:p>
            <a:pPr indent="0" marL="0">
              <a:lnSpc>
                <a:spcPct val="114000"/>
              </a:lnSpc>
              <a:buNone/>
            </a:pPr>
            <a:r>
              <a:rPr lang="en-US" sz="1150" dirty="0">
                <a:solidFill>
                  <a:srgbClr val="14213D"/>
                </a:solidFill>
                <a:latin typeface="Courier New" pitchFamily="34" charset="0"/>
                <a:ea typeface="Courier New" pitchFamily="34" charset="-122"/>
                <a:cs typeface="Courier New" pitchFamily="34" charset="-120"/>
              </a:rPr>
              <a:t>f_t = sigmoid(W_f x_t + U_f h_prev + b_f)   forget</a:t>
            </a:r>
            <a:endParaRPr lang="en-US" sz="1150" dirty="0"/>
          </a:p>
          <a:p>
            <a:pPr indent="0" marL="0">
              <a:lnSpc>
                <a:spcPct val="114000"/>
              </a:lnSpc>
              <a:buNone/>
            </a:pPr>
            <a:r>
              <a:rPr lang="en-US" sz="1150" dirty="0">
                <a:solidFill>
                  <a:srgbClr val="14213D"/>
                </a:solidFill>
                <a:latin typeface="Courier New" pitchFamily="34" charset="0"/>
                <a:ea typeface="Courier New" pitchFamily="34" charset="-122"/>
                <a:cs typeface="Courier New" pitchFamily="34" charset="-120"/>
              </a:rPr>
              <a:t>g_t = tanh   (W_g x_t + U_g h_prev + b_g)   candidate</a:t>
            </a:r>
            <a:endParaRPr lang="en-US" sz="1150" dirty="0"/>
          </a:p>
          <a:p>
            <a:pPr indent="0" marL="0">
              <a:lnSpc>
                <a:spcPct val="114000"/>
              </a:lnSpc>
              <a:buNone/>
            </a:pPr>
            <a:r>
              <a:rPr lang="en-US" sz="1150" dirty="0">
                <a:solidFill>
                  <a:srgbClr val="14213D"/>
                </a:solidFill>
                <a:latin typeface="Courier New" pitchFamily="34" charset="0"/>
                <a:ea typeface="Courier New" pitchFamily="34" charset="-122"/>
                <a:cs typeface="Courier New" pitchFamily="34" charset="-120"/>
              </a:rPr>
              <a:t>o_t = sigmoid(W_o x_t + U_o h_prev + b_o)   output</a:t>
            </a:r>
            <a:endParaRPr lang="en-US" sz="1150" dirty="0"/>
          </a:p>
          <a:p>
            <a:pPr indent="0" marL="0">
              <a:lnSpc>
                <a:spcPct val="114000"/>
              </a:lnSpc>
              <a:buNone/>
            </a:pPr>
            <a:endParaRPr lang="en-US" sz="1150" dirty="0"/>
          </a:p>
          <a:p>
            <a:pPr indent="0" marL="0">
              <a:lnSpc>
                <a:spcPct val="114000"/>
              </a:lnSpc>
              <a:buNone/>
            </a:pPr>
            <a:r>
              <a:rPr lang="en-US" sz="1150" dirty="0">
                <a:solidFill>
                  <a:srgbClr val="14213D"/>
                </a:solidFill>
                <a:latin typeface="Courier New" pitchFamily="34" charset="0"/>
                <a:ea typeface="Courier New" pitchFamily="34" charset="-122"/>
                <a:cs typeface="Courier New" pitchFamily="34" charset="-120"/>
              </a:rPr>
              <a:t>c_t = f_t (*) c_prev + i_t (*) g_t</a:t>
            </a:r>
            <a:endParaRPr lang="en-US" sz="1150" dirty="0"/>
          </a:p>
          <a:p>
            <a:pPr indent="0" marL="0">
              <a:lnSpc>
                <a:spcPct val="114000"/>
              </a:lnSpc>
              <a:buNone/>
            </a:pPr>
            <a:r>
              <a:rPr lang="en-US" sz="1150" dirty="0">
                <a:solidFill>
                  <a:srgbClr val="14213D"/>
                </a:solidFill>
                <a:latin typeface="Courier New" pitchFamily="34" charset="0"/>
                <a:ea typeface="Courier New" pitchFamily="34" charset="-122"/>
                <a:cs typeface="Courier New" pitchFamily="34" charset="-120"/>
              </a:rPr>
              <a:t>h_t = o_t (*) tanh(c_t)</a:t>
            </a:r>
            <a:endParaRPr lang="en-US" sz="1150" dirty="0"/>
          </a:p>
          <a:p>
            <a:pPr indent="0" marL="0">
              <a:lnSpc>
                <a:spcPct val="114000"/>
              </a:lnSpc>
              <a:buNone/>
            </a:pPr>
            <a:endParaRPr lang="en-US" sz="1150" dirty="0"/>
          </a:p>
          <a:p>
            <a:pPr indent="0" marL="0">
              <a:lnSpc>
                <a:spcPct val="114000"/>
              </a:lnSpc>
              <a:buNone/>
            </a:pPr>
            <a:r>
              <a:rPr lang="en-US" sz="1150" dirty="0">
                <a:solidFill>
                  <a:srgbClr val="14213D"/>
                </a:solidFill>
                <a:latin typeface="Courier New" pitchFamily="34" charset="0"/>
                <a:ea typeface="Courier New" pitchFamily="34" charset="-122"/>
                <a:cs typeface="Courier New" pitchFamily="34" charset="-120"/>
              </a:rPr>
              <a:t>(*) = elementwise product</a:t>
            </a:r>
            <a:endParaRPr lang="en-US" sz="1150" dirty="0"/>
          </a:p>
        </p:txBody>
      </p:sp>
      <p:sp>
        <p:nvSpPr>
          <p:cNvPr id="6" name="badge-1"/>
          <p:cNvSpPr/>
          <p:nvPr/>
        </p:nvSpPr>
        <p:spPr>
          <a:xfrm>
            <a:off x="6583680" y="1325880"/>
            <a:ext cx="384048" cy="384048"/>
          </a:xfrm>
          <a:prstGeom prst="ellipse">
            <a:avLst/>
          </a:prstGeom>
          <a:solidFill>
            <a:srgbClr val="EB6834"/>
          </a:solidFill>
          <a:ln/>
        </p:spPr>
      </p:sp>
      <p:sp>
        <p:nvSpPr>
          <p:cNvPr id="7" name="Text 5"/>
          <p:cNvSpPr txBox="1"/>
          <p:nvPr/>
        </p:nvSpPr>
        <p:spPr>
          <a:xfrm>
            <a:off x="6583680" y="1325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6"/>
          <p:cNvSpPr txBox="1"/>
          <p:nvPr/>
        </p:nvSpPr>
        <p:spPr>
          <a:xfrm>
            <a:off x="7150608" y="1298448"/>
            <a:ext cx="4370832" cy="310896"/>
          </a:xfrm>
          <a:prstGeom prst="rect">
            <a:avLst/>
          </a:prstGeom>
          <a:noFill/>
          <a:ln/>
        </p:spPr>
        <p:txBody>
          <a:bodyPr wrap="square" lIns="0" tIns="0" rIns="0" bIns="0" rtlCol="0" anchor="ctr"/>
          <a:lstStyle/>
          <a:p>
            <a:pPr indent="0" marL="0">
              <a:buNone/>
            </a:pPr>
            <a:r>
              <a:rPr lang="en-US" sz="1500" b="1" dirty="0">
                <a:solidFill>
                  <a:srgbClr val="14213D"/>
                </a:solidFill>
              </a:rPr>
              <a:t>Padding must not corrupt the state</a:t>
            </a:r>
            <a:endParaRPr lang="en-US" sz="1500" dirty="0"/>
          </a:p>
        </p:txBody>
      </p:sp>
      <p:sp>
        <p:nvSpPr>
          <p:cNvPr id="9" name="Text 7"/>
          <p:cNvSpPr txBox="1"/>
          <p:nvPr/>
        </p:nvSpPr>
        <p:spPr>
          <a:xfrm>
            <a:off x="7150608" y="1618488"/>
            <a:ext cx="437083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Each step is gated by the mask, h ← m·h_new + (1−m)·h_prev, so a padded step is an exact no-op.</a:t>
            </a:r>
            <a:endParaRPr lang="en-US" sz="1250" dirty="0"/>
          </a:p>
        </p:txBody>
      </p:sp>
      <p:sp>
        <p:nvSpPr>
          <p:cNvPr id="10" name="badge-2"/>
          <p:cNvSpPr/>
          <p:nvPr/>
        </p:nvSpPr>
        <p:spPr>
          <a:xfrm>
            <a:off x="6583680" y="2514600"/>
            <a:ext cx="384048" cy="384048"/>
          </a:xfrm>
          <a:prstGeom prst="ellipse">
            <a:avLst/>
          </a:prstGeom>
          <a:solidFill>
            <a:srgbClr val="EB6834"/>
          </a:solidFill>
          <a:ln/>
        </p:spPr>
      </p:sp>
      <p:sp>
        <p:nvSpPr>
          <p:cNvPr id="11" name="Text 9"/>
          <p:cNvSpPr txBox="1"/>
          <p:nvPr/>
        </p:nvSpPr>
        <p:spPr>
          <a:xfrm>
            <a:off x="6583680" y="2514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7150608" y="2487168"/>
            <a:ext cx="4370832" cy="310896"/>
          </a:xfrm>
          <a:prstGeom prst="rect">
            <a:avLst/>
          </a:prstGeom>
          <a:noFill/>
          <a:ln/>
        </p:spPr>
        <p:txBody>
          <a:bodyPr wrap="square" lIns="0" tIns="0" rIns="0" bIns="0" rtlCol="0" anchor="ctr"/>
          <a:lstStyle/>
          <a:p>
            <a:pPr indent="0" marL="0">
              <a:buNone/>
            </a:pPr>
            <a:r>
              <a:rPr lang="en-US" sz="1500" b="1" dirty="0">
                <a:solidFill>
                  <a:srgbClr val="14213D"/>
                </a:solidFill>
              </a:rPr>
              <a:t>The backward pass starts at the true end</a:t>
            </a:r>
            <a:endParaRPr lang="en-US" sz="1500" dirty="0"/>
          </a:p>
        </p:txBody>
      </p:sp>
      <p:sp>
        <p:nvSpPr>
          <p:cNvPr id="13" name="Text 11"/>
          <p:cNvSpPr txBox="1"/>
          <p:nvPr/>
        </p:nvSpPr>
        <p:spPr>
          <a:xfrm>
            <a:off x="7150608" y="2807208"/>
            <a:ext cx="437083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Padding sits at the right and masked steps are no-ops, so iterating t = T−1…0 begins at each sequence's own last real token.</a:t>
            </a:r>
            <a:endParaRPr lang="en-US" sz="1250" dirty="0"/>
          </a:p>
        </p:txBody>
      </p:sp>
      <p:sp>
        <p:nvSpPr>
          <p:cNvPr id="14" name="Text 12"/>
          <p:cNvSpPr txBox="1"/>
          <p:nvPr/>
        </p:nvSpPr>
        <p:spPr>
          <a:xfrm>
            <a:off x="6583680" y="3794760"/>
            <a:ext cx="4937760" cy="548640"/>
          </a:xfrm>
          <a:prstGeom prst="rect">
            <a:avLst/>
          </a:prstGeom>
          <a:noFill/>
          <a:ln/>
        </p:spPr>
        <p:txBody>
          <a:bodyPr wrap="square" lIns="0" tIns="0" rIns="0" bIns="0" rtlCol="0" anchor="ctr"/>
          <a:lstStyle/>
          <a:p>
            <a:pPr indent="0" marL="0">
              <a:buNone/>
            </a:pPr>
            <a:r>
              <a:rPr lang="en-US" sz="1200" i="1" dirty="0">
                <a:solidFill>
                  <a:srgbClr val="6B7A8F"/>
                </a:solidFill>
              </a:rPr>
              <a:t>Neither defect raises an error. Both simply make the model quietly worse — which is why slide 7 exists.</a:t>
            </a:r>
            <a:endParaRPr lang="en-US" sz="1200" dirty="0"/>
          </a:p>
        </p:txBody>
      </p:sp>
      <p:sp>
        <p:nvSpPr>
          <p:cNvPr id="15" name="card-Pooling"/>
          <p:cNvSpPr/>
          <p:nvPr/>
        </p:nvSpPr>
        <p:spPr>
          <a:xfrm>
            <a:off x="640080" y="3977640"/>
            <a:ext cx="5577840" cy="1737360"/>
          </a:xfrm>
          <a:prstGeom prst="roundRect">
            <a:avLst>
              <a:gd name="adj" fmla="val 4211"/>
            </a:avLst>
          </a:prstGeom>
          <a:solidFill>
            <a:srgbClr val="EDF2F7"/>
          </a:solidFill>
          <a:ln w="12700">
            <a:solidFill>
              <a:srgbClr val="333333"/>
            </a:solidFill>
            <a:prstDash val="solid"/>
          </a:ln>
        </p:spPr>
      </p:sp>
      <p:sp>
        <p:nvSpPr>
          <p:cNvPr id="16" name="Text 14"/>
          <p:cNvSpPr txBox="1"/>
          <p:nvPr/>
        </p:nvSpPr>
        <p:spPr>
          <a:xfrm>
            <a:off x="841248" y="4142232"/>
            <a:ext cx="5175504" cy="292608"/>
          </a:xfrm>
          <a:prstGeom prst="rect">
            <a:avLst/>
          </a:prstGeom>
          <a:noFill/>
          <a:ln/>
        </p:spPr>
        <p:txBody>
          <a:bodyPr wrap="square" lIns="0" tIns="0" rIns="0" bIns="0" rtlCol="0" anchor="ctr"/>
          <a:lstStyle/>
          <a:p>
            <a:pPr indent="0" marL="0">
              <a:buNone/>
            </a:pPr>
            <a:r>
              <a:rPr lang="en-US" sz="1400" b="1" dirty="0">
                <a:solidFill>
                  <a:srgbClr val="2A78D6"/>
                </a:solidFill>
              </a:rPr>
              <a:t>Pooling</a:t>
            </a:r>
            <a:endParaRPr lang="en-US" sz="1400" dirty="0"/>
          </a:p>
        </p:txBody>
      </p:sp>
      <p:sp>
        <p:nvSpPr>
          <p:cNvPr id="17" name="Text 15"/>
          <p:cNvSpPr txBox="1"/>
          <p:nvPr/>
        </p:nvSpPr>
        <p:spPr>
          <a:xfrm>
            <a:off x="841248" y="4471416"/>
            <a:ext cx="5175504" cy="107899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Masked mean over all timesteps, concatenated with the final state of each direction (4H features). The mean alone discards the endpoint the recurrence built; the endpoint alone is noisy at 39 tokens.</a:t>
            </a:r>
            <a:endParaRPr lang="en-US" sz="1200" dirty="0"/>
          </a:p>
        </p:txBody>
      </p:sp>
      <p:sp>
        <p:nvSpPr>
          <p:cNvPr id="18" name="card-Configuration"/>
          <p:cNvSpPr/>
          <p:nvPr/>
        </p:nvSpPr>
        <p:spPr>
          <a:xfrm>
            <a:off x="6583680" y="4343400"/>
            <a:ext cx="4937760" cy="1417320"/>
          </a:xfrm>
          <a:prstGeom prst="roundRect">
            <a:avLst>
              <a:gd name="adj" fmla="val 5161"/>
            </a:avLst>
          </a:prstGeom>
          <a:solidFill>
            <a:srgbClr val="EDF2F7"/>
          </a:solidFill>
          <a:ln w="12700">
            <a:solidFill>
              <a:srgbClr val="333333"/>
            </a:solidFill>
            <a:prstDash val="solid"/>
          </a:ln>
        </p:spPr>
      </p:sp>
      <p:sp>
        <p:nvSpPr>
          <p:cNvPr id="19" name="Text 17"/>
          <p:cNvSpPr txBox="1"/>
          <p:nvPr/>
        </p:nvSpPr>
        <p:spPr>
          <a:xfrm>
            <a:off x="6784848" y="4507992"/>
            <a:ext cx="4535424" cy="292608"/>
          </a:xfrm>
          <a:prstGeom prst="rect">
            <a:avLst/>
          </a:prstGeom>
          <a:noFill/>
          <a:ln/>
        </p:spPr>
        <p:txBody>
          <a:bodyPr wrap="square" lIns="0" tIns="0" rIns="0" bIns="0" rtlCol="0" anchor="ctr"/>
          <a:lstStyle/>
          <a:p>
            <a:pPr indent="0" marL="0">
              <a:buNone/>
            </a:pPr>
            <a:r>
              <a:rPr lang="en-US" sz="1400" b="1" dirty="0">
                <a:solidFill>
                  <a:srgbClr val="2A78D6"/>
                </a:solidFill>
              </a:rPr>
              <a:t>Configuration</a:t>
            </a:r>
            <a:endParaRPr lang="en-US" sz="1400" dirty="0"/>
          </a:p>
        </p:txBody>
      </p:sp>
      <p:sp>
        <p:nvSpPr>
          <p:cNvPr id="20" name="Text 18"/>
          <p:cNvSpPr txBox="1"/>
          <p:nvPr/>
        </p:nvSpPr>
        <p:spPr>
          <a:xfrm>
            <a:off x="6784848" y="4837176"/>
            <a:ext cx="4535424" cy="75895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128-dim embedding  ·  128 hidden units  ·  bidirectional  ·  dropout 0.30</a:t>
            </a:r>
            <a:endParaRPr lang="en-US" sz="1200" dirty="0"/>
          </a:p>
          <a:p>
            <a:pPr indent="0" marL="0">
              <a:lnSpc>
                <a:spcPct val="108000"/>
              </a:lnSpc>
              <a:buNone/>
            </a:pPr>
            <a:endParaRPr lang="en-US" sz="1200" dirty="0"/>
          </a:p>
          <a:p>
            <a:pPr indent="0" marL="0">
              <a:lnSpc>
                <a:spcPct val="108000"/>
              </a:lnSpc>
              <a:buNone/>
            </a:pPr>
            <a:r>
              <a:rPr lang="en-US" sz="1200" dirty="0">
                <a:solidFill>
                  <a:srgbClr val="3D5A80"/>
                </a:solidFill>
              </a:rPr>
              <a:t>265,220 non-embedding parameters, matched to the Transformer within 0.19%.</a:t>
            </a:r>
            <a:endParaRPr lang="en-US" sz="120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Model B — Transformer encoder, written by hand</a:t>
            </a:r>
            <a:endParaRPr lang="en-US" sz="3000" dirty="0"/>
          </a:p>
        </p:txBody>
      </p:sp>
      <p:sp>
        <p:nvSpPr>
          <p:cNvPr id="3" name="attn-card"/>
          <p:cNvSpPr/>
          <p:nvPr/>
        </p:nvSpPr>
        <p:spPr>
          <a:xfrm>
            <a:off x="640080" y="1234440"/>
            <a:ext cx="5577840" cy="1600200"/>
          </a:xfrm>
          <a:prstGeom prst="roundRect">
            <a:avLst>
              <a:gd name="adj" fmla="val 4571"/>
            </a:avLst>
          </a:prstGeom>
          <a:solidFill>
            <a:srgbClr val="EDF2F7"/>
          </a:solidFill>
          <a:ln w="12700">
            <a:solidFill>
              <a:srgbClr val="333333"/>
            </a:solidFill>
            <a:prstDash val="solid"/>
          </a:ln>
        </p:spPr>
      </p:sp>
      <p:sp>
        <p:nvSpPr>
          <p:cNvPr id="4" name="Text 2"/>
          <p:cNvSpPr txBox="1"/>
          <p:nvPr/>
        </p:nvSpPr>
        <p:spPr>
          <a:xfrm>
            <a:off x="868680" y="1371600"/>
            <a:ext cx="5120640" cy="274320"/>
          </a:xfrm>
          <a:prstGeom prst="rect">
            <a:avLst/>
          </a:prstGeom>
          <a:noFill/>
          <a:ln/>
        </p:spPr>
        <p:txBody>
          <a:bodyPr wrap="square" lIns="0" tIns="0" rIns="0" bIns="0" rtlCol="0" anchor="ctr"/>
          <a:lstStyle/>
          <a:p>
            <a:pPr indent="0" marL="0">
              <a:buNone/>
            </a:pPr>
            <a:r>
              <a:rPr lang="en-US" sz="1300" b="1" dirty="0">
                <a:solidFill>
                  <a:srgbClr val="EB6834"/>
                </a:solidFill>
              </a:rPr>
              <a:t>Scaled dot-product attention</a:t>
            </a:r>
            <a:endParaRPr lang="en-US" sz="1300" dirty="0"/>
          </a:p>
        </p:txBody>
      </p:sp>
      <p:sp>
        <p:nvSpPr>
          <p:cNvPr id="5" name="Text 3"/>
          <p:cNvSpPr txBox="1"/>
          <p:nvPr/>
        </p:nvSpPr>
        <p:spPr>
          <a:xfrm>
            <a:off x="868680" y="1783080"/>
            <a:ext cx="5120640" cy="411480"/>
          </a:xfrm>
          <a:prstGeom prst="rect">
            <a:avLst/>
          </a:prstGeom>
          <a:noFill/>
          <a:ln/>
        </p:spPr>
        <p:txBody>
          <a:bodyPr wrap="square" lIns="0" tIns="0" rIns="0" bIns="0" rtlCol="0" anchor="ctr"/>
          <a:lstStyle/>
          <a:p>
            <a:pPr indent="0" marL="0">
              <a:buNone/>
            </a:pPr>
            <a:r>
              <a:rPr lang="en-US" sz="1600" dirty="0">
                <a:solidFill>
                  <a:srgbClr val="14213D"/>
                </a:solidFill>
                <a:latin typeface="Courier New" pitchFamily="34" charset="0"/>
                <a:ea typeface="Courier New" pitchFamily="34" charset="-122"/>
                <a:cs typeface="Courier New" pitchFamily="34" charset="-120"/>
              </a:rPr>
              <a:t>Attention(Q, K, V) = softmax( QKᵀ / √dₖ + M ) V</a:t>
            </a:r>
            <a:endParaRPr lang="en-US" sz="1600" dirty="0"/>
          </a:p>
        </p:txBody>
      </p:sp>
      <p:sp>
        <p:nvSpPr>
          <p:cNvPr id="6" name="Text 4"/>
          <p:cNvSpPr txBox="1"/>
          <p:nvPr/>
        </p:nvSpPr>
        <p:spPr>
          <a:xfrm>
            <a:off x="868680" y="2240280"/>
            <a:ext cx="5120640" cy="502920"/>
          </a:xfrm>
          <a:prstGeom prst="rect">
            <a:avLst/>
          </a:prstGeom>
          <a:noFill/>
          <a:ln/>
        </p:spPr>
        <p:txBody>
          <a:bodyPr wrap="square" lIns="0" tIns="0" rIns="0" bIns="0" rtlCol="0" anchor="ctr"/>
          <a:lstStyle/>
          <a:p>
            <a:pPr indent="0" marL="0">
              <a:buNone/>
            </a:pPr>
            <a:r>
              <a:rPr lang="en-US" sz="1150" dirty="0">
                <a:solidFill>
                  <a:srgbClr val="6B7A8F"/>
                </a:solidFill>
              </a:rPr>
              <a:t>The √dₖ scaling keeps the softmax out of saturation: dot products of unit-variance vectors have variance dₖ.</a:t>
            </a:r>
            <a:endParaRPr lang="en-US" sz="1150" dirty="0"/>
          </a:p>
        </p:txBody>
      </p:sp>
      <p:sp>
        <p:nvSpPr>
          <p:cNvPr id="7" name="card-Multi-head"/>
          <p:cNvSpPr/>
          <p:nvPr/>
        </p:nvSpPr>
        <p:spPr>
          <a:xfrm>
            <a:off x="640080" y="3017520"/>
            <a:ext cx="2697480" cy="1371600"/>
          </a:xfrm>
          <a:prstGeom prst="roundRect">
            <a:avLst>
              <a:gd name="adj" fmla="val 5333"/>
            </a:avLst>
          </a:prstGeom>
          <a:solidFill>
            <a:srgbClr val="EDF2F7"/>
          </a:solidFill>
          <a:ln w="12700">
            <a:solidFill>
              <a:srgbClr val="333333"/>
            </a:solidFill>
            <a:prstDash val="solid"/>
          </a:ln>
        </p:spPr>
      </p:sp>
      <p:sp>
        <p:nvSpPr>
          <p:cNvPr id="8" name="Text 6"/>
          <p:cNvSpPr txBox="1"/>
          <p:nvPr/>
        </p:nvSpPr>
        <p:spPr>
          <a:xfrm>
            <a:off x="841248" y="3182112"/>
            <a:ext cx="2295144" cy="292608"/>
          </a:xfrm>
          <a:prstGeom prst="rect">
            <a:avLst/>
          </a:prstGeom>
          <a:noFill/>
          <a:ln/>
        </p:spPr>
        <p:txBody>
          <a:bodyPr wrap="square" lIns="0" tIns="0" rIns="0" bIns="0" rtlCol="0" anchor="ctr"/>
          <a:lstStyle/>
          <a:p>
            <a:pPr indent="0" marL="0">
              <a:buNone/>
            </a:pPr>
            <a:r>
              <a:rPr lang="en-US" sz="1400" b="1" dirty="0">
                <a:solidFill>
                  <a:srgbClr val="EB6834"/>
                </a:solidFill>
              </a:rPr>
              <a:t>Multi-head</a:t>
            </a:r>
            <a:endParaRPr lang="en-US" sz="1400" dirty="0"/>
          </a:p>
        </p:txBody>
      </p:sp>
      <p:sp>
        <p:nvSpPr>
          <p:cNvPr id="9" name="Text 7"/>
          <p:cNvSpPr txBox="1"/>
          <p:nvPr/>
        </p:nvSpPr>
        <p:spPr>
          <a:xfrm>
            <a:off x="841248" y="3511296"/>
            <a:ext cx="2295144" cy="71323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Project once at full width, reshape into 4 heads. The reshape is the most error-prone step.</a:t>
            </a:r>
            <a:endParaRPr lang="en-US" sz="1200" dirty="0"/>
          </a:p>
        </p:txBody>
      </p:sp>
      <p:sp>
        <p:nvSpPr>
          <p:cNvPr id="10" name="card-Positional encoding"/>
          <p:cNvSpPr/>
          <p:nvPr/>
        </p:nvSpPr>
        <p:spPr>
          <a:xfrm>
            <a:off x="3520440" y="3017520"/>
            <a:ext cx="2697480" cy="1371600"/>
          </a:xfrm>
          <a:prstGeom prst="roundRect">
            <a:avLst>
              <a:gd name="adj" fmla="val 5333"/>
            </a:avLst>
          </a:prstGeom>
          <a:solidFill>
            <a:srgbClr val="EDF2F7"/>
          </a:solidFill>
          <a:ln w="12700">
            <a:solidFill>
              <a:srgbClr val="333333"/>
            </a:solidFill>
            <a:prstDash val="solid"/>
          </a:ln>
        </p:spPr>
      </p:sp>
      <p:sp>
        <p:nvSpPr>
          <p:cNvPr id="11" name="Text 9"/>
          <p:cNvSpPr txBox="1"/>
          <p:nvPr/>
        </p:nvSpPr>
        <p:spPr>
          <a:xfrm>
            <a:off x="3721608" y="3182112"/>
            <a:ext cx="2295144" cy="292608"/>
          </a:xfrm>
          <a:prstGeom prst="rect">
            <a:avLst/>
          </a:prstGeom>
          <a:noFill/>
          <a:ln/>
        </p:spPr>
        <p:txBody>
          <a:bodyPr wrap="square" lIns="0" tIns="0" rIns="0" bIns="0" rtlCol="0" anchor="ctr"/>
          <a:lstStyle/>
          <a:p>
            <a:pPr indent="0" marL="0">
              <a:buNone/>
            </a:pPr>
            <a:r>
              <a:rPr lang="en-US" sz="1400" b="1" dirty="0">
                <a:solidFill>
                  <a:srgbClr val="EB6834"/>
                </a:solidFill>
              </a:rPr>
              <a:t>Positional encoding</a:t>
            </a:r>
            <a:endParaRPr lang="en-US" sz="1400" dirty="0"/>
          </a:p>
        </p:txBody>
      </p:sp>
      <p:sp>
        <p:nvSpPr>
          <p:cNvPr id="12" name="Text 10"/>
          <p:cNvSpPr txBox="1"/>
          <p:nvPr/>
        </p:nvSpPr>
        <p:spPr>
          <a:xfrm>
            <a:off x="3721608" y="3511296"/>
            <a:ext cx="2295144" cy="71323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Sinusoidal. Without it, self-attention is permutation-invariant — a bag of words.</a:t>
            </a:r>
            <a:endParaRPr lang="en-US" sz="1200" dirty="0"/>
          </a:p>
        </p:txBody>
      </p:sp>
      <p:sp>
        <p:nvSpPr>
          <p:cNvPr id="13" name="card-Layer norm"/>
          <p:cNvSpPr/>
          <p:nvPr/>
        </p:nvSpPr>
        <p:spPr>
          <a:xfrm>
            <a:off x="640080" y="4526280"/>
            <a:ext cx="2697480" cy="1371600"/>
          </a:xfrm>
          <a:prstGeom prst="roundRect">
            <a:avLst>
              <a:gd name="adj" fmla="val 5333"/>
            </a:avLst>
          </a:prstGeom>
          <a:solidFill>
            <a:srgbClr val="EDF2F7"/>
          </a:solidFill>
          <a:ln w="12700">
            <a:solidFill>
              <a:srgbClr val="333333"/>
            </a:solidFill>
            <a:prstDash val="solid"/>
          </a:ln>
        </p:spPr>
      </p:sp>
      <p:sp>
        <p:nvSpPr>
          <p:cNvPr id="14" name="Text 12"/>
          <p:cNvSpPr txBox="1"/>
          <p:nvPr/>
        </p:nvSpPr>
        <p:spPr>
          <a:xfrm>
            <a:off x="841248" y="4690872"/>
            <a:ext cx="2295144" cy="292608"/>
          </a:xfrm>
          <a:prstGeom prst="rect">
            <a:avLst/>
          </a:prstGeom>
          <a:noFill/>
          <a:ln/>
        </p:spPr>
        <p:txBody>
          <a:bodyPr wrap="square" lIns="0" tIns="0" rIns="0" bIns="0" rtlCol="0" anchor="ctr"/>
          <a:lstStyle/>
          <a:p>
            <a:pPr indent="0" marL="0">
              <a:buNone/>
            </a:pPr>
            <a:r>
              <a:rPr lang="en-US" sz="1400" b="1" dirty="0">
                <a:solidFill>
                  <a:srgbClr val="EB6834"/>
                </a:solidFill>
              </a:rPr>
              <a:t>Layer norm</a:t>
            </a:r>
            <a:endParaRPr lang="en-US" sz="1400" dirty="0"/>
          </a:p>
        </p:txBody>
      </p:sp>
      <p:sp>
        <p:nvSpPr>
          <p:cNvPr id="15" name="Text 13"/>
          <p:cNvSpPr txBox="1"/>
          <p:nvPr/>
        </p:nvSpPr>
        <p:spPr>
          <a:xfrm>
            <a:off x="841248" y="5020056"/>
            <a:ext cx="2295144" cy="71323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Hand-written, biased variance, to match the reference exactly.</a:t>
            </a:r>
            <a:endParaRPr lang="en-US" sz="1200" dirty="0"/>
          </a:p>
        </p:txBody>
      </p:sp>
      <p:sp>
        <p:nvSpPr>
          <p:cNvPr id="16" name="card-Pre-norm block"/>
          <p:cNvSpPr/>
          <p:nvPr/>
        </p:nvSpPr>
        <p:spPr>
          <a:xfrm>
            <a:off x="3520440" y="4526280"/>
            <a:ext cx="2697480" cy="1371600"/>
          </a:xfrm>
          <a:prstGeom prst="roundRect">
            <a:avLst>
              <a:gd name="adj" fmla="val 5333"/>
            </a:avLst>
          </a:prstGeom>
          <a:solidFill>
            <a:srgbClr val="EDF2F7"/>
          </a:solidFill>
          <a:ln w="12700">
            <a:solidFill>
              <a:srgbClr val="333333"/>
            </a:solidFill>
            <a:prstDash val="solid"/>
          </a:ln>
        </p:spPr>
      </p:sp>
      <p:sp>
        <p:nvSpPr>
          <p:cNvPr id="17" name="Text 15"/>
          <p:cNvSpPr txBox="1"/>
          <p:nvPr/>
        </p:nvSpPr>
        <p:spPr>
          <a:xfrm>
            <a:off x="3721608" y="4690872"/>
            <a:ext cx="2295144" cy="292608"/>
          </a:xfrm>
          <a:prstGeom prst="rect">
            <a:avLst/>
          </a:prstGeom>
          <a:noFill/>
          <a:ln/>
        </p:spPr>
        <p:txBody>
          <a:bodyPr wrap="square" lIns="0" tIns="0" rIns="0" bIns="0" rtlCol="0" anchor="ctr"/>
          <a:lstStyle/>
          <a:p>
            <a:pPr indent="0" marL="0">
              <a:buNone/>
            </a:pPr>
            <a:r>
              <a:rPr lang="en-US" sz="1400" b="1" dirty="0">
                <a:solidFill>
                  <a:srgbClr val="EB6834"/>
                </a:solidFill>
              </a:rPr>
              <a:t>Pre-norm block</a:t>
            </a:r>
            <a:endParaRPr lang="en-US" sz="1400" dirty="0"/>
          </a:p>
        </p:txBody>
      </p:sp>
      <p:sp>
        <p:nvSpPr>
          <p:cNvPr id="18" name="Text 16"/>
          <p:cNvSpPr txBox="1"/>
          <p:nvPr/>
        </p:nvSpPr>
        <p:spPr>
          <a:xfrm>
            <a:off x="3721608" y="5020056"/>
            <a:ext cx="2295144" cy="71323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x + attn(norm(x)). Trains stably with no warmup schedule.</a:t>
            </a:r>
            <a:endParaRPr lang="en-US" sz="1200" dirty="0"/>
          </a:p>
        </p:txBody>
      </p:sp>
      <p:sp>
        <p:nvSpPr>
          <p:cNvPr id="19" name="badge-1"/>
          <p:cNvSpPr/>
          <p:nvPr/>
        </p:nvSpPr>
        <p:spPr>
          <a:xfrm>
            <a:off x="6583680" y="1325880"/>
            <a:ext cx="384048" cy="384048"/>
          </a:xfrm>
          <a:prstGeom prst="ellipse">
            <a:avLst/>
          </a:prstGeom>
          <a:solidFill>
            <a:srgbClr val="2A78D6"/>
          </a:solidFill>
          <a:ln/>
        </p:spPr>
      </p:sp>
      <p:sp>
        <p:nvSpPr>
          <p:cNvPr id="20" name="Text 18"/>
          <p:cNvSpPr txBox="1"/>
          <p:nvPr/>
        </p:nvSpPr>
        <p:spPr>
          <a:xfrm>
            <a:off x="6583680" y="1325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1" name="Text 19"/>
          <p:cNvSpPr txBox="1"/>
          <p:nvPr/>
        </p:nvSpPr>
        <p:spPr>
          <a:xfrm>
            <a:off x="7150608" y="1298448"/>
            <a:ext cx="4370832" cy="310896"/>
          </a:xfrm>
          <a:prstGeom prst="rect">
            <a:avLst/>
          </a:prstGeom>
          <a:noFill/>
          <a:ln/>
        </p:spPr>
        <p:txBody>
          <a:bodyPr wrap="square" lIns="0" tIns="0" rIns="0" bIns="0" rtlCol="0" anchor="ctr"/>
          <a:lstStyle/>
          <a:p>
            <a:pPr indent="0" marL="0">
              <a:buNone/>
            </a:pPr>
            <a:r>
              <a:rPr lang="en-US" sz="1500" b="1" dirty="0">
                <a:solidFill>
                  <a:srgbClr val="14213D"/>
                </a:solidFill>
              </a:rPr>
              <a:t>The mask is −1e9, never −∞</a:t>
            </a:r>
            <a:endParaRPr lang="en-US" sz="1500" dirty="0"/>
          </a:p>
        </p:txBody>
      </p:sp>
      <p:sp>
        <p:nvSpPr>
          <p:cNvPr id="22" name="Text 20"/>
          <p:cNvSpPr txBox="1"/>
          <p:nvPr/>
        </p:nvSpPr>
        <p:spPr>
          <a:xfrm>
            <a:off x="7150608" y="1618488"/>
            <a:ext cx="437083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A fully-masked row would softmax to NaN under −∞ and destroy the gradients of the whole batch.</a:t>
            </a:r>
            <a:endParaRPr lang="en-US" sz="1250" dirty="0"/>
          </a:p>
        </p:txBody>
      </p:sp>
      <p:sp>
        <p:nvSpPr>
          <p:cNvPr id="23" name="badge-2"/>
          <p:cNvSpPr/>
          <p:nvPr/>
        </p:nvSpPr>
        <p:spPr>
          <a:xfrm>
            <a:off x="6583680" y="2651760"/>
            <a:ext cx="384048" cy="384048"/>
          </a:xfrm>
          <a:prstGeom prst="ellipse">
            <a:avLst/>
          </a:prstGeom>
          <a:solidFill>
            <a:srgbClr val="2A78D6"/>
          </a:solidFill>
          <a:ln/>
        </p:spPr>
      </p:sp>
      <p:sp>
        <p:nvSpPr>
          <p:cNvPr id="24" name="Text 22"/>
          <p:cNvSpPr txBox="1"/>
          <p:nvPr/>
        </p:nvSpPr>
        <p:spPr>
          <a:xfrm>
            <a:off x="6583680" y="2651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5" name="Text 23"/>
          <p:cNvSpPr txBox="1"/>
          <p:nvPr/>
        </p:nvSpPr>
        <p:spPr>
          <a:xfrm>
            <a:off x="7150608" y="2624328"/>
            <a:ext cx="4370832" cy="310896"/>
          </a:xfrm>
          <a:prstGeom prst="rect">
            <a:avLst/>
          </a:prstGeom>
          <a:noFill/>
          <a:ln/>
        </p:spPr>
        <p:txBody>
          <a:bodyPr wrap="square" lIns="0" tIns="0" rIns="0" bIns="0" rtlCol="0" anchor="ctr"/>
          <a:lstStyle/>
          <a:p>
            <a:pPr indent="0" marL="0">
              <a:buNone/>
            </a:pPr>
            <a:r>
              <a:rPr lang="en-US" sz="1500" b="1" dirty="0">
                <a:solidFill>
                  <a:srgbClr val="14213D"/>
                </a:solidFill>
              </a:rPr>
              <a:t>Capacity matched to the BiLSTM</a:t>
            </a:r>
            <a:endParaRPr lang="en-US" sz="1500" dirty="0"/>
          </a:p>
        </p:txBody>
      </p:sp>
      <p:sp>
        <p:nvSpPr>
          <p:cNvPr id="26" name="Text 24"/>
          <p:cNvSpPr txBox="1"/>
          <p:nvPr/>
        </p:nvSpPr>
        <p:spPr>
          <a:xfrm>
            <a:off x="7150608" y="2944368"/>
            <a:ext cx="437083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d_model 128, 4 heads, 2 layers, d_ff 256 — 265,732 non-embedding parameters, within 0.19% of Model A.</a:t>
            </a:r>
            <a:endParaRPr lang="en-US" sz="1250" dirty="0"/>
          </a:p>
        </p:txBody>
      </p:sp>
      <p:sp>
        <p:nvSpPr>
          <p:cNvPr id="27" name="badge-3"/>
          <p:cNvSpPr/>
          <p:nvPr/>
        </p:nvSpPr>
        <p:spPr>
          <a:xfrm>
            <a:off x="6583680" y="3977640"/>
            <a:ext cx="384048" cy="384048"/>
          </a:xfrm>
          <a:prstGeom prst="ellipse">
            <a:avLst/>
          </a:prstGeom>
          <a:solidFill>
            <a:srgbClr val="2A78D6"/>
          </a:solidFill>
          <a:ln/>
        </p:spPr>
      </p:sp>
      <p:sp>
        <p:nvSpPr>
          <p:cNvPr id="28" name="Text 26"/>
          <p:cNvSpPr txBox="1"/>
          <p:nvPr/>
        </p:nvSpPr>
        <p:spPr>
          <a:xfrm>
            <a:off x="6583680" y="3977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9" name="Text 27"/>
          <p:cNvSpPr txBox="1"/>
          <p:nvPr/>
        </p:nvSpPr>
        <p:spPr>
          <a:xfrm>
            <a:off x="7150608" y="3950208"/>
            <a:ext cx="4370832" cy="310896"/>
          </a:xfrm>
          <a:prstGeom prst="rect">
            <a:avLst/>
          </a:prstGeom>
          <a:noFill/>
          <a:ln/>
        </p:spPr>
        <p:txBody>
          <a:bodyPr wrap="square" lIns="0" tIns="0" rIns="0" bIns="0" rtlCol="0" anchor="ctr"/>
          <a:lstStyle/>
          <a:p>
            <a:pPr indent="0" marL="0">
              <a:buNone/>
            </a:pPr>
            <a:r>
              <a:rPr lang="en-US" sz="1500" b="1" dirty="0">
                <a:solidFill>
                  <a:srgbClr val="14213D"/>
                </a:solidFill>
              </a:rPr>
              <a:t>Nothing borrowed from the library</a:t>
            </a:r>
            <a:endParaRPr lang="en-US" sz="1500" dirty="0"/>
          </a:p>
        </p:txBody>
      </p:sp>
      <p:sp>
        <p:nvSpPr>
          <p:cNvPr id="30" name="Text 28"/>
          <p:cNvSpPr txBox="1"/>
          <p:nvPr/>
        </p:nvSpPr>
        <p:spPr>
          <a:xfrm>
            <a:off x="7150608" y="4270248"/>
            <a:ext cx="437083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No nn.MultiheadAttention, no nn.TransformerEncoderLayer, no nn.LayerNorm, no F.scaled_dot_product_attention.</a:t>
            </a:r>
            <a:endParaRPr lang="en-US" sz="125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Matched capacity makes it an architecture comparison</a:t>
            </a:r>
            <a:endParaRPr lang="en-US" sz="3000" dirty="0"/>
          </a:p>
        </p:txBody>
      </p:sp>
      <p:sp>
        <p:nvSpPr>
          <p:cNvPr id="3" name="stat-BiLSTM"/>
          <p:cNvSpPr/>
          <p:nvPr/>
        </p:nvSpPr>
        <p:spPr>
          <a:xfrm>
            <a:off x="640080" y="1645920"/>
            <a:ext cx="3291840" cy="2011680"/>
          </a:xfrm>
          <a:prstGeom prst="roundRect">
            <a:avLst>
              <a:gd name="adj" fmla="val 4545"/>
            </a:avLst>
          </a:prstGeom>
          <a:solidFill>
            <a:srgbClr val="1E3356"/>
          </a:solidFill>
          <a:ln w="12700">
            <a:solidFill>
              <a:srgbClr val="333333"/>
            </a:solidFill>
            <a:prstDash val="solid"/>
          </a:ln>
        </p:spPr>
      </p:sp>
      <p:sp>
        <p:nvSpPr>
          <p:cNvPr id="4" name="Text 2"/>
          <p:cNvSpPr txBox="1"/>
          <p:nvPr/>
        </p:nvSpPr>
        <p:spPr>
          <a:xfrm>
            <a:off x="777240" y="1737360"/>
            <a:ext cx="3017520" cy="1046074"/>
          </a:xfrm>
          <a:prstGeom prst="rect">
            <a:avLst/>
          </a:prstGeom>
          <a:noFill/>
          <a:ln/>
        </p:spPr>
        <p:txBody>
          <a:bodyPr wrap="square" lIns="0" tIns="0" rIns="0" bIns="0" rtlCol="0" anchor="ctr"/>
          <a:lstStyle/>
          <a:p>
            <a:pPr algn="ctr" indent="0" marL="0">
              <a:buNone/>
            </a:pPr>
            <a:r>
              <a:rPr lang="en-US" sz="4000" b="1" dirty="0">
                <a:solidFill>
                  <a:srgbClr val="2A78D6"/>
                </a:solidFill>
                <a:latin typeface="Cambria" pitchFamily="34" charset="0"/>
                <a:ea typeface="Cambria" pitchFamily="34" charset="-122"/>
                <a:cs typeface="Cambria" pitchFamily="34" charset="-120"/>
              </a:rPr>
              <a:t>265,220</a:t>
            </a:r>
            <a:endParaRPr lang="en-US" sz="4000" dirty="0"/>
          </a:p>
        </p:txBody>
      </p:sp>
      <p:sp>
        <p:nvSpPr>
          <p:cNvPr id="5" name="Text 3"/>
          <p:cNvSpPr txBox="1"/>
          <p:nvPr/>
        </p:nvSpPr>
        <p:spPr>
          <a:xfrm>
            <a:off x="777240" y="2783434"/>
            <a:ext cx="3017520" cy="274320"/>
          </a:xfrm>
          <a:prstGeom prst="rect">
            <a:avLst/>
          </a:prstGeom>
          <a:noFill/>
          <a:ln/>
        </p:spPr>
        <p:txBody>
          <a:bodyPr wrap="square" lIns="0" tIns="0" rIns="0" bIns="0" rtlCol="0" anchor="ctr"/>
          <a:lstStyle/>
          <a:p>
            <a:pPr algn="ctr" indent="0" marL="0">
              <a:buNone/>
            </a:pPr>
            <a:r>
              <a:rPr lang="en-US" sz="1300" b="1" dirty="0">
                <a:solidFill>
                  <a:srgbClr val="FFFFFF"/>
                </a:solidFill>
              </a:rPr>
              <a:t>BiLSTM</a:t>
            </a:r>
            <a:endParaRPr lang="en-US" sz="1300" dirty="0"/>
          </a:p>
        </p:txBody>
      </p:sp>
      <p:sp>
        <p:nvSpPr>
          <p:cNvPr id="6" name="Text 4"/>
          <p:cNvSpPr txBox="1"/>
          <p:nvPr/>
        </p:nvSpPr>
        <p:spPr>
          <a:xfrm>
            <a:off x="749808" y="3094330"/>
            <a:ext cx="3072384" cy="490118"/>
          </a:xfrm>
          <a:prstGeom prst="rect">
            <a:avLst/>
          </a:prstGeom>
          <a:noFill/>
          <a:ln/>
        </p:spPr>
        <p:txBody>
          <a:bodyPr wrap="square" lIns="0" tIns="0" rIns="0" bIns="0" rtlCol="0" anchor="t"/>
          <a:lstStyle/>
          <a:p>
            <a:pPr algn="ctr" indent="0" marL="0">
              <a:lnSpc>
                <a:spcPct val="100000"/>
              </a:lnSpc>
              <a:buNone/>
            </a:pPr>
            <a:r>
              <a:rPr lang="en-US" sz="1050" dirty="0">
                <a:solidFill>
                  <a:srgbClr val="AEBCD1"/>
                </a:solidFill>
              </a:rPr>
              <a:t>non-embedding parameters</a:t>
            </a:r>
            <a:endParaRPr lang="en-US" sz="1050" dirty="0"/>
          </a:p>
        </p:txBody>
      </p:sp>
      <p:sp>
        <p:nvSpPr>
          <p:cNvPr id="7" name="stat-Transformer"/>
          <p:cNvSpPr/>
          <p:nvPr/>
        </p:nvSpPr>
        <p:spPr>
          <a:xfrm>
            <a:off x="4206240" y="1645920"/>
            <a:ext cx="3291840" cy="2011680"/>
          </a:xfrm>
          <a:prstGeom prst="roundRect">
            <a:avLst>
              <a:gd name="adj" fmla="val 4545"/>
            </a:avLst>
          </a:prstGeom>
          <a:solidFill>
            <a:srgbClr val="1E3356"/>
          </a:solidFill>
          <a:ln w="12700">
            <a:solidFill>
              <a:srgbClr val="333333"/>
            </a:solidFill>
            <a:prstDash val="solid"/>
          </a:ln>
        </p:spPr>
      </p:sp>
      <p:sp>
        <p:nvSpPr>
          <p:cNvPr id="8" name="Text 6"/>
          <p:cNvSpPr txBox="1"/>
          <p:nvPr/>
        </p:nvSpPr>
        <p:spPr>
          <a:xfrm>
            <a:off x="4343400" y="1737360"/>
            <a:ext cx="3017520" cy="1046074"/>
          </a:xfrm>
          <a:prstGeom prst="rect">
            <a:avLst/>
          </a:prstGeom>
          <a:noFill/>
          <a:ln/>
        </p:spPr>
        <p:txBody>
          <a:bodyPr wrap="square" lIns="0" tIns="0" rIns="0" bIns="0" rtlCol="0" anchor="ctr"/>
          <a:lstStyle/>
          <a:p>
            <a:pPr algn="ctr" indent="0" marL="0">
              <a:buNone/>
            </a:pPr>
            <a:r>
              <a:rPr lang="en-US" sz="4000" b="1" dirty="0">
                <a:solidFill>
                  <a:srgbClr val="EB6834"/>
                </a:solidFill>
                <a:latin typeface="Cambria" pitchFamily="34" charset="0"/>
                <a:ea typeface="Cambria" pitchFamily="34" charset="-122"/>
                <a:cs typeface="Cambria" pitchFamily="34" charset="-120"/>
              </a:rPr>
              <a:t>265,732</a:t>
            </a:r>
            <a:endParaRPr lang="en-US" sz="4000" dirty="0"/>
          </a:p>
        </p:txBody>
      </p:sp>
      <p:sp>
        <p:nvSpPr>
          <p:cNvPr id="9" name="Text 7"/>
          <p:cNvSpPr txBox="1"/>
          <p:nvPr/>
        </p:nvSpPr>
        <p:spPr>
          <a:xfrm>
            <a:off x="4343400" y="2783434"/>
            <a:ext cx="3017520" cy="274320"/>
          </a:xfrm>
          <a:prstGeom prst="rect">
            <a:avLst/>
          </a:prstGeom>
          <a:noFill/>
          <a:ln/>
        </p:spPr>
        <p:txBody>
          <a:bodyPr wrap="square" lIns="0" tIns="0" rIns="0" bIns="0" rtlCol="0" anchor="ctr"/>
          <a:lstStyle/>
          <a:p>
            <a:pPr algn="ctr" indent="0" marL="0">
              <a:buNone/>
            </a:pPr>
            <a:r>
              <a:rPr lang="en-US" sz="1300" b="1" dirty="0">
                <a:solidFill>
                  <a:srgbClr val="FFFFFF"/>
                </a:solidFill>
              </a:rPr>
              <a:t>Transformer</a:t>
            </a:r>
            <a:endParaRPr lang="en-US" sz="1300" dirty="0"/>
          </a:p>
        </p:txBody>
      </p:sp>
      <p:sp>
        <p:nvSpPr>
          <p:cNvPr id="10" name="Text 8"/>
          <p:cNvSpPr txBox="1"/>
          <p:nvPr/>
        </p:nvSpPr>
        <p:spPr>
          <a:xfrm>
            <a:off x="4315968" y="3094330"/>
            <a:ext cx="3072384" cy="490118"/>
          </a:xfrm>
          <a:prstGeom prst="rect">
            <a:avLst/>
          </a:prstGeom>
          <a:noFill/>
          <a:ln/>
        </p:spPr>
        <p:txBody>
          <a:bodyPr wrap="square" lIns="0" tIns="0" rIns="0" bIns="0" rtlCol="0" anchor="t"/>
          <a:lstStyle/>
          <a:p>
            <a:pPr algn="ctr" indent="0" marL="0">
              <a:lnSpc>
                <a:spcPct val="100000"/>
              </a:lnSpc>
              <a:buNone/>
            </a:pPr>
            <a:r>
              <a:rPr lang="en-US" sz="1050" dirty="0">
                <a:solidFill>
                  <a:srgbClr val="AEBCD1"/>
                </a:solidFill>
              </a:rPr>
              <a:t>non-embedding parameters</a:t>
            </a:r>
            <a:endParaRPr lang="en-US" sz="1050" dirty="0"/>
          </a:p>
        </p:txBody>
      </p:sp>
      <p:sp>
        <p:nvSpPr>
          <p:cNvPr id="11" name="stat-Difference"/>
          <p:cNvSpPr/>
          <p:nvPr/>
        </p:nvSpPr>
        <p:spPr>
          <a:xfrm>
            <a:off x="7772400" y="1645920"/>
            <a:ext cx="3566160" cy="2011680"/>
          </a:xfrm>
          <a:prstGeom prst="roundRect">
            <a:avLst>
              <a:gd name="adj" fmla="val 4545"/>
            </a:avLst>
          </a:prstGeom>
          <a:solidFill>
            <a:srgbClr val="1E3356"/>
          </a:solidFill>
          <a:ln w="12700">
            <a:solidFill>
              <a:srgbClr val="333333"/>
            </a:solidFill>
            <a:prstDash val="solid"/>
          </a:ln>
        </p:spPr>
      </p:sp>
      <p:sp>
        <p:nvSpPr>
          <p:cNvPr id="12" name="Text 10"/>
          <p:cNvSpPr txBox="1"/>
          <p:nvPr/>
        </p:nvSpPr>
        <p:spPr>
          <a:xfrm>
            <a:off x="7909560" y="1737360"/>
            <a:ext cx="3291840" cy="1046074"/>
          </a:xfrm>
          <a:prstGeom prst="rect">
            <a:avLst/>
          </a:prstGeom>
          <a:noFill/>
          <a:ln/>
        </p:spPr>
        <p:txBody>
          <a:bodyPr wrap="square" lIns="0" tIns="0" rIns="0" bIns="0" rtlCol="0" anchor="ctr"/>
          <a:lstStyle/>
          <a:p>
            <a:pPr algn="ctr" indent="0" marL="0">
              <a:buNone/>
            </a:pPr>
            <a:r>
              <a:rPr lang="en-US" sz="4000" b="1" dirty="0">
                <a:solidFill>
                  <a:srgbClr val="1BAF7A"/>
                </a:solidFill>
                <a:latin typeface="Cambria" pitchFamily="34" charset="0"/>
                <a:ea typeface="Cambria" pitchFamily="34" charset="-122"/>
                <a:cs typeface="Cambria" pitchFamily="34" charset="-120"/>
              </a:rPr>
              <a:t>0.19%</a:t>
            </a:r>
            <a:endParaRPr lang="en-US" sz="4000" dirty="0"/>
          </a:p>
        </p:txBody>
      </p:sp>
      <p:sp>
        <p:nvSpPr>
          <p:cNvPr id="13" name="Text 11"/>
          <p:cNvSpPr txBox="1"/>
          <p:nvPr/>
        </p:nvSpPr>
        <p:spPr>
          <a:xfrm>
            <a:off x="7909560" y="2783434"/>
            <a:ext cx="3291840" cy="274320"/>
          </a:xfrm>
          <a:prstGeom prst="rect">
            <a:avLst/>
          </a:prstGeom>
          <a:noFill/>
          <a:ln/>
        </p:spPr>
        <p:txBody>
          <a:bodyPr wrap="square" lIns="0" tIns="0" rIns="0" bIns="0" rtlCol="0" anchor="ctr"/>
          <a:lstStyle/>
          <a:p>
            <a:pPr algn="ctr" indent="0" marL="0">
              <a:buNone/>
            </a:pPr>
            <a:r>
              <a:rPr lang="en-US" sz="1300" b="1" dirty="0">
                <a:solidFill>
                  <a:srgbClr val="FFFFFF"/>
                </a:solidFill>
              </a:rPr>
              <a:t>Difference</a:t>
            </a:r>
            <a:endParaRPr lang="en-US" sz="1300" dirty="0"/>
          </a:p>
        </p:txBody>
      </p:sp>
      <p:sp>
        <p:nvSpPr>
          <p:cNvPr id="14" name="Text 12"/>
          <p:cNvSpPr txBox="1"/>
          <p:nvPr/>
        </p:nvSpPr>
        <p:spPr>
          <a:xfrm>
            <a:off x="7882128" y="3094330"/>
            <a:ext cx="3346704" cy="490118"/>
          </a:xfrm>
          <a:prstGeom prst="rect">
            <a:avLst/>
          </a:prstGeom>
          <a:noFill/>
          <a:ln/>
        </p:spPr>
        <p:txBody>
          <a:bodyPr wrap="square" lIns="0" tIns="0" rIns="0" bIns="0" rtlCol="0" anchor="t"/>
          <a:lstStyle/>
          <a:p>
            <a:pPr algn="ctr" indent="0" marL="0">
              <a:lnSpc>
                <a:spcPct val="100000"/>
              </a:lnSpc>
              <a:buNone/>
            </a:pPr>
            <a:r>
              <a:rPr lang="en-US" sz="1050" dirty="0">
                <a:solidFill>
                  <a:srgbClr val="AEBCD1"/>
                </a:solidFill>
              </a:rPr>
              <a:t>512 parameters out of ~265,000</a:t>
            </a:r>
            <a:endParaRPr lang="en-US" sz="1050" dirty="0"/>
          </a:p>
        </p:txBody>
      </p:sp>
      <p:sp>
        <p:nvSpPr>
          <p:cNvPr id="15" name="Text 13"/>
          <p:cNvSpPr txBox="1"/>
          <p:nvPr/>
        </p:nvSpPr>
        <p:spPr>
          <a:xfrm>
            <a:off x="640080" y="3977640"/>
            <a:ext cx="108813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Why the non-embedding figure is the one that matters</a:t>
            </a:r>
            <a:endParaRPr lang="en-US" sz="1700" dirty="0"/>
          </a:p>
        </p:txBody>
      </p:sp>
      <p:sp>
        <p:nvSpPr>
          <p:cNvPr id="16" name="Text 14"/>
          <p:cNvSpPr txBox="1"/>
          <p:nvPr/>
        </p:nvSpPr>
        <p:spPr>
          <a:xfrm>
            <a:off x="640080" y="4434840"/>
            <a:ext cx="10881360" cy="1371600"/>
          </a:xfrm>
          <a:prstGeom prst="rect">
            <a:avLst/>
          </a:prstGeom>
          <a:noFill/>
          <a:ln/>
        </p:spPr>
        <p:txBody>
          <a:bodyPr wrap="square" lIns="0" tIns="0" rIns="0" bIns="0" rtlCol="0" anchor="ctr"/>
          <a:lstStyle/>
          <a:p>
            <a:pPr indent="0" marL="0">
              <a:lnSpc>
                <a:spcPct val="115000"/>
              </a:lnSpc>
              <a:buNone/>
            </a:pPr>
            <a:r>
              <a:rPr lang="en-US" sz="1400" dirty="0">
                <a:solidFill>
                  <a:srgbClr val="CBD6E6"/>
                </a:solidFill>
              </a:rPr>
              <a:t>The shared embedding table holds 4,347,392 parameters — about 94% of each model's 4.61M total. Quoting totals would make the two models look 0.01% apart, which is true but says nothing about architecture. Stripping the embeddings out leaves the parts that actually differ, and those are matched to within 512 parameters. No performance difference observed later can reasonably be attributed to model size.</a:t>
            </a:r>
            <a:endParaRPr lang="en-US" sz="140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Proving the hand-written layers are actually correct</a:t>
            </a:r>
            <a:endParaRPr lang="en-US" sz="3000" dirty="0"/>
          </a:p>
        </p:txBody>
      </p:sp>
      <p:sp>
        <p:nvSpPr>
          <p:cNvPr id="3" name="Text 1"/>
          <p:cNvSpPr txBox="1"/>
          <p:nvPr/>
        </p:nvSpPr>
        <p:spPr>
          <a:xfrm>
            <a:off x="640080" y="1188720"/>
            <a:ext cx="10881360" cy="548640"/>
          </a:xfrm>
          <a:prstGeom prst="rect">
            <a:avLst/>
          </a:prstGeom>
          <a:noFill/>
          <a:ln/>
        </p:spPr>
        <p:txBody>
          <a:bodyPr wrap="square" lIns="0" tIns="0" rIns="0" bIns="0" rtlCol="0" anchor="ctr"/>
          <a:lstStyle/>
          <a:p>
            <a:pPr indent="0" marL="0">
              <a:buNone/>
            </a:pPr>
            <a:r>
              <a:rPr lang="en-US" sz="1400" i="1" dirty="0">
                <a:solidFill>
                  <a:srgbClr val="14213D"/>
                </a:solidFill>
              </a:rPr>
              <a:t>A hand-written layer that is subtly wrong does not crash. It trains, converges, and reports an accuracy two or three points low — exactly the size of an “architectural finding”.</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881360" cy="914400"/>
        </p:xfrm>
        <a:graphic>
          <a:graphicData uri="http://schemas.openxmlformats.org/drawingml/2006/table">
            <a:tbl>
              <a:tblPr/>
              <a:tblGrid>
                <a:gridCol w="3291840"/>
                <a:gridCol w="5120640"/>
                <a:gridCol w="2468880"/>
              </a:tblGrid>
              <a:tr h="301752">
                <a:tc>
                  <a:txBody>
                    <a:bodyPr/>
                    <a:lstStyle/>
                    <a:p>
                      <a:pPr indent="0" marL="0">
                        <a:buNone/>
                      </a:pPr>
                      <a:r>
                        <a:rPr lang="en-US" sz="1250" b="1" dirty="0">
                          <a:solidFill>
                            <a:srgbClr val="FFFFFF"/>
                          </a:solidFill>
                        </a:rPr>
                        <a:t>Check</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rPr>
                        <a:t>What it rules out</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rPr>
                        <a:t>Measured</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r>
              <a:tr h="301752">
                <a:tc>
                  <a:txBody>
                    <a:bodyPr/>
                    <a:lstStyle/>
                    <a:p>
                      <a:pPr indent="0" marL="0">
                        <a:buNone/>
                      </a:pPr>
                      <a:r>
                        <a:rPr lang="en-US" sz="1250" dirty="0">
                          <a:solidFill>
                            <a:srgbClr val="14213D"/>
                          </a:solidFill>
                        </a:rPr>
                        <a:t>LSTM cell vs nn.LSTM</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Wrong gate order or algebra, misplaced bias</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5.96e-08</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250" dirty="0">
                          <a:solidFill>
                            <a:srgbClr val="14213D"/>
                          </a:solidFill>
                        </a:rPr>
                        <a:t>Layer norm vs reference</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Biased vs unbiased variance</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4.77e-07</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250" dirty="0">
                          <a:solidFill>
                            <a:srgbClr val="14213D"/>
                          </a:solidFill>
                        </a:rPr>
                        <a:t>Attention vs per-head loop</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Wrong head split / merge reshape</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8.94e-08</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250" dirty="0">
                          <a:solidFill>
                            <a:srgbClr val="14213D"/>
                          </a:solidFill>
                        </a:rPr>
                        <a:t>Attention rows sum to 1</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Softmax over the wrong axis</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1.79e-07</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250" dirty="0">
                          <a:solidFill>
                            <a:srgbClr val="14213D"/>
                          </a:solidFill>
                        </a:rPr>
                        <a:t>Padded keys get no mass</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Mask never reaching the scores</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0.00e+00</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250" b="1" dirty="0">
                          <a:solidFill>
                            <a:srgbClr val="14213D"/>
                          </a:solidFill>
                        </a:rPr>
                        <a:t>BiLSTM padding invariance</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b="1" dirty="0">
                          <a:solidFill>
                            <a:srgbClr val="14213D"/>
                          </a:solidFill>
                        </a:rPr>
                        <a:t>Unmasked state, wrong backward start</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b="1" dirty="0">
                          <a:solidFill>
                            <a:srgbClr val="14213D"/>
                          </a:solidFill>
                        </a:rPr>
                        <a:t>0.00e+00</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250" b="1" dirty="0">
                          <a:solidFill>
                            <a:srgbClr val="14213D"/>
                          </a:solidFill>
                        </a:rPr>
                        <a:t>Transformer padding invariance</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b="1" dirty="0">
                          <a:solidFill>
                            <a:srgbClr val="14213D"/>
                          </a:solidFill>
                        </a:rPr>
                        <a:t>Padding leaking into pooling</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b="1" dirty="0">
                          <a:solidFill>
                            <a:srgbClr val="14213D"/>
                          </a:solidFill>
                        </a:rPr>
                        <a:t>1.19e-07</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250" dirty="0">
                          <a:solidFill>
                            <a:srgbClr val="14213D"/>
                          </a:solidFill>
                        </a:rPr>
                        <a:t>Both models overfit 200 examples</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Dead gradients, broken backward path</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100%</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bl>
          </a:graphicData>
        </a:graphic>
      </p:graphicFrame>
      <p:sp>
        <p:nvSpPr>
          <p:cNvPr id="5" name="pass-banner"/>
          <p:cNvSpPr/>
          <p:nvPr/>
        </p:nvSpPr>
        <p:spPr>
          <a:xfrm>
            <a:off x="640080" y="5120640"/>
            <a:ext cx="10881360" cy="777240"/>
          </a:xfrm>
          <a:prstGeom prst="roundRect">
            <a:avLst>
              <a:gd name="adj" fmla="val 9412"/>
            </a:avLst>
          </a:prstGeom>
          <a:solidFill>
            <a:srgbClr val="E6F6EF"/>
          </a:solidFill>
          <a:ln w="12700">
            <a:solidFill>
              <a:srgbClr val="333333"/>
            </a:solidFill>
            <a:prstDash val="solid"/>
          </a:ln>
        </p:spPr>
      </p:sp>
      <p:sp>
        <p:nvSpPr>
          <p:cNvPr id="6" name="Text 3"/>
          <p:cNvSpPr txBox="1"/>
          <p:nvPr/>
        </p:nvSpPr>
        <p:spPr>
          <a:xfrm>
            <a:off x="914400" y="5120640"/>
            <a:ext cx="10332720" cy="777240"/>
          </a:xfrm>
          <a:prstGeom prst="rect">
            <a:avLst/>
          </a:prstGeom>
          <a:noFill/>
          <a:ln/>
        </p:spPr>
        <p:txBody>
          <a:bodyPr wrap="square" lIns="0" tIns="0" rIns="0" bIns="0" rtlCol="0" anchor="ctr"/>
          <a:lstStyle/>
          <a:p>
            <a:pPr indent="0" marL="0">
              <a:buNone/>
            </a:pPr>
            <a:r>
              <a:rPr lang="en-US" sz="1350" b="1" dirty="0">
                <a:solidFill>
                  <a:srgbClr val="0E6B4A"/>
                </a:solidFill>
              </a:rPr>
              <a:t>All 9 checks pass, and they run before training on every execution — the suite asserts, so results cannot be produced from an unverified implementation.</a:t>
            </a:r>
            <a:endParaRPr lang="en-US" sz="135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Both models overfit fast — early stopping did the work</a:t>
            </a:r>
            <a:endParaRPr lang="en-US" sz="3000" dirty="0"/>
          </a:p>
        </p:txBody>
      </p:sp>
      <p:pic>
        <p:nvPicPr>
          <p:cNvPr id="3" name="Image 0" descr="fig3_learning_curves.png">    </p:cNvPr>
          <p:cNvPicPr>
            <a:picLocks noChangeAspect="1"/>
          </p:cNvPicPr>
          <p:nvPr/>
        </p:nvPicPr>
        <p:blipFill>
          <a:blip r:embed="rId1"/>
          <a:stretch>
            <a:fillRect/>
          </a:stretch>
        </p:blipFill>
        <p:spPr>
          <a:xfrm>
            <a:off x="640080" y="1280160"/>
            <a:ext cx="7772400" cy="2651760"/>
          </a:xfrm>
          <a:prstGeom prst="rect">
            <a:avLst/>
          </a:prstGeom>
        </p:spPr>
      </p:pic>
      <p:sp>
        <p:nvSpPr>
          <p:cNvPr id="4" name="card-What the curves show"/>
          <p:cNvSpPr/>
          <p:nvPr/>
        </p:nvSpPr>
        <p:spPr>
          <a:xfrm>
            <a:off x="8686800" y="1280160"/>
            <a:ext cx="2834640" cy="2651760"/>
          </a:xfrm>
          <a:prstGeom prst="roundRect">
            <a:avLst>
              <a:gd name="adj" fmla="val 2759"/>
            </a:avLst>
          </a:prstGeom>
          <a:solidFill>
            <a:srgbClr val="EDF2F7"/>
          </a:solidFill>
          <a:ln w="12700">
            <a:solidFill>
              <a:srgbClr val="333333"/>
            </a:solidFill>
            <a:prstDash val="solid"/>
          </a:ln>
        </p:spPr>
      </p:sp>
      <p:sp>
        <p:nvSpPr>
          <p:cNvPr id="5" name="Text 2"/>
          <p:cNvSpPr txBox="1"/>
          <p:nvPr/>
        </p:nvSpPr>
        <p:spPr>
          <a:xfrm>
            <a:off x="8887968" y="1444752"/>
            <a:ext cx="2432304" cy="292608"/>
          </a:xfrm>
          <a:prstGeom prst="rect">
            <a:avLst/>
          </a:prstGeom>
          <a:noFill/>
          <a:ln/>
        </p:spPr>
        <p:txBody>
          <a:bodyPr wrap="square" lIns="0" tIns="0" rIns="0" bIns="0" rtlCol="0" anchor="ctr"/>
          <a:lstStyle/>
          <a:p>
            <a:pPr indent="0" marL="0">
              <a:buNone/>
            </a:pPr>
            <a:r>
              <a:rPr lang="en-US" sz="1400" b="1" dirty="0">
                <a:solidFill>
                  <a:srgbClr val="2A78D6"/>
                </a:solidFill>
              </a:rPr>
              <a:t>What the curves show</a:t>
            </a:r>
            <a:endParaRPr lang="en-US" sz="1400" dirty="0"/>
          </a:p>
        </p:txBody>
      </p:sp>
      <p:sp>
        <p:nvSpPr>
          <p:cNvPr id="6" name="Text 3"/>
          <p:cNvSpPr txBox="1"/>
          <p:nvPr/>
        </p:nvSpPr>
        <p:spPr>
          <a:xfrm>
            <a:off x="8887968" y="1773936"/>
            <a:ext cx="2432304" cy="199339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Training loss keeps falling while validation loss climbs from epoch 2 in both models.</a:t>
            </a:r>
            <a:endParaRPr lang="en-US" sz="1200" dirty="0"/>
          </a:p>
          <a:p>
            <a:pPr indent="0" marL="0">
              <a:lnSpc>
                <a:spcPct val="108000"/>
              </a:lnSpc>
              <a:buNone/>
            </a:pPr>
            <a:endParaRPr lang="en-US" sz="1200" dirty="0"/>
          </a:p>
          <a:p>
            <a:pPr indent="0" marL="0">
              <a:lnSpc>
                <a:spcPct val="108000"/>
              </a:lnSpc>
              <a:buNone/>
            </a:pPr>
            <a:r>
              <a:rPr lang="en-US" sz="1200" dirty="0">
                <a:solidFill>
                  <a:srgbClr val="3D5A80"/>
                </a:solidFill>
              </a:rPr>
              <a:t>The BiLSTM peaked after a single epoch; the Transformer at epoch 3.</a:t>
            </a:r>
            <a:endParaRPr lang="en-US" sz="1200" dirty="0"/>
          </a:p>
          <a:p>
            <a:pPr indent="0" marL="0">
              <a:lnSpc>
                <a:spcPct val="108000"/>
              </a:lnSpc>
              <a:buNone/>
            </a:pPr>
            <a:endParaRPr lang="en-US" sz="1200" dirty="0"/>
          </a:p>
          <a:p>
            <a:pPr indent="0" marL="0">
              <a:lnSpc>
                <a:spcPct val="108000"/>
              </a:lnSpc>
              <a:buNone/>
            </a:pPr>
            <a:r>
              <a:rPr lang="en-US" sz="1200" dirty="0">
                <a:solidFill>
                  <a:srgbClr val="3D5A80"/>
                </a:solidFill>
              </a:rPr>
              <a:t>The 8-epoch cap was never the binding constraint.</a:t>
            </a:r>
            <a:endParaRPr lang="en-US" sz="1200" dirty="0"/>
          </a:p>
        </p:txBody>
      </p:sp>
      <p:sp>
        <p:nvSpPr>
          <p:cNvPr id="7" name="stat-BiLSTM best epoch"/>
          <p:cNvSpPr/>
          <p:nvPr/>
        </p:nvSpPr>
        <p:spPr>
          <a:xfrm>
            <a:off x="640080" y="4206240"/>
            <a:ext cx="2514600" cy="1691640"/>
          </a:xfrm>
          <a:prstGeom prst="roundRect">
            <a:avLst>
              <a:gd name="adj" fmla="val 5405"/>
            </a:avLst>
          </a:prstGeom>
          <a:solidFill>
            <a:srgbClr val="EDF2F7"/>
          </a:solidFill>
          <a:ln w="12700">
            <a:solidFill>
              <a:srgbClr val="333333"/>
            </a:solidFill>
            <a:prstDash val="solid"/>
          </a:ln>
        </p:spPr>
      </p:sp>
      <p:sp>
        <p:nvSpPr>
          <p:cNvPr id="8" name="Text 5"/>
          <p:cNvSpPr txBox="1"/>
          <p:nvPr/>
        </p:nvSpPr>
        <p:spPr>
          <a:xfrm>
            <a:off x="777240" y="4297680"/>
            <a:ext cx="2240280" cy="879653"/>
          </a:xfrm>
          <a:prstGeom prst="rect">
            <a:avLst/>
          </a:prstGeom>
          <a:noFill/>
          <a:ln/>
        </p:spPr>
        <p:txBody>
          <a:bodyPr wrap="square" lIns="0" tIns="0" rIns="0" bIns="0" rtlCol="0" anchor="ctr"/>
          <a:lstStyle/>
          <a:p>
            <a:pPr algn="ctr" indent="0" marL="0">
              <a:buNone/>
            </a:pPr>
            <a:r>
              <a:rPr lang="en-US" sz="4000" b="1" dirty="0">
                <a:solidFill>
                  <a:srgbClr val="2A78D6"/>
                </a:solidFill>
                <a:latin typeface="Cambria" pitchFamily="34" charset="0"/>
                <a:ea typeface="Cambria" pitchFamily="34" charset="-122"/>
                <a:cs typeface="Cambria" pitchFamily="34" charset="-120"/>
              </a:rPr>
              <a:t>1</a:t>
            </a:r>
            <a:endParaRPr lang="en-US" sz="4000" dirty="0"/>
          </a:p>
        </p:txBody>
      </p:sp>
      <p:sp>
        <p:nvSpPr>
          <p:cNvPr id="9" name="Text 6"/>
          <p:cNvSpPr txBox="1"/>
          <p:nvPr/>
        </p:nvSpPr>
        <p:spPr>
          <a:xfrm>
            <a:off x="777240" y="5177333"/>
            <a:ext cx="2240280" cy="274320"/>
          </a:xfrm>
          <a:prstGeom prst="rect">
            <a:avLst/>
          </a:prstGeom>
          <a:noFill/>
          <a:ln/>
        </p:spPr>
        <p:txBody>
          <a:bodyPr wrap="square" lIns="0" tIns="0" rIns="0" bIns="0" rtlCol="0" anchor="ctr"/>
          <a:lstStyle/>
          <a:p>
            <a:pPr algn="ctr" indent="0" marL="0">
              <a:buNone/>
            </a:pPr>
            <a:r>
              <a:rPr lang="en-US" sz="1300" b="1" dirty="0">
                <a:solidFill>
                  <a:srgbClr val="14213D"/>
                </a:solidFill>
              </a:rPr>
              <a:t>BiLSTM best epoch</a:t>
            </a:r>
            <a:endParaRPr lang="en-US" sz="1300" dirty="0"/>
          </a:p>
        </p:txBody>
      </p:sp>
      <p:sp>
        <p:nvSpPr>
          <p:cNvPr id="10" name="Text 7"/>
          <p:cNvSpPr txBox="1"/>
          <p:nvPr/>
        </p:nvSpPr>
        <p:spPr>
          <a:xfrm>
            <a:off x="749808" y="5488229"/>
            <a:ext cx="2295144" cy="336499"/>
          </a:xfrm>
          <a:prstGeom prst="rect">
            <a:avLst/>
          </a:prstGeom>
          <a:noFill/>
          <a:ln/>
        </p:spPr>
        <p:txBody>
          <a:bodyPr wrap="square" lIns="0" tIns="0" rIns="0" bIns="0" rtlCol="0" anchor="t"/>
          <a:lstStyle/>
          <a:p>
            <a:pPr algn="ctr" indent="0" marL="0">
              <a:lnSpc>
                <a:spcPct val="100000"/>
              </a:lnSpc>
              <a:buNone/>
            </a:pPr>
            <a:r>
              <a:rPr lang="en-US" sz="1050" dirty="0">
                <a:solidFill>
                  <a:srgbClr val="6B7A8F"/>
                </a:solidFill>
              </a:rPr>
              <a:t>of 3 run before stopping</a:t>
            </a:r>
            <a:endParaRPr lang="en-US" sz="1050" dirty="0"/>
          </a:p>
        </p:txBody>
      </p:sp>
      <p:sp>
        <p:nvSpPr>
          <p:cNvPr id="11" name="stat-Transformer best epoch"/>
          <p:cNvSpPr/>
          <p:nvPr/>
        </p:nvSpPr>
        <p:spPr>
          <a:xfrm>
            <a:off x="3337560" y="4206240"/>
            <a:ext cx="2514600" cy="1691640"/>
          </a:xfrm>
          <a:prstGeom prst="roundRect">
            <a:avLst>
              <a:gd name="adj" fmla="val 5405"/>
            </a:avLst>
          </a:prstGeom>
          <a:solidFill>
            <a:srgbClr val="EDF2F7"/>
          </a:solidFill>
          <a:ln w="12700">
            <a:solidFill>
              <a:srgbClr val="333333"/>
            </a:solidFill>
            <a:prstDash val="solid"/>
          </a:ln>
        </p:spPr>
      </p:sp>
      <p:sp>
        <p:nvSpPr>
          <p:cNvPr id="12" name="Text 9"/>
          <p:cNvSpPr txBox="1"/>
          <p:nvPr/>
        </p:nvSpPr>
        <p:spPr>
          <a:xfrm>
            <a:off x="3474720" y="4297680"/>
            <a:ext cx="2240280" cy="879653"/>
          </a:xfrm>
          <a:prstGeom prst="rect">
            <a:avLst/>
          </a:prstGeom>
          <a:noFill/>
          <a:ln/>
        </p:spPr>
        <p:txBody>
          <a:bodyPr wrap="square" lIns="0" tIns="0" rIns="0" bIns="0" rtlCol="0" anchor="ctr"/>
          <a:lstStyle/>
          <a:p>
            <a:pPr algn="ctr" indent="0" marL="0">
              <a:buNone/>
            </a:pPr>
            <a:r>
              <a:rPr lang="en-US" sz="4000" b="1" dirty="0">
                <a:solidFill>
                  <a:srgbClr val="EB6834"/>
                </a:solidFill>
                <a:latin typeface="Cambria" pitchFamily="34" charset="0"/>
                <a:ea typeface="Cambria" pitchFamily="34" charset="-122"/>
                <a:cs typeface="Cambria" pitchFamily="34" charset="-120"/>
              </a:rPr>
              <a:t>3</a:t>
            </a:r>
            <a:endParaRPr lang="en-US" sz="4000" dirty="0"/>
          </a:p>
        </p:txBody>
      </p:sp>
      <p:sp>
        <p:nvSpPr>
          <p:cNvPr id="13" name="Text 10"/>
          <p:cNvSpPr txBox="1"/>
          <p:nvPr/>
        </p:nvSpPr>
        <p:spPr>
          <a:xfrm>
            <a:off x="3474720" y="5177333"/>
            <a:ext cx="2240280" cy="274320"/>
          </a:xfrm>
          <a:prstGeom prst="rect">
            <a:avLst/>
          </a:prstGeom>
          <a:noFill/>
          <a:ln/>
        </p:spPr>
        <p:txBody>
          <a:bodyPr wrap="square" lIns="0" tIns="0" rIns="0" bIns="0" rtlCol="0" anchor="ctr"/>
          <a:lstStyle/>
          <a:p>
            <a:pPr algn="ctr" indent="0" marL="0">
              <a:buNone/>
            </a:pPr>
            <a:r>
              <a:rPr lang="en-US" sz="1300" b="1" dirty="0">
                <a:solidFill>
                  <a:srgbClr val="14213D"/>
                </a:solidFill>
              </a:rPr>
              <a:t>Transformer best epoch</a:t>
            </a:r>
            <a:endParaRPr lang="en-US" sz="1300" dirty="0"/>
          </a:p>
        </p:txBody>
      </p:sp>
      <p:sp>
        <p:nvSpPr>
          <p:cNvPr id="14" name="Text 11"/>
          <p:cNvSpPr txBox="1"/>
          <p:nvPr/>
        </p:nvSpPr>
        <p:spPr>
          <a:xfrm>
            <a:off x="3447288" y="5488229"/>
            <a:ext cx="2295144" cy="336499"/>
          </a:xfrm>
          <a:prstGeom prst="rect">
            <a:avLst/>
          </a:prstGeom>
          <a:noFill/>
          <a:ln/>
        </p:spPr>
        <p:txBody>
          <a:bodyPr wrap="square" lIns="0" tIns="0" rIns="0" bIns="0" rtlCol="0" anchor="t"/>
          <a:lstStyle/>
          <a:p>
            <a:pPr algn="ctr" indent="0" marL="0">
              <a:lnSpc>
                <a:spcPct val="100000"/>
              </a:lnSpc>
              <a:buNone/>
            </a:pPr>
            <a:r>
              <a:rPr lang="en-US" sz="1050" dirty="0">
                <a:solidFill>
                  <a:srgbClr val="6B7A8F"/>
                </a:solidFill>
              </a:rPr>
              <a:t>of 5 run before stopping</a:t>
            </a:r>
            <a:endParaRPr lang="en-US" sz="1050" dirty="0"/>
          </a:p>
        </p:txBody>
      </p:sp>
      <p:sp>
        <p:nvSpPr>
          <p:cNvPr id="15" name="stat-Best val macro-F1"/>
          <p:cNvSpPr/>
          <p:nvPr/>
        </p:nvSpPr>
        <p:spPr>
          <a:xfrm>
            <a:off x="6035040" y="4206240"/>
            <a:ext cx="2514600" cy="1691640"/>
          </a:xfrm>
          <a:prstGeom prst="roundRect">
            <a:avLst>
              <a:gd name="adj" fmla="val 5405"/>
            </a:avLst>
          </a:prstGeom>
          <a:solidFill>
            <a:srgbClr val="EDF2F7"/>
          </a:solidFill>
          <a:ln w="12700">
            <a:solidFill>
              <a:srgbClr val="333333"/>
            </a:solidFill>
            <a:prstDash val="solid"/>
          </a:ln>
        </p:spPr>
      </p:sp>
      <p:sp>
        <p:nvSpPr>
          <p:cNvPr id="16" name="Text 13"/>
          <p:cNvSpPr txBox="1"/>
          <p:nvPr/>
        </p:nvSpPr>
        <p:spPr>
          <a:xfrm>
            <a:off x="6172200" y="4297680"/>
            <a:ext cx="2240280" cy="879653"/>
          </a:xfrm>
          <a:prstGeom prst="rect">
            <a:avLst/>
          </a:prstGeom>
          <a:noFill/>
          <a:ln/>
        </p:spPr>
        <p:txBody>
          <a:bodyPr wrap="square" lIns="0" tIns="0" rIns="0" bIns="0" rtlCol="0" anchor="ctr"/>
          <a:lstStyle/>
          <a:p>
            <a:pPr algn="ctr" indent="0" marL="0">
              <a:buNone/>
            </a:pPr>
            <a:r>
              <a:rPr lang="en-US" sz="4000" b="1" dirty="0">
                <a:solidFill>
                  <a:srgbClr val="2A78D6"/>
                </a:solidFill>
                <a:latin typeface="Cambria" pitchFamily="34" charset="0"/>
                <a:ea typeface="Cambria" pitchFamily="34" charset="-122"/>
                <a:cs typeface="Cambria" pitchFamily="34" charset="-120"/>
              </a:rPr>
              <a:t>0.9091</a:t>
            </a:r>
            <a:endParaRPr lang="en-US" sz="4000" dirty="0"/>
          </a:p>
        </p:txBody>
      </p:sp>
      <p:sp>
        <p:nvSpPr>
          <p:cNvPr id="17" name="Text 14"/>
          <p:cNvSpPr txBox="1"/>
          <p:nvPr/>
        </p:nvSpPr>
        <p:spPr>
          <a:xfrm>
            <a:off x="6172200" y="5177333"/>
            <a:ext cx="2240280" cy="274320"/>
          </a:xfrm>
          <a:prstGeom prst="rect">
            <a:avLst/>
          </a:prstGeom>
          <a:noFill/>
          <a:ln/>
        </p:spPr>
        <p:txBody>
          <a:bodyPr wrap="square" lIns="0" tIns="0" rIns="0" bIns="0" rtlCol="0" anchor="ctr"/>
          <a:lstStyle/>
          <a:p>
            <a:pPr algn="ctr" indent="0" marL="0">
              <a:buNone/>
            </a:pPr>
            <a:r>
              <a:rPr lang="en-US" sz="1300" b="1" dirty="0">
                <a:solidFill>
                  <a:srgbClr val="14213D"/>
                </a:solidFill>
              </a:rPr>
              <a:t>Best val macro-F1</a:t>
            </a:r>
            <a:endParaRPr lang="en-US" sz="1300" dirty="0"/>
          </a:p>
        </p:txBody>
      </p:sp>
      <p:sp>
        <p:nvSpPr>
          <p:cNvPr id="18" name="Text 15"/>
          <p:cNvSpPr txBox="1"/>
          <p:nvPr/>
        </p:nvSpPr>
        <p:spPr>
          <a:xfrm>
            <a:off x="6144768" y="5488229"/>
            <a:ext cx="2295144" cy="336499"/>
          </a:xfrm>
          <a:prstGeom prst="rect">
            <a:avLst/>
          </a:prstGeom>
          <a:noFill/>
          <a:ln/>
        </p:spPr>
        <p:txBody>
          <a:bodyPr wrap="square" lIns="0" tIns="0" rIns="0" bIns="0" rtlCol="0" anchor="t"/>
          <a:lstStyle/>
          <a:p>
            <a:pPr algn="ctr" indent="0" marL="0">
              <a:lnSpc>
                <a:spcPct val="100000"/>
              </a:lnSpc>
              <a:buNone/>
            </a:pPr>
            <a:r>
              <a:rPr lang="en-US" sz="1050" dirty="0">
                <a:solidFill>
                  <a:srgbClr val="6B7A8F"/>
                </a:solidFill>
              </a:rPr>
              <a:t>BiLSTM</a:t>
            </a:r>
            <a:endParaRPr lang="en-US" sz="1050" dirty="0"/>
          </a:p>
        </p:txBody>
      </p:sp>
      <p:sp>
        <p:nvSpPr>
          <p:cNvPr id="19" name="stat-Best val macro-F1"/>
          <p:cNvSpPr/>
          <p:nvPr/>
        </p:nvSpPr>
        <p:spPr>
          <a:xfrm>
            <a:off x="8732520" y="4206240"/>
            <a:ext cx="2514600" cy="1691640"/>
          </a:xfrm>
          <a:prstGeom prst="roundRect">
            <a:avLst>
              <a:gd name="adj" fmla="val 5405"/>
            </a:avLst>
          </a:prstGeom>
          <a:solidFill>
            <a:srgbClr val="EDF2F7"/>
          </a:solidFill>
          <a:ln w="12700">
            <a:solidFill>
              <a:srgbClr val="333333"/>
            </a:solidFill>
            <a:prstDash val="solid"/>
          </a:ln>
        </p:spPr>
      </p:sp>
      <p:sp>
        <p:nvSpPr>
          <p:cNvPr id="20" name="Text 17"/>
          <p:cNvSpPr txBox="1"/>
          <p:nvPr/>
        </p:nvSpPr>
        <p:spPr>
          <a:xfrm>
            <a:off x="8869680" y="4297680"/>
            <a:ext cx="2240280" cy="879653"/>
          </a:xfrm>
          <a:prstGeom prst="rect">
            <a:avLst/>
          </a:prstGeom>
          <a:noFill/>
          <a:ln/>
        </p:spPr>
        <p:txBody>
          <a:bodyPr wrap="square" lIns="0" tIns="0" rIns="0" bIns="0" rtlCol="0" anchor="ctr"/>
          <a:lstStyle/>
          <a:p>
            <a:pPr algn="ctr" indent="0" marL="0">
              <a:buNone/>
            </a:pPr>
            <a:r>
              <a:rPr lang="en-US" sz="4000" b="1" dirty="0">
                <a:solidFill>
                  <a:srgbClr val="EB6834"/>
                </a:solidFill>
                <a:latin typeface="Cambria" pitchFamily="34" charset="0"/>
                <a:ea typeface="Cambria" pitchFamily="34" charset="-122"/>
                <a:cs typeface="Cambria" pitchFamily="34" charset="-120"/>
              </a:rPr>
              <a:t>0.9077</a:t>
            </a:r>
            <a:endParaRPr lang="en-US" sz="4000" dirty="0"/>
          </a:p>
        </p:txBody>
      </p:sp>
      <p:sp>
        <p:nvSpPr>
          <p:cNvPr id="21" name="Text 18"/>
          <p:cNvSpPr txBox="1"/>
          <p:nvPr/>
        </p:nvSpPr>
        <p:spPr>
          <a:xfrm>
            <a:off x="8869680" y="5177333"/>
            <a:ext cx="2240280" cy="274320"/>
          </a:xfrm>
          <a:prstGeom prst="rect">
            <a:avLst/>
          </a:prstGeom>
          <a:noFill/>
          <a:ln/>
        </p:spPr>
        <p:txBody>
          <a:bodyPr wrap="square" lIns="0" tIns="0" rIns="0" bIns="0" rtlCol="0" anchor="ctr"/>
          <a:lstStyle/>
          <a:p>
            <a:pPr algn="ctr" indent="0" marL="0">
              <a:buNone/>
            </a:pPr>
            <a:r>
              <a:rPr lang="en-US" sz="1300" b="1" dirty="0">
                <a:solidFill>
                  <a:srgbClr val="14213D"/>
                </a:solidFill>
              </a:rPr>
              <a:t>Best val macro-F1</a:t>
            </a:r>
            <a:endParaRPr lang="en-US" sz="1300" dirty="0"/>
          </a:p>
        </p:txBody>
      </p:sp>
      <p:sp>
        <p:nvSpPr>
          <p:cNvPr id="22" name="Text 19"/>
          <p:cNvSpPr txBox="1"/>
          <p:nvPr/>
        </p:nvSpPr>
        <p:spPr>
          <a:xfrm>
            <a:off x="8842248" y="5488229"/>
            <a:ext cx="2295144" cy="336499"/>
          </a:xfrm>
          <a:prstGeom prst="rect">
            <a:avLst/>
          </a:prstGeom>
          <a:noFill/>
          <a:ln/>
        </p:spPr>
        <p:txBody>
          <a:bodyPr wrap="square" lIns="0" tIns="0" rIns="0" bIns="0" rtlCol="0" anchor="t"/>
          <a:lstStyle/>
          <a:p>
            <a:pPr algn="ctr" indent="0" marL="0">
              <a:lnSpc>
                <a:spcPct val="100000"/>
              </a:lnSpc>
              <a:buNone/>
            </a:pPr>
            <a:r>
              <a:rPr lang="en-US" sz="1050" dirty="0">
                <a:solidFill>
                  <a:srgbClr val="6B7A8F"/>
                </a:solidFill>
              </a:rPr>
              <a:t>Transformer</a:t>
            </a:r>
            <a:endParaRPr lang="en-US" sz="105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Headline result on the held-out test set</a:t>
            </a:r>
            <a:endParaRPr lang="en-US" sz="3000" dirty="0"/>
          </a:p>
        </p:txBody>
      </p:sp>
      <p:sp>
        <p:nvSpPr>
          <p:cNvPr id="3" name="stat-BiLSTM"/>
          <p:cNvSpPr/>
          <p:nvPr/>
        </p:nvSpPr>
        <p:spPr>
          <a:xfrm>
            <a:off x="640080" y="1554480"/>
            <a:ext cx="3429000" cy="2103120"/>
          </a:xfrm>
          <a:prstGeom prst="roundRect">
            <a:avLst>
              <a:gd name="adj" fmla="val 4348"/>
            </a:avLst>
          </a:prstGeom>
          <a:solidFill>
            <a:srgbClr val="1E3356"/>
          </a:solidFill>
          <a:ln w="12700">
            <a:solidFill>
              <a:srgbClr val="333333"/>
            </a:solidFill>
            <a:prstDash val="solid"/>
          </a:ln>
        </p:spPr>
      </p:sp>
      <p:sp>
        <p:nvSpPr>
          <p:cNvPr id="4" name="Text 2"/>
          <p:cNvSpPr txBox="1"/>
          <p:nvPr/>
        </p:nvSpPr>
        <p:spPr>
          <a:xfrm>
            <a:off x="777240" y="1645920"/>
            <a:ext cx="3154680" cy="1093622"/>
          </a:xfrm>
          <a:prstGeom prst="rect">
            <a:avLst/>
          </a:prstGeom>
          <a:noFill/>
          <a:ln/>
        </p:spPr>
        <p:txBody>
          <a:bodyPr wrap="square" lIns="0" tIns="0" rIns="0" bIns="0" rtlCol="0" anchor="ctr"/>
          <a:lstStyle/>
          <a:p>
            <a:pPr algn="ctr" indent="0" marL="0">
              <a:buNone/>
            </a:pPr>
            <a:r>
              <a:rPr lang="en-US" sz="4000" b="1" dirty="0">
                <a:solidFill>
                  <a:srgbClr val="2A78D6"/>
                </a:solidFill>
                <a:latin typeface="Cambria" pitchFamily="34" charset="0"/>
                <a:ea typeface="Cambria" pitchFamily="34" charset="-122"/>
                <a:cs typeface="Cambria" pitchFamily="34" charset="-120"/>
              </a:rPr>
              <a:t>91.14%</a:t>
            </a:r>
            <a:endParaRPr lang="en-US" sz="4000" dirty="0"/>
          </a:p>
        </p:txBody>
      </p:sp>
      <p:sp>
        <p:nvSpPr>
          <p:cNvPr id="5" name="Text 3"/>
          <p:cNvSpPr txBox="1"/>
          <p:nvPr/>
        </p:nvSpPr>
        <p:spPr>
          <a:xfrm>
            <a:off x="777240" y="2739542"/>
            <a:ext cx="3154680" cy="274320"/>
          </a:xfrm>
          <a:prstGeom prst="rect">
            <a:avLst/>
          </a:prstGeom>
          <a:noFill/>
          <a:ln/>
        </p:spPr>
        <p:txBody>
          <a:bodyPr wrap="square" lIns="0" tIns="0" rIns="0" bIns="0" rtlCol="0" anchor="ctr"/>
          <a:lstStyle/>
          <a:p>
            <a:pPr algn="ctr" indent="0" marL="0">
              <a:buNone/>
            </a:pPr>
            <a:r>
              <a:rPr lang="en-US" sz="1300" b="1" dirty="0">
                <a:solidFill>
                  <a:srgbClr val="FFFFFF"/>
                </a:solidFill>
              </a:rPr>
              <a:t>BiLSTM</a:t>
            </a:r>
            <a:endParaRPr lang="en-US" sz="1300" dirty="0"/>
          </a:p>
        </p:txBody>
      </p:sp>
      <p:sp>
        <p:nvSpPr>
          <p:cNvPr id="6" name="Text 4"/>
          <p:cNvSpPr txBox="1"/>
          <p:nvPr/>
        </p:nvSpPr>
        <p:spPr>
          <a:xfrm>
            <a:off x="749808" y="3050438"/>
            <a:ext cx="3209544" cy="534010"/>
          </a:xfrm>
          <a:prstGeom prst="rect">
            <a:avLst/>
          </a:prstGeom>
          <a:noFill/>
          <a:ln/>
        </p:spPr>
        <p:txBody>
          <a:bodyPr wrap="square" lIns="0" tIns="0" rIns="0" bIns="0" rtlCol="0" anchor="t"/>
          <a:lstStyle/>
          <a:p>
            <a:pPr algn="ctr" indent="0" marL="0">
              <a:lnSpc>
                <a:spcPct val="100000"/>
              </a:lnSpc>
              <a:buNone/>
            </a:pPr>
            <a:r>
              <a:rPr lang="en-US" sz="1050" dirty="0">
                <a:solidFill>
                  <a:srgbClr val="AEBCD1"/>
                </a:solidFill>
              </a:rPr>
              <a:t>macro-F1 0.9111</a:t>
            </a:r>
            <a:endParaRPr lang="en-US" sz="1050" dirty="0"/>
          </a:p>
        </p:txBody>
      </p:sp>
      <p:sp>
        <p:nvSpPr>
          <p:cNvPr id="7" name="stat-Transformer"/>
          <p:cNvSpPr/>
          <p:nvPr/>
        </p:nvSpPr>
        <p:spPr>
          <a:xfrm>
            <a:off x="4343400" y="1554480"/>
            <a:ext cx="3429000" cy="2103120"/>
          </a:xfrm>
          <a:prstGeom prst="roundRect">
            <a:avLst>
              <a:gd name="adj" fmla="val 4348"/>
            </a:avLst>
          </a:prstGeom>
          <a:solidFill>
            <a:srgbClr val="1E3356"/>
          </a:solidFill>
          <a:ln w="12700">
            <a:solidFill>
              <a:srgbClr val="333333"/>
            </a:solidFill>
            <a:prstDash val="solid"/>
          </a:ln>
        </p:spPr>
      </p:sp>
      <p:sp>
        <p:nvSpPr>
          <p:cNvPr id="8" name="Text 6"/>
          <p:cNvSpPr txBox="1"/>
          <p:nvPr/>
        </p:nvSpPr>
        <p:spPr>
          <a:xfrm>
            <a:off x="4480560" y="1645920"/>
            <a:ext cx="3154680" cy="1093622"/>
          </a:xfrm>
          <a:prstGeom prst="rect">
            <a:avLst/>
          </a:prstGeom>
          <a:noFill/>
          <a:ln/>
        </p:spPr>
        <p:txBody>
          <a:bodyPr wrap="square" lIns="0" tIns="0" rIns="0" bIns="0" rtlCol="0" anchor="ctr"/>
          <a:lstStyle/>
          <a:p>
            <a:pPr algn="ctr" indent="0" marL="0">
              <a:buNone/>
            </a:pPr>
            <a:r>
              <a:rPr lang="en-US" sz="4000" b="1" dirty="0">
                <a:solidFill>
                  <a:srgbClr val="EB6834"/>
                </a:solidFill>
                <a:latin typeface="Cambria" pitchFamily="34" charset="0"/>
                <a:ea typeface="Cambria" pitchFamily="34" charset="-122"/>
                <a:cs typeface="Cambria" pitchFamily="34" charset="-120"/>
              </a:rPr>
              <a:t>91.05%</a:t>
            </a:r>
            <a:endParaRPr lang="en-US" sz="4000" dirty="0"/>
          </a:p>
        </p:txBody>
      </p:sp>
      <p:sp>
        <p:nvSpPr>
          <p:cNvPr id="9" name="Text 7"/>
          <p:cNvSpPr txBox="1"/>
          <p:nvPr/>
        </p:nvSpPr>
        <p:spPr>
          <a:xfrm>
            <a:off x="4480560" y="2739542"/>
            <a:ext cx="3154680" cy="274320"/>
          </a:xfrm>
          <a:prstGeom prst="rect">
            <a:avLst/>
          </a:prstGeom>
          <a:noFill/>
          <a:ln/>
        </p:spPr>
        <p:txBody>
          <a:bodyPr wrap="square" lIns="0" tIns="0" rIns="0" bIns="0" rtlCol="0" anchor="ctr"/>
          <a:lstStyle/>
          <a:p>
            <a:pPr algn="ctr" indent="0" marL="0">
              <a:buNone/>
            </a:pPr>
            <a:r>
              <a:rPr lang="en-US" sz="1300" b="1" dirty="0">
                <a:solidFill>
                  <a:srgbClr val="FFFFFF"/>
                </a:solidFill>
              </a:rPr>
              <a:t>Transformer</a:t>
            </a:r>
            <a:endParaRPr lang="en-US" sz="1300" dirty="0"/>
          </a:p>
        </p:txBody>
      </p:sp>
      <p:sp>
        <p:nvSpPr>
          <p:cNvPr id="10" name="Text 8"/>
          <p:cNvSpPr txBox="1"/>
          <p:nvPr/>
        </p:nvSpPr>
        <p:spPr>
          <a:xfrm>
            <a:off x="4453128" y="3050438"/>
            <a:ext cx="3209544" cy="534010"/>
          </a:xfrm>
          <a:prstGeom prst="rect">
            <a:avLst/>
          </a:prstGeom>
          <a:noFill/>
          <a:ln/>
        </p:spPr>
        <p:txBody>
          <a:bodyPr wrap="square" lIns="0" tIns="0" rIns="0" bIns="0" rtlCol="0" anchor="t"/>
          <a:lstStyle/>
          <a:p>
            <a:pPr algn="ctr" indent="0" marL="0">
              <a:lnSpc>
                <a:spcPct val="100000"/>
              </a:lnSpc>
              <a:buNone/>
            </a:pPr>
            <a:r>
              <a:rPr lang="en-US" sz="1050" dirty="0">
                <a:solidFill>
                  <a:srgbClr val="AEBCD1"/>
                </a:solidFill>
              </a:rPr>
              <a:t>macro-F1 0.9104</a:t>
            </a:r>
            <a:endParaRPr lang="en-US" sz="1050" dirty="0"/>
          </a:p>
        </p:txBody>
      </p:sp>
      <p:sp>
        <p:nvSpPr>
          <p:cNvPr id="11" name="stat-The gap"/>
          <p:cNvSpPr/>
          <p:nvPr/>
        </p:nvSpPr>
        <p:spPr>
          <a:xfrm>
            <a:off x="8046720" y="1554480"/>
            <a:ext cx="3474720" cy="2103120"/>
          </a:xfrm>
          <a:prstGeom prst="roundRect">
            <a:avLst>
              <a:gd name="adj" fmla="val 4348"/>
            </a:avLst>
          </a:prstGeom>
          <a:solidFill>
            <a:srgbClr val="1E3356"/>
          </a:solidFill>
          <a:ln w="12700">
            <a:solidFill>
              <a:srgbClr val="333333"/>
            </a:solidFill>
            <a:prstDash val="solid"/>
          </a:ln>
        </p:spPr>
      </p:sp>
      <p:sp>
        <p:nvSpPr>
          <p:cNvPr id="12" name="Text 10"/>
          <p:cNvSpPr txBox="1"/>
          <p:nvPr/>
        </p:nvSpPr>
        <p:spPr>
          <a:xfrm>
            <a:off x="8183880" y="1645920"/>
            <a:ext cx="3200400" cy="1093622"/>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0.09 pp</a:t>
            </a:r>
            <a:endParaRPr lang="en-US" sz="4000" dirty="0"/>
          </a:p>
        </p:txBody>
      </p:sp>
      <p:sp>
        <p:nvSpPr>
          <p:cNvPr id="13" name="Text 11"/>
          <p:cNvSpPr txBox="1"/>
          <p:nvPr/>
        </p:nvSpPr>
        <p:spPr>
          <a:xfrm>
            <a:off x="8183880" y="2739542"/>
            <a:ext cx="3200400" cy="274320"/>
          </a:xfrm>
          <a:prstGeom prst="rect">
            <a:avLst/>
          </a:prstGeom>
          <a:noFill/>
          <a:ln/>
        </p:spPr>
        <p:txBody>
          <a:bodyPr wrap="square" lIns="0" tIns="0" rIns="0" bIns="0" rtlCol="0" anchor="ctr"/>
          <a:lstStyle/>
          <a:p>
            <a:pPr algn="ctr" indent="0" marL="0">
              <a:buNone/>
            </a:pPr>
            <a:r>
              <a:rPr lang="en-US" sz="1300" b="1" dirty="0">
                <a:solidFill>
                  <a:srgbClr val="FFFFFF"/>
                </a:solidFill>
              </a:rPr>
              <a:t>The gap</a:t>
            </a:r>
            <a:endParaRPr lang="en-US" sz="1300" dirty="0"/>
          </a:p>
        </p:txBody>
      </p:sp>
      <p:sp>
        <p:nvSpPr>
          <p:cNvPr id="14" name="Text 12"/>
          <p:cNvSpPr txBox="1"/>
          <p:nvPr/>
        </p:nvSpPr>
        <p:spPr>
          <a:xfrm>
            <a:off x="8156448" y="3050438"/>
            <a:ext cx="3255264" cy="534010"/>
          </a:xfrm>
          <a:prstGeom prst="rect">
            <a:avLst/>
          </a:prstGeom>
          <a:noFill/>
          <a:ln/>
        </p:spPr>
        <p:txBody>
          <a:bodyPr wrap="square" lIns="0" tIns="0" rIns="0" bIns="0" rtlCol="0" anchor="t"/>
          <a:lstStyle/>
          <a:p>
            <a:pPr algn="ctr" indent="0" marL="0">
              <a:lnSpc>
                <a:spcPct val="100000"/>
              </a:lnSpc>
              <a:buNone/>
            </a:pPr>
            <a:r>
              <a:rPr lang="en-US" sz="1050" dirty="0">
                <a:solidFill>
                  <a:srgbClr val="AEBCD1"/>
                </a:solidFill>
              </a:rPr>
              <a:t>seven documents out of 7,600</a:t>
            </a:r>
            <a:endParaRPr lang="en-US" sz="1050" dirty="0"/>
          </a:p>
        </p:txBody>
      </p:sp>
      <p:sp>
        <p:nvSpPr>
          <p:cNvPr id="15" name="warn-card"/>
          <p:cNvSpPr/>
          <p:nvPr/>
        </p:nvSpPr>
        <p:spPr>
          <a:xfrm>
            <a:off x="640080" y="3977640"/>
            <a:ext cx="10881360" cy="1737360"/>
          </a:xfrm>
          <a:prstGeom prst="roundRect">
            <a:avLst>
              <a:gd name="adj" fmla="val 5263"/>
            </a:avLst>
          </a:prstGeom>
          <a:solidFill>
            <a:srgbClr val="1E3356"/>
          </a:solidFill>
          <a:ln w="12700">
            <a:solidFill>
              <a:srgbClr val="333333"/>
            </a:solidFill>
            <a:prstDash val="solid"/>
          </a:ln>
        </p:spPr>
      </p:sp>
      <p:sp>
        <p:nvSpPr>
          <p:cNvPr id="16" name="Text 14"/>
          <p:cNvSpPr txBox="1"/>
          <p:nvPr/>
        </p:nvSpPr>
        <p:spPr>
          <a:xfrm>
            <a:off x="1005840" y="4160520"/>
            <a:ext cx="10149840" cy="365760"/>
          </a:xfrm>
          <a:prstGeom prst="rect">
            <a:avLst/>
          </a:prstGeom>
          <a:noFill/>
          <a:ln/>
        </p:spPr>
        <p:txBody>
          <a:bodyPr wrap="square" lIns="0" tIns="0" rIns="0" bIns="0" rtlCol="0" anchor="ctr"/>
          <a:lstStyle/>
          <a:p>
            <a:pPr indent="0" marL="0">
              <a:buNone/>
            </a:pPr>
            <a:r>
              <a:rPr lang="en-US" sz="1900" b="1" dirty="0">
                <a:solidFill>
                  <a:srgbClr val="EB6834"/>
                </a:solidFill>
                <a:latin typeface="Cambria" pitchFamily="34" charset="0"/>
                <a:ea typeface="Cambria" pitchFamily="34" charset="-122"/>
                <a:cs typeface="Cambria" pitchFamily="34" charset="-120"/>
              </a:rPr>
              <a:t>Do not interpret this difference yet</a:t>
            </a:r>
            <a:endParaRPr lang="en-US" sz="1900" dirty="0"/>
          </a:p>
        </p:txBody>
      </p:sp>
      <p:sp>
        <p:nvSpPr>
          <p:cNvPr id="17" name="Text 15"/>
          <p:cNvSpPr txBox="1"/>
          <p:nvPr/>
        </p:nvSpPr>
        <p:spPr>
          <a:xfrm>
            <a:off x="1005840" y="4572000"/>
            <a:ext cx="10149840" cy="1005840"/>
          </a:xfrm>
          <a:prstGeom prst="rect">
            <a:avLst/>
          </a:prstGeom>
          <a:noFill/>
          <a:ln/>
        </p:spPr>
        <p:txBody>
          <a:bodyPr wrap="square" lIns="0" tIns="0" rIns="0" bIns="0" rtlCol="0" anchor="ctr"/>
          <a:lstStyle/>
          <a:p>
            <a:pPr indent="0" marL="0">
              <a:lnSpc>
                <a:spcPct val="112000"/>
              </a:lnSpc>
              <a:buNone/>
            </a:pPr>
            <a:r>
              <a:rPr lang="en-US" sz="1400" dirty="0">
                <a:solidFill>
                  <a:srgbClr val="CBD6E6"/>
                </a:solidFill>
              </a:rPr>
              <a:t>Both models land in the 90–92% band the literature predicts for a from-scratch model without pretraining. The BiLSTM is nominally ahead on every metric except test loss — by seven documents. Whether that is a result or sampling noise is a question a significance test answers, and it is the next slide.</a:t>
            </a:r>
            <a:endParaRPr lang="en-US" sz="140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Is the difference real? McNemar's test says no</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5760720" cy="914400"/>
        </p:xfrm>
        <a:graphic>
          <a:graphicData uri="http://schemas.openxmlformats.org/drawingml/2006/table">
            <a:tbl>
              <a:tblPr/>
              <a:tblGrid>
                <a:gridCol w="2103120"/>
                <a:gridCol w="1828800"/>
                <a:gridCol w="1828800"/>
              </a:tblGrid>
              <a:tr h="475488">
                <a:tc>
                  <a:txBody>
                    <a:bodyPr/>
                    <a:lstStyle/>
                    <a:p>
                      <a:pPr indent="0" marL="0">
                        <a:buNone/>
                      </a:pPr>
                      <a:endParaRPr lang="en-US" sz="14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400" b="1" dirty="0">
                          <a:solidFill>
                            <a:srgbClr val="FFFFFF"/>
                          </a:solidFill>
                        </a:rPr>
                        <a:t>BiLSTM correct</a:t>
                      </a:r>
                      <a:endParaRPr lang="en-US" sz="14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rPr>
                        <a:t>BiLSTM wrong</a:t>
                      </a:r>
                      <a:endParaRPr lang="en-US" sz="14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r>
              <a:tr h="475488">
                <a:tc>
                  <a:txBody>
                    <a:bodyPr/>
                    <a:lstStyle/>
                    <a:p>
                      <a:pPr indent="0" marL="0">
                        <a:buNone/>
                      </a:pPr>
                      <a:r>
                        <a:rPr lang="en-US" sz="1400" b="1" dirty="0">
                          <a:solidFill>
                            <a:srgbClr val="14213D"/>
                          </a:solidFill>
                        </a:rPr>
                        <a:t>Transformer correct</a:t>
                      </a:r>
                      <a:endParaRPr lang="en-US" sz="14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EDF2F7"/>
                    </a:solidFill>
                  </a:tcPr>
                </a:tc>
                <a:tc>
                  <a:txBody>
                    <a:bodyPr/>
                    <a:lstStyle/>
                    <a:p>
                      <a:pPr algn="ctr" indent="0" marL="0">
                        <a:buNone/>
                      </a:pPr>
                      <a:r>
                        <a:rPr lang="en-US" sz="1400" dirty="0">
                          <a:solidFill>
                            <a:srgbClr val="14213D"/>
                          </a:solidFill>
                        </a:rPr>
                        <a:t>6,740</a:t>
                      </a:r>
                      <a:endParaRPr lang="en-US" sz="14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B6834"/>
                          </a:solidFill>
                        </a:rPr>
                        <a:t>180</a:t>
                      </a:r>
                      <a:endParaRPr lang="en-US" sz="14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4213D"/>
                          </a:solidFill>
                        </a:rPr>
                        <a:t>Transformer wrong</a:t>
                      </a:r>
                      <a:endParaRPr lang="en-US" sz="14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EDF2F7"/>
                    </a:solidFill>
                  </a:tcPr>
                </a:tc>
                <a:tc>
                  <a:txBody>
                    <a:bodyPr/>
                    <a:lstStyle/>
                    <a:p>
                      <a:pPr algn="ctr" indent="0" marL="0">
                        <a:buNone/>
                      </a:pPr>
                      <a:r>
                        <a:rPr lang="en-US" sz="1400" b="1" dirty="0">
                          <a:solidFill>
                            <a:srgbClr val="2A78D6"/>
                          </a:solidFill>
                        </a:rPr>
                        <a:t>187</a:t>
                      </a:r>
                      <a:endParaRPr lang="en-US" sz="14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rPr>
                        <a:t>493</a:t>
                      </a:r>
                      <a:endParaRPr lang="en-US" sz="14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640080" y="3063240"/>
            <a:ext cx="5760720" cy="640080"/>
          </a:xfrm>
          <a:prstGeom prst="rect">
            <a:avLst/>
          </a:prstGeom>
          <a:noFill/>
          <a:ln/>
        </p:spPr>
        <p:txBody>
          <a:bodyPr wrap="square" lIns="0" tIns="0" rIns="0" bIns="0" rtlCol="0" anchor="ctr"/>
          <a:lstStyle/>
          <a:p>
            <a:pPr indent="0" marL="0">
              <a:buNone/>
            </a:pPr>
            <a:r>
              <a:rPr lang="en-US" sz="1250" i="1" dirty="0">
                <a:solidFill>
                  <a:srgbClr val="6B7A8F"/>
                </a:solidFill>
              </a:rPr>
              <a:t>Only the discordant cells carry information. The agreements — 6,740 and 493 — say nothing about which model is better and are discarded.</a:t>
            </a:r>
            <a:endParaRPr lang="en-US" sz="1250" dirty="0"/>
          </a:p>
        </p:txBody>
      </p:sp>
      <p:sp>
        <p:nvSpPr>
          <p:cNvPr id="5" name="stat-Only BiLSTM"/>
          <p:cNvSpPr/>
          <p:nvPr/>
        </p:nvSpPr>
        <p:spPr>
          <a:xfrm>
            <a:off x="6766560" y="1371600"/>
            <a:ext cx="2286000" cy="1600200"/>
          </a:xfrm>
          <a:prstGeom prst="roundRect">
            <a:avLst>
              <a:gd name="adj" fmla="val 5714"/>
            </a:avLst>
          </a:prstGeom>
          <a:solidFill>
            <a:srgbClr val="EDF2F7"/>
          </a:solidFill>
          <a:ln w="12700">
            <a:solidFill>
              <a:srgbClr val="333333"/>
            </a:solidFill>
            <a:prstDash val="solid"/>
          </a:ln>
        </p:spPr>
      </p:sp>
      <p:sp>
        <p:nvSpPr>
          <p:cNvPr id="6" name="Text 3"/>
          <p:cNvSpPr txBox="1"/>
          <p:nvPr/>
        </p:nvSpPr>
        <p:spPr>
          <a:xfrm>
            <a:off x="6903720" y="1463040"/>
            <a:ext cx="2011680" cy="832104"/>
          </a:xfrm>
          <a:prstGeom prst="rect">
            <a:avLst/>
          </a:prstGeom>
          <a:noFill/>
          <a:ln/>
        </p:spPr>
        <p:txBody>
          <a:bodyPr wrap="square" lIns="0" tIns="0" rIns="0" bIns="0" rtlCol="0" anchor="ctr"/>
          <a:lstStyle/>
          <a:p>
            <a:pPr algn="ctr" indent="0" marL="0">
              <a:buNone/>
            </a:pPr>
            <a:r>
              <a:rPr lang="en-US" sz="4000" b="1" dirty="0">
                <a:solidFill>
                  <a:srgbClr val="2A78D6"/>
                </a:solidFill>
                <a:latin typeface="Cambria" pitchFamily="34" charset="0"/>
                <a:ea typeface="Cambria" pitchFamily="34" charset="-122"/>
                <a:cs typeface="Cambria" pitchFamily="34" charset="-120"/>
              </a:rPr>
              <a:t>187</a:t>
            </a:r>
            <a:endParaRPr lang="en-US" sz="4000" dirty="0"/>
          </a:p>
        </p:txBody>
      </p:sp>
      <p:sp>
        <p:nvSpPr>
          <p:cNvPr id="7" name="Text 4"/>
          <p:cNvSpPr txBox="1"/>
          <p:nvPr/>
        </p:nvSpPr>
        <p:spPr>
          <a:xfrm>
            <a:off x="6903720" y="2295144"/>
            <a:ext cx="2011680" cy="274320"/>
          </a:xfrm>
          <a:prstGeom prst="rect">
            <a:avLst/>
          </a:prstGeom>
          <a:noFill/>
          <a:ln/>
        </p:spPr>
        <p:txBody>
          <a:bodyPr wrap="square" lIns="0" tIns="0" rIns="0" bIns="0" rtlCol="0" anchor="ctr"/>
          <a:lstStyle/>
          <a:p>
            <a:pPr algn="ctr" indent="0" marL="0">
              <a:buNone/>
            </a:pPr>
            <a:r>
              <a:rPr lang="en-US" sz="1300" b="1" dirty="0">
                <a:solidFill>
                  <a:srgbClr val="14213D"/>
                </a:solidFill>
              </a:rPr>
              <a:t>Only BiLSTM</a:t>
            </a:r>
            <a:endParaRPr lang="en-US" sz="1300" dirty="0"/>
          </a:p>
        </p:txBody>
      </p:sp>
      <p:sp>
        <p:nvSpPr>
          <p:cNvPr id="8" name="Text 5"/>
          <p:cNvSpPr txBox="1"/>
          <p:nvPr/>
        </p:nvSpPr>
        <p:spPr>
          <a:xfrm>
            <a:off x="6876288" y="2606040"/>
            <a:ext cx="2066544" cy="292608"/>
          </a:xfrm>
          <a:prstGeom prst="rect">
            <a:avLst/>
          </a:prstGeom>
          <a:noFill/>
          <a:ln/>
        </p:spPr>
        <p:txBody>
          <a:bodyPr wrap="square" lIns="0" tIns="0" rIns="0" bIns="0" rtlCol="0" anchor="t"/>
          <a:lstStyle/>
          <a:p>
            <a:pPr algn="ctr" indent="0" marL="0">
              <a:lnSpc>
                <a:spcPct val="100000"/>
              </a:lnSpc>
              <a:buNone/>
            </a:pPr>
            <a:r>
              <a:rPr lang="en-US" sz="1050" dirty="0">
                <a:solidFill>
                  <a:srgbClr val="6B7A8F"/>
                </a:solidFill>
              </a:rPr>
              <a:t>correct</a:t>
            </a:r>
            <a:endParaRPr lang="en-US" sz="1050" dirty="0"/>
          </a:p>
        </p:txBody>
      </p:sp>
      <p:sp>
        <p:nvSpPr>
          <p:cNvPr id="9" name="stat-Only Transformer"/>
          <p:cNvSpPr/>
          <p:nvPr/>
        </p:nvSpPr>
        <p:spPr>
          <a:xfrm>
            <a:off x="9235440" y="1371600"/>
            <a:ext cx="2286000" cy="1600200"/>
          </a:xfrm>
          <a:prstGeom prst="roundRect">
            <a:avLst>
              <a:gd name="adj" fmla="val 5714"/>
            </a:avLst>
          </a:prstGeom>
          <a:solidFill>
            <a:srgbClr val="EDF2F7"/>
          </a:solidFill>
          <a:ln w="12700">
            <a:solidFill>
              <a:srgbClr val="333333"/>
            </a:solidFill>
            <a:prstDash val="solid"/>
          </a:ln>
        </p:spPr>
      </p:sp>
      <p:sp>
        <p:nvSpPr>
          <p:cNvPr id="10" name="Text 7"/>
          <p:cNvSpPr txBox="1"/>
          <p:nvPr/>
        </p:nvSpPr>
        <p:spPr>
          <a:xfrm>
            <a:off x="9372600" y="1463040"/>
            <a:ext cx="2011680" cy="832104"/>
          </a:xfrm>
          <a:prstGeom prst="rect">
            <a:avLst/>
          </a:prstGeom>
          <a:noFill/>
          <a:ln/>
        </p:spPr>
        <p:txBody>
          <a:bodyPr wrap="square" lIns="0" tIns="0" rIns="0" bIns="0" rtlCol="0" anchor="ctr"/>
          <a:lstStyle/>
          <a:p>
            <a:pPr algn="ctr" indent="0" marL="0">
              <a:buNone/>
            </a:pPr>
            <a:r>
              <a:rPr lang="en-US" sz="4000" b="1" dirty="0">
                <a:solidFill>
                  <a:srgbClr val="EB6834"/>
                </a:solidFill>
                <a:latin typeface="Cambria" pitchFamily="34" charset="0"/>
                <a:ea typeface="Cambria" pitchFamily="34" charset="-122"/>
                <a:cs typeface="Cambria" pitchFamily="34" charset="-120"/>
              </a:rPr>
              <a:t>180</a:t>
            </a:r>
            <a:endParaRPr lang="en-US" sz="4000" dirty="0"/>
          </a:p>
        </p:txBody>
      </p:sp>
      <p:sp>
        <p:nvSpPr>
          <p:cNvPr id="11" name="Text 8"/>
          <p:cNvSpPr txBox="1"/>
          <p:nvPr/>
        </p:nvSpPr>
        <p:spPr>
          <a:xfrm>
            <a:off x="9372600" y="2295144"/>
            <a:ext cx="2011680" cy="274320"/>
          </a:xfrm>
          <a:prstGeom prst="rect">
            <a:avLst/>
          </a:prstGeom>
          <a:noFill/>
          <a:ln/>
        </p:spPr>
        <p:txBody>
          <a:bodyPr wrap="square" lIns="0" tIns="0" rIns="0" bIns="0" rtlCol="0" anchor="ctr"/>
          <a:lstStyle/>
          <a:p>
            <a:pPr algn="ctr" indent="0" marL="0">
              <a:buNone/>
            </a:pPr>
            <a:r>
              <a:rPr lang="en-US" sz="1300" b="1" dirty="0">
                <a:solidFill>
                  <a:srgbClr val="14213D"/>
                </a:solidFill>
              </a:rPr>
              <a:t>Only Transformer</a:t>
            </a:r>
            <a:endParaRPr lang="en-US" sz="1300" dirty="0"/>
          </a:p>
        </p:txBody>
      </p:sp>
      <p:sp>
        <p:nvSpPr>
          <p:cNvPr id="12" name="Text 9"/>
          <p:cNvSpPr txBox="1"/>
          <p:nvPr/>
        </p:nvSpPr>
        <p:spPr>
          <a:xfrm>
            <a:off x="9345168" y="2606040"/>
            <a:ext cx="2066544" cy="292608"/>
          </a:xfrm>
          <a:prstGeom prst="rect">
            <a:avLst/>
          </a:prstGeom>
          <a:noFill/>
          <a:ln/>
        </p:spPr>
        <p:txBody>
          <a:bodyPr wrap="square" lIns="0" tIns="0" rIns="0" bIns="0" rtlCol="0" anchor="t"/>
          <a:lstStyle/>
          <a:p>
            <a:pPr algn="ctr" indent="0" marL="0">
              <a:lnSpc>
                <a:spcPct val="100000"/>
              </a:lnSpc>
              <a:buNone/>
            </a:pPr>
            <a:r>
              <a:rPr lang="en-US" sz="1050" dirty="0">
                <a:solidFill>
                  <a:srgbClr val="6B7A8F"/>
                </a:solidFill>
              </a:rPr>
              <a:t>correct</a:t>
            </a:r>
            <a:endParaRPr lang="en-US" sz="1050" dirty="0"/>
          </a:p>
        </p:txBody>
      </p:sp>
      <p:sp>
        <p:nvSpPr>
          <p:cNvPr id="13" name="stat-McNemar exact binomial"/>
          <p:cNvSpPr/>
          <p:nvPr/>
        </p:nvSpPr>
        <p:spPr>
          <a:xfrm>
            <a:off x="6766560" y="3154680"/>
            <a:ext cx="4754880" cy="1463040"/>
          </a:xfrm>
          <a:prstGeom prst="roundRect">
            <a:avLst>
              <a:gd name="adj" fmla="val 6250"/>
            </a:avLst>
          </a:prstGeom>
          <a:solidFill>
            <a:srgbClr val="EDF2F7"/>
          </a:solidFill>
          <a:ln w="12700">
            <a:solidFill>
              <a:srgbClr val="333333"/>
            </a:solidFill>
            <a:prstDash val="solid"/>
          </a:ln>
        </p:spPr>
      </p:sp>
      <p:sp>
        <p:nvSpPr>
          <p:cNvPr id="14" name="Text 11"/>
          <p:cNvSpPr txBox="1"/>
          <p:nvPr/>
        </p:nvSpPr>
        <p:spPr>
          <a:xfrm>
            <a:off x="6903720" y="3246120"/>
            <a:ext cx="4480560" cy="760781"/>
          </a:xfrm>
          <a:prstGeom prst="rect">
            <a:avLst/>
          </a:prstGeom>
          <a:noFill/>
          <a:ln/>
        </p:spPr>
        <p:txBody>
          <a:bodyPr wrap="square" lIns="0" tIns="0" rIns="0" bIns="0" rtlCol="0" anchor="ctr"/>
          <a:lstStyle/>
          <a:p>
            <a:pPr algn="ctr" indent="0" marL="0">
              <a:buNone/>
            </a:pPr>
            <a:r>
              <a:rPr lang="en-US" sz="4000" b="1" dirty="0">
                <a:solidFill>
                  <a:srgbClr val="14213D"/>
                </a:solidFill>
                <a:latin typeface="Cambria" pitchFamily="34" charset="0"/>
                <a:ea typeface="Cambria" pitchFamily="34" charset="-122"/>
                <a:cs typeface="Cambria" pitchFamily="34" charset="-120"/>
              </a:rPr>
              <a:t>p = 0.754</a:t>
            </a:r>
            <a:endParaRPr lang="en-US" sz="4000" dirty="0"/>
          </a:p>
        </p:txBody>
      </p:sp>
      <p:sp>
        <p:nvSpPr>
          <p:cNvPr id="15" name="Text 12"/>
          <p:cNvSpPr txBox="1"/>
          <p:nvPr/>
        </p:nvSpPr>
        <p:spPr>
          <a:xfrm>
            <a:off x="6903720" y="4006901"/>
            <a:ext cx="4480560" cy="274320"/>
          </a:xfrm>
          <a:prstGeom prst="rect">
            <a:avLst/>
          </a:prstGeom>
          <a:noFill/>
          <a:ln/>
        </p:spPr>
        <p:txBody>
          <a:bodyPr wrap="square" lIns="0" tIns="0" rIns="0" bIns="0" rtlCol="0" anchor="ctr"/>
          <a:lstStyle/>
          <a:p>
            <a:pPr algn="ctr" indent="0" marL="0">
              <a:buNone/>
            </a:pPr>
            <a:r>
              <a:rPr lang="en-US" sz="1300" b="1" dirty="0">
                <a:solidFill>
                  <a:srgbClr val="14213D"/>
                </a:solidFill>
              </a:rPr>
              <a:t>McNemar exact binomial</a:t>
            </a:r>
            <a:endParaRPr lang="en-US" sz="1300" dirty="0"/>
          </a:p>
        </p:txBody>
      </p:sp>
      <p:sp>
        <p:nvSpPr>
          <p:cNvPr id="16" name="Text 13"/>
          <p:cNvSpPr txBox="1"/>
          <p:nvPr/>
        </p:nvSpPr>
        <p:spPr>
          <a:xfrm>
            <a:off x="6876288" y="4317797"/>
            <a:ext cx="4535424" cy="226771"/>
          </a:xfrm>
          <a:prstGeom prst="rect">
            <a:avLst/>
          </a:prstGeom>
          <a:noFill/>
          <a:ln/>
        </p:spPr>
        <p:txBody>
          <a:bodyPr wrap="square" lIns="0" tIns="0" rIns="0" bIns="0" rtlCol="0" anchor="t"/>
          <a:lstStyle/>
          <a:p>
            <a:pPr algn="ctr" indent="0" marL="0">
              <a:lnSpc>
                <a:spcPct val="100000"/>
              </a:lnSpc>
              <a:buNone/>
            </a:pPr>
            <a:r>
              <a:rPr lang="en-US" sz="1050" dirty="0">
                <a:solidFill>
                  <a:srgbClr val="6B7A8F"/>
                </a:solidFill>
              </a:rPr>
              <a:t>not significant at α = 0.05</a:t>
            </a:r>
            <a:endParaRPr lang="en-US" sz="1050" dirty="0"/>
          </a:p>
        </p:txBody>
      </p:sp>
      <p:sp>
        <p:nvSpPr>
          <p:cNvPr id="17" name="verdict"/>
          <p:cNvSpPr/>
          <p:nvPr/>
        </p:nvSpPr>
        <p:spPr>
          <a:xfrm>
            <a:off x="640080" y="3931920"/>
            <a:ext cx="5760720" cy="1828800"/>
          </a:xfrm>
          <a:prstGeom prst="roundRect">
            <a:avLst>
              <a:gd name="adj" fmla="val 4000"/>
            </a:avLst>
          </a:prstGeom>
          <a:solidFill>
            <a:srgbClr val="14213D"/>
          </a:solidFill>
          <a:ln w="12700">
            <a:solidFill>
              <a:srgbClr val="333333"/>
            </a:solidFill>
            <a:prstDash val="solid"/>
          </a:ln>
        </p:spPr>
      </p:sp>
      <p:sp>
        <p:nvSpPr>
          <p:cNvPr id="18" name="Text 15"/>
          <p:cNvSpPr txBox="1"/>
          <p:nvPr/>
        </p:nvSpPr>
        <p:spPr>
          <a:xfrm>
            <a:off x="914400" y="4114800"/>
            <a:ext cx="521208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The architectures are indistinguishable</a:t>
            </a:r>
            <a:endParaRPr lang="en-US" sz="1700" dirty="0"/>
          </a:p>
        </p:txBody>
      </p:sp>
      <p:sp>
        <p:nvSpPr>
          <p:cNvPr id="19" name="Text 16"/>
          <p:cNvSpPr txBox="1"/>
          <p:nvPr/>
        </p:nvSpPr>
        <p:spPr>
          <a:xfrm>
            <a:off x="914400" y="4526280"/>
            <a:ext cx="5212080" cy="1097280"/>
          </a:xfrm>
          <a:prstGeom prst="rect">
            <a:avLst/>
          </a:prstGeom>
          <a:noFill/>
          <a:ln/>
        </p:spPr>
        <p:txBody>
          <a:bodyPr wrap="square" lIns="0" tIns="0" rIns="0" bIns="0" rtlCol="0" anchor="ctr"/>
          <a:lstStyle/>
          <a:p>
            <a:pPr indent="0" marL="0">
              <a:lnSpc>
                <a:spcPct val="110000"/>
              </a:lnSpc>
              <a:buNone/>
            </a:pPr>
            <a:r>
              <a:rPr lang="en-US" sz="1300" dirty="0">
                <a:solidFill>
                  <a:srgbClr val="CBD6E6"/>
                </a:solidFill>
              </a:rPr>
              <a:t>A 187-to-180 split is as close to a coin flip as a 7,600-document test set can resolve. The two models also agree on 94.78% of individual predictions.</a:t>
            </a:r>
            <a:endParaRPr lang="en-US" sz="1300" dirty="0"/>
          </a:p>
          <a:p>
            <a:pPr indent="0" marL="0">
              <a:lnSpc>
                <a:spcPct val="110000"/>
              </a:lnSpc>
              <a:buNone/>
            </a:pPr>
            <a:endParaRPr lang="en-US" sz="1300" dirty="0"/>
          </a:p>
          <a:p>
            <a:pPr indent="0" marL="0">
              <a:lnSpc>
                <a:spcPct val="110000"/>
              </a:lnSpc>
              <a:buNone/>
            </a:pPr>
            <a:r>
              <a:rPr lang="en-US" sz="1300" dirty="0">
                <a:solidFill>
                  <a:srgbClr val="CBD6E6"/>
                </a:solidFill>
              </a:rPr>
              <a:t>The correct conclusion is equivalence — not that the BiLSTM won.</a:t>
            </a:r>
            <a:endParaRPr lang="en-US" sz="1300" dirty="0"/>
          </a:p>
        </p:txBody>
      </p:sp>
      <p:sp>
        <p:nvSpPr>
          <p:cNvPr id="20" name="Text 17"/>
          <p:cNvSpPr txBox="1"/>
          <p:nvPr/>
        </p:nvSpPr>
        <p:spPr>
          <a:xfrm>
            <a:off x="6766560" y="4846320"/>
            <a:ext cx="4754880" cy="914400"/>
          </a:xfrm>
          <a:prstGeom prst="rect">
            <a:avLst/>
          </a:prstGeom>
          <a:noFill/>
          <a:ln/>
        </p:spPr>
        <p:txBody>
          <a:bodyPr wrap="square" lIns="0" tIns="0" rIns="0" bIns="0" rtlCol="0" anchor="ctr"/>
          <a:lstStyle/>
          <a:p>
            <a:pPr indent="0" marL="0">
              <a:buNone/>
            </a:pPr>
            <a:r>
              <a:rPr lang="en-US" sz="1300" b="1" i="1" dirty="0">
                <a:solidFill>
                  <a:srgbClr val="14213D"/>
                </a:solidFill>
              </a:rPr>
              <a:t>This test cost a few lines of code and reversed the qualitative conclusion of the whole study.</a:t>
            </a:r>
            <a:endParaRPr lang="en-US" sz="130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They do not just tie — they fail in the same way</a:t>
            </a:r>
            <a:endParaRPr lang="en-US" sz="3000" dirty="0"/>
          </a:p>
        </p:txBody>
      </p:sp>
      <p:pic>
        <p:nvPicPr>
          <p:cNvPr id="3" name="Image 0" descr="fig1_per_class_f1.png">    </p:cNvPr>
          <p:cNvPicPr>
            <a:picLocks noChangeAspect="1"/>
          </p:cNvPicPr>
          <p:nvPr/>
        </p:nvPicPr>
        <p:blipFill>
          <a:blip r:embed="rId1"/>
          <a:stretch>
            <a:fillRect/>
          </a:stretch>
        </p:blipFill>
        <p:spPr>
          <a:xfrm>
            <a:off x="640080" y="1188720"/>
            <a:ext cx="4846320" cy="2386584"/>
          </a:xfrm>
          <a:prstGeom prst="rect">
            <a:avLst/>
          </a:prstGeom>
        </p:spPr>
      </p:pic>
      <p:pic>
        <p:nvPicPr>
          <p:cNvPr id="4" name="Image 1" descr="fig2_confusion_matrices.png">    </p:cNvPr>
          <p:cNvPicPr>
            <a:picLocks noChangeAspect="1"/>
          </p:cNvPicPr>
          <p:nvPr/>
        </p:nvPicPr>
        <p:blipFill>
          <a:blip r:embed="rId2"/>
          <a:stretch>
            <a:fillRect/>
          </a:stretch>
        </p:blipFill>
        <p:spPr>
          <a:xfrm>
            <a:off x="640080" y="3703320"/>
            <a:ext cx="4846320" cy="2240280"/>
          </a:xfrm>
          <a:prstGeom prst="rect">
            <a:avLst/>
          </a:prstGeom>
        </p:spPr>
      </p:pic>
      <p:sp>
        <p:nvSpPr>
          <p:cNvPr id="5" name="badge-1"/>
          <p:cNvSpPr/>
          <p:nvPr/>
        </p:nvSpPr>
        <p:spPr>
          <a:xfrm>
            <a:off x="5943600" y="1280160"/>
            <a:ext cx="384048" cy="384048"/>
          </a:xfrm>
          <a:prstGeom prst="ellipse">
            <a:avLst/>
          </a:prstGeom>
          <a:solidFill>
            <a:srgbClr val="2A78D6"/>
          </a:solidFill>
          <a:ln/>
        </p:spPr>
      </p:sp>
      <p:sp>
        <p:nvSpPr>
          <p:cNvPr id="6" name="Text 2"/>
          <p:cNvSpPr txBox="1"/>
          <p:nvPr/>
        </p:nvSpPr>
        <p:spPr>
          <a:xfrm>
            <a:off x="594360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3"/>
          <p:cNvSpPr txBox="1"/>
          <p:nvPr/>
        </p:nvSpPr>
        <p:spPr>
          <a:xfrm>
            <a:off x="6510528" y="1252728"/>
            <a:ext cx="5010912" cy="310896"/>
          </a:xfrm>
          <a:prstGeom prst="rect">
            <a:avLst/>
          </a:prstGeom>
          <a:noFill/>
          <a:ln/>
        </p:spPr>
        <p:txBody>
          <a:bodyPr wrap="square" lIns="0" tIns="0" rIns="0" bIns="0" rtlCol="0" anchor="ctr"/>
          <a:lstStyle/>
          <a:p>
            <a:pPr indent="0" marL="0">
              <a:buNone/>
            </a:pPr>
            <a:r>
              <a:rPr lang="en-US" sz="1500" b="1" dirty="0">
                <a:solidFill>
                  <a:srgbClr val="14213D"/>
                </a:solidFill>
              </a:rPr>
              <a:t>Identical difficulty ordering</a:t>
            </a:r>
            <a:endParaRPr lang="en-US" sz="1500" dirty="0"/>
          </a:p>
        </p:txBody>
      </p:sp>
      <p:sp>
        <p:nvSpPr>
          <p:cNvPr id="8" name="Text 4"/>
          <p:cNvSpPr txBox="1"/>
          <p:nvPr/>
        </p:nvSpPr>
        <p:spPr>
          <a:xfrm>
            <a:off x="6510528" y="1572768"/>
            <a:ext cx="501091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Sports (≈0.96) &gt; World (≈0.91) &gt; Sci/Tech (≈0.89) &gt; Business (≈0.878), for both models.</a:t>
            </a:r>
            <a:endParaRPr lang="en-US" sz="1250" dirty="0"/>
          </a:p>
        </p:txBody>
      </p:sp>
      <p:sp>
        <p:nvSpPr>
          <p:cNvPr id="9" name="badge-2"/>
          <p:cNvSpPr/>
          <p:nvPr/>
        </p:nvSpPr>
        <p:spPr>
          <a:xfrm>
            <a:off x="5943600" y="2514600"/>
            <a:ext cx="384048" cy="384048"/>
          </a:xfrm>
          <a:prstGeom prst="ellipse">
            <a:avLst/>
          </a:prstGeom>
          <a:solidFill>
            <a:srgbClr val="EB6834"/>
          </a:solidFill>
          <a:ln/>
        </p:spPr>
      </p:sp>
      <p:sp>
        <p:nvSpPr>
          <p:cNvPr id="10" name="Text 6"/>
          <p:cNvSpPr txBox="1"/>
          <p:nvPr/>
        </p:nvSpPr>
        <p:spPr>
          <a:xfrm>
            <a:off x="5943600" y="2514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7"/>
          <p:cNvSpPr txBox="1"/>
          <p:nvPr/>
        </p:nvSpPr>
        <p:spPr>
          <a:xfrm>
            <a:off x="6510528" y="2487168"/>
            <a:ext cx="5010912" cy="310896"/>
          </a:xfrm>
          <a:prstGeom prst="rect">
            <a:avLst/>
          </a:prstGeom>
          <a:noFill/>
          <a:ln/>
        </p:spPr>
        <p:txBody>
          <a:bodyPr wrap="square" lIns="0" tIns="0" rIns="0" bIns="0" rtlCol="0" anchor="ctr"/>
          <a:lstStyle/>
          <a:p>
            <a:pPr indent="0" marL="0">
              <a:buNone/>
            </a:pPr>
            <a:r>
              <a:rPr lang="en-US" sz="1500" b="1" dirty="0">
                <a:solidFill>
                  <a:srgbClr val="14213D"/>
                </a:solidFill>
              </a:rPr>
              <a:t>Agreement to four decimal places</a:t>
            </a:r>
            <a:endParaRPr lang="en-US" sz="1500" dirty="0"/>
          </a:p>
        </p:txBody>
      </p:sp>
      <p:sp>
        <p:nvSpPr>
          <p:cNvPr id="12" name="Text 8"/>
          <p:cNvSpPr txBox="1"/>
          <p:nvPr/>
        </p:nvSpPr>
        <p:spPr>
          <a:xfrm>
            <a:off x="6510528" y="2807208"/>
            <a:ext cx="501091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On the hardest class, Business, the two models score 0.8777 and 0.8780.</a:t>
            </a:r>
            <a:endParaRPr lang="en-US" sz="1250" dirty="0"/>
          </a:p>
        </p:txBody>
      </p:sp>
      <p:sp>
        <p:nvSpPr>
          <p:cNvPr id="13" name="badge-3"/>
          <p:cNvSpPr/>
          <p:nvPr/>
        </p:nvSpPr>
        <p:spPr>
          <a:xfrm>
            <a:off x="5943600" y="3749040"/>
            <a:ext cx="384048" cy="384048"/>
          </a:xfrm>
          <a:prstGeom prst="ellipse">
            <a:avLst/>
          </a:prstGeom>
          <a:solidFill>
            <a:srgbClr val="1BAF7A"/>
          </a:solidFill>
          <a:ln/>
        </p:spPr>
      </p:sp>
      <p:sp>
        <p:nvSpPr>
          <p:cNvPr id="14" name="Text 10"/>
          <p:cNvSpPr txBox="1"/>
          <p:nvPr/>
        </p:nvSpPr>
        <p:spPr>
          <a:xfrm>
            <a:off x="5943600" y="3749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1"/>
          <p:cNvSpPr txBox="1"/>
          <p:nvPr/>
        </p:nvSpPr>
        <p:spPr>
          <a:xfrm>
            <a:off x="6510528" y="3721608"/>
            <a:ext cx="5010912" cy="310896"/>
          </a:xfrm>
          <a:prstGeom prst="rect">
            <a:avLst/>
          </a:prstGeom>
          <a:noFill/>
          <a:ln/>
        </p:spPr>
        <p:txBody>
          <a:bodyPr wrap="square" lIns="0" tIns="0" rIns="0" bIns="0" rtlCol="0" anchor="ctr"/>
          <a:lstStyle/>
          <a:p>
            <a:pPr indent="0" marL="0">
              <a:buNone/>
            </a:pPr>
            <a:r>
              <a:rPr lang="en-US" sz="1500" b="1" dirty="0">
                <a:solidFill>
                  <a:srgbClr val="14213D"/>
                </a:solidFill>
              </a:rPr>
              <a:t>The same dominant error</a:t>
            </a:r>
            <a:endParaRPr lang="en-US" sz="1500" dirty="0"/>
          </a:p>
        </p:txBody>
      </p:sp>
      <p:sp>
        <p:nvSpPr>
          <p:cNvPr id="16" name="Text 12"/>
          <p:cNvSpPr txBox="1"/>
          <p:nvPr/>
        </p:nvSpPr>
        <p:spPr>
          <a:xfrm>
            <a:off x="6510528" y="4041648"/>
            <a:ext cx="501091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Business predicted as Sci/Tech: 9.2% and 9.6%. That boundary accounts for about a quarter of all errors.</a:t>
            </a:r>
            <a:endParaRPr lang="en-US" sz="1250" dirty="0"/>
          </a:p>
        </p:txBody>
      </p:sp>
      <p:sp>
        <p:nvSpPr>
          <p:cNvPr id="17" name="card-Why that boundary is irreducible"/>
          <p:cNvSpPr/>
          <p:nvPr/>
        </p:nvSpPr>
        <p:spPr>
          <a:xfrm>
            <a:off x="5943600" y="4937760"/>
            <a:ext cx="5577840" cy="1280160"/>
          </a:xfrm>
          <a:prstGeom prst="roundRect">
            <a:avLst>
              <a:gd name="adj" fmla="val 5714"/>
            </a:avLst>
          </a:prstGeom>
          <a:solidFill>
            <a:srgbClr val="EDF2F7"/>
          </a:solidFill>
          <a:ln w="12700">
            <a:solidFill>
              <a:srgbClr val="333333"/>
            </a:solidFill>
            <a:prstDash val="solid"/>
          </a:ln>
        </p:spPr>
      </p:sp>
      <p:sp>
        <p:nvSpPr>
          <p:cNvPr id="18" name="Text 14"/>
          <p:cNvSpPr txBox="1"/>
          <p:nvPr/>
        </p:nvSpPr>
        <p:spPr>
          <a:xfrm>
            <a:off x="6144768" y="5102352"/>
            <a:ext cx="5175504" cy="292608"/>
          </a:xfrm>
          <a:prstGeom prst="rect">
            <a:avLst/>
          </a:prstGeom>
          <a:noFill/>
          <a:ln/>
        </p:spPr>
        <p:txBody>
          <a:bodyPr wrap="square" lIns="0" tIns="0" rIns="0" bIns="0" rtlCol="0" anchor="ctr"/>
          <a:lstStyle/>
          <a:p>
            <a:pPr indent="0" marL="0">
              <a:buNone/>
            </a:pPr>
            <a:r>
              <a:rPr lang="en-US" sz="1400" b="1" dirty="0">
                <a:solidFill>
                  <a:srgbClr val="14213D"/>
                </a:solidFill>
              </a:rPr>
              <a:t>Why that boundary is irreducible</a:t>
            </a:r>
            <a:endParaRPr lang="en-US" sz="1400" dirty="0"/>
          </a:p>
        </p:txBody>
      </p:sp>
      <p:sp>
        <p:nvSpPr>
          <p:cNvPr id="19" name="Text 15"/>
          <p:cNvSpPr txBox="1"/>
          <p:nvPr/>
        </p:nvSpPr>
        <p:spPr>
          <a:xfrm>
            <a:off x="6144768" y="5431536"/>
            <a:ext cx="5175504" cy="62179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A semiconductor firm's quarterly earnings story is legitimately Business and legitimately Sci/Tech. The corpus assigns one label. This caps what any architecture can reach.</a:t>
            </a:r>
            <a:endParaRPr lang="en-US" sz="120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The cost result inverts the textbook expectation</a:t>
            </a:r>
            <a:endParaRPr lang="en-US" sz="3000" dirty="0"/>
          </a:p>
        </p:txBody>
      </p:sp>
      <p:graphicFrame>
        <p:nvGraphicFramePr>
          <p:cNvPr id="3" name="Chart 0" descr=""/>
          <p:cNvGraphicFramePr/>
          <p:nvPr/>
        </p:nvGraphicFramePr>
        <p:xfrm>
          <a:off x="640080" y="1325880"/>
          <a:ext cx="5943600" cy="2468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40080" y="3931920"/>
            <a:ext cx="5943600" cy="685800"/>
          </a:xfrm>
          <a:prstGeom prst="rect">
            <a:avLst/>
          </a:prstGeom>
          <a:noFill/>
          <a:ln/>
        </p:spPr>
        <p:txBody>
          <a:bodyPr wrap="square" lIns="0" tIns="0" rIns="0" bIns="0" rtlCol="0" anchor="ctr"/>
          <a:lstStyle/>
          <a:p>
            <a:pPr indent="0" marL="0">
              <a:buNone/>
            </a:pPr>
            <a:r>
              <a:rPr lang="en-US" sz="1150" dirty="0">
                <a:solidFill>
                  <a:srgbClr val="6B7A8F"/>
                </a:solidFill>
              </a:rPr>
              <a:t>Inference is measured separately: 138 ms vs 335 ms per 1,000 documents. Seconds and milliseconds are deliberately not plotted on a shared axis.</a:t>
            </a:r>
            <a:endParaRPr lang="en-US" sz="1150" dirty="0"/>
          </a:p>
        </p:txBody>
      </p:sp>
      <p:sp>
        <p:nvSpPr>
          <p:cNvPr id="5" name="stat-faster to train"/>
          <p:cNvSpPr/>
          <p:nvPr/>
        </p:nvSpPr>
        <p:spPr>
          <a:xfrm>
            <a:off x="6949440" y="1280160"/>
            <a:ext cx="2194560" cy="1325880"/>
          </a:xfrm>
          <a:prstGeom prst="roundRect">
            <a:avLst>
              <a:gd name="adj" fmla="val 6897"/>
            </a:avLst>
          </a:prstGeom>
          <a:solidFill>
            <a:srgbClr val="EDF2F7"/>
          </a:solidFill>
          <a:ln w="12700">
            <a:solidFill>
              <a:srgbClr val="333333"/>
            </a:solidFill>
            <a:prstDash val="solid"/>
          </a:ln>
        </p:spPr>
      </p:sp>
      <p:sp>
        <p:nvSpPr>
          <p:cNvPr id="6" name="Text 3"/>
          <p:cNvSpPr txBox="1"/>
          <p:nvPr/>
        </p:nvSpPr>
        <p:spPr>
          <a:xfrm>
            <a:off x="7086600" y="1371600"/>
            <a:ext cx="1920240" cy="689458"/>
          </a:xfrm>
          <a:prstGeom prst="rect">
            <a:avLst/>
          </a:prstGeom>
          <a:noFill/>
          <a:ln/>
        </p:spPr>
        <p:txBody>
          <a:bodyPr wrap="square" lIns="0" tIns="0" rIns="0" bIns="0" rtlCol="0" anchor="ctr"/>
          <a:lstStyle/>
          <a:p>
            <a:pPr algn="ctr" indent="0" marL="0">
              <a:buNone/>
            </a:pPr>
            <a:r>
              <a:rPr lang="en-US" sz="4000" b="1" dirty="0">
                <a:solidFill>
                  <a:srgbClr val="2A78D6"/>
                </a:solidFill>
                <a:latin typeface="Cambria" pitchFamily="34" charset="0"/>
                <a:ea typeface="Cambria" pitchFamily="34" charset="-122"/>
                <a:cs typeface="Cambria" pitchFamily="34" charset="-120"/>
              </a:rPr>
              <a:t>1.67×</a:t>
            </a:r>
            <a:endParaRPr lang="en-US" sz="4000" dirty="0"/>
          </a:p>
        </p:txBody>
      </p:sp>
      <p:sp>
        <p:nvSpPr>
          <p:cNvPr id="7" name="Text 4"/>
          <p:cNvSpPr txBox="1"/>
          <p:nvPr/>
        </p:nvSpPr>
        <p:spPr>
          <a:xfrm>
            <a:off x="7086600" y="2061058"/>
            <a:ext cx="1920240" cy="274320"/>
          </a:xfrm>
          <a:prstGeom prst="rect">
            <a:avLst/>
          </a:prstGeom>
          <a:noFill/>
          <a:ln/>
        </p:spPr>
        <p:txBody>
          <a:bodyPr wrap="square" lIns="0" tIns="0" rIns="0" bIns="0" rtlCol="0" anchor="ctr"/>
          <a:lstStyle/>
          <a:p>
            <a:pPr algn="ctr" indent="0" marL="0">
              <a:buNone/>
            </a:pPr>
            <a:r>
              <a:rPr lang="en-US" sz="1300" b="1" dirty="0">
                <a:solidFill>
                  <a:srgbClr val="14213D"/>
                </a:solidFill>
              </a:rPr>
              <a:t>faster to train</a:t>
            </a:r>
            <a:endParaRPr lang="en-US" sz="1300" dirty="0"/>
          </a:p>
        </p:txBody>
      </p:sp>
      <p:sp>
        <p:nvSpPr>
          <p:cNvPr id="8" name="stat-faster inference"/>
          <p:cNvSpPr/>
          <p:nvPr/>
        </p:nvSpPr>
        <p:spPr>
          <a:xfrm>
            <a:off x="9326880" y="1280160"/>
            <a:ext cx="2194560" cy="1325880"/>
          </a:xfrm>
          <a:prstGeom prst="roundRect">
            <a:avLst>
              <a:gd name="adj" fmla="val 6897"/>
            </a:avLst>
          </a:prstGeom>
          <a:solidFill>
            <a:srgbClr val="EDF2F7"/>
          </a:solidFill>
          <a:ln w="12700">
            <a:solidFill>
              <a:srgbClr val="333333"/>
            </a:solidFill>
            <a:prstDash val="solid"/>
          </a:ln>
        </p:spPr>
      </p:sp>
      <p:sp>
        <p:nvSpPr>
          <p:cNvPr id="9" name="Text 6"/>
          <p:cNvSpPr txBox="1"/>
          <p:nvPr/>
        </p:nvSpPr>
        <p:spPr>
          <a:xfrm>
            <a:off x="9464040" y="1371600"/>
            <a:ext cx="1920240" cy="689458"/>
          </a:xfrm>
          <a:prstGeom prst="rect">
            <a:avLst/>
          </a:prstGeom>
          <a:noFill/>
          <a:ln/>
        </p:spPr>
        <p:txBody>
          <a:bodyPr wrap="square" lIns="0" tIns="0" rIns="0" bIns="0" rtlCol="0" anchor="ctr"/>
          <a:lstStyle/>
          <a:p>
            <a:pPr algn="ctr" indent="0" marL="0">
              <a:buNone/>
            </a:pPr>
            <a:r>
              <a:rPr lang="en-US" sz="4000" b="1" dirty="0">
                <a:solidFill>
                  <a:srgbClr val="2A78D6"/>
                </a:solidFill>
                <a:latin typeface="Cambria" pitchFamily="34" charset="0"/>
                <a:ea typeface="Cambria" pitchFamily="34" charset="-122"/>
                <a:cs typeface="Cambria" pitchFamily="34" charset="-120"/>
              </a:rPr>
              <a:t>2.43×</a:t>
            </a:r>
            <a:endParaRPr lang="en-US" sz="4000" dirty="0"/>
          </a:p>
        </p:txBody>
      </p:sp>
      <p:sp>
        <p:nvSpPr>
          <p:cNvPr id="10" name="Text 7"/>
          <p:cNvSpPr txBox="1"/>
          <p:nvPr/>
        </p:nvSpPr>
        <p:spPr>
          <a:xfrm>
            <a:off x="9464040" y="2061058"/>
            <a:ext cx="1920240" cy="274320"/>
          </a:xfrm>
          <a:prstGeom prst="rect">
            <a:avLst/>
          </a:prstGeom>
          <a:noFill/>
          <a:ln/>
        </p:spPr>
        <p:txBody>
          <a:bodyPr wrap="square" lIns="0" tIns="0" rIns="0" bIns="0" rtlCol="0" anchor="ctr"/>
          <a:lstStyle/>
          <a:p>
            <a:pPr algn="ctr" indent="0" marL="0">
              <a:buNone/>
            </a:pPr>
            <a:r>
              <a:rPr lang="en-US" sz="1300" b="1" dirty="0">
                <a:solidFill>
                  <a:srgbClr val="14213D"/>
                </a:solidFill>
              </a:rPr>
              <a:t>faster inference</a:t>
            </a:r>
            <a:endParaRPr lang="en-US" sz="1300" dirty="0"/>
          </a:p>
        </p:txBody>
      </p:sp>
      <p:sp>
        <p:nvSpPr>
          <p:cNvPr id="11" name="Text 8"/>
          <p:cNvSpPr txBox="1"/>
          <p:nvPr/>
        </p:nvSpPr>
        <p:spPr>
          <a:xfrm>
            <a:off x="6949440" y="2743200"/>
            <a:ext cx="4572000" cy="457200"/>
          </a:xfrm>
          <a:prstGeom prst="rect">
            <a:avLst/>
          </a:prstGeom>
          <a:noFill/>
          <a:ln/>
        </p:spPr>
        <p:txBody>
          <a:bodyPr wrap="square" lIns="0" tIns="0" rIns="0" bIns="0" rtlCol="0" anchor="ctr"/>
          <a:lstStyle/>
          <a:p>
            <a:pPr indent="0" marL="0">
              <a:buNone/>
            </a:pPr>
            <a:r>
              <a:rPr lang="en-US" sz="1300" b="1" dirty="0">
                <a:solidFill>
                  <a:srgbClr val="14213D"/>
                </a:solidFill>
              </a:rPr>
              <a:t>…in favour of the recurrent model, at matched accuracy and matched capacity.</a:t>
            </a:r>
            <a:endParaRPr lang="en-US" sz="1300" dirty="0"/>
          </a:p>
        </p:txBody>
      </p:sp>
      <p:sp>
        <p:nvSpPr>
          <p:cNvPr id="12" name="card-Why this does not contradict the theory"/>
          <p:cNvSpPr/>
          <p:nvPr/>
        </p:nvSpPr>
        <p:spPr>
          <a:xfrm>
            <a:off x="6949440" y="3291840"/>
            <a:ext cx="4572000" cy="2468880"/>
          </a:xfrm>
          <a:prstGeom prst="roundRect">
            <a:avLst>
              <a:gd name="adj" fmla="val 2963"/>
            </a:avLst>
          </a:prstGeom>
          <a:solidFill>
            <a:srgbClr val="EDF2F7"/>
          </a:solidFill>
          <a:ln w="12700">
            <a:solidFill>
              <a:srgbClr val="333333"/>
            </a:solidFill>
            <a:prstDash val="solid"/>
          </a:ln>
        </p:spPr>
      </p:sp>
      <p:sp>
        <p:nvSpPr>
          <p:cNvPr id="13" name="Text 10"/>
          <p:cNvSpPr txBox="1"/>
          <p:nvPr/>
        </p:nvSpPr>
        <p:spPr>
          <a:xfrm>
            <a:off x="7150608" y="3456432"/>
            <a:ext cx="4169664" cy="292608"/>
          </a:xfrm>
          <a:prstGeom prst="rect">
            <a:avLst/>
          </a:prstGeom>
          <a:noFill/>
          <a:ln/>
        </p:spPr>
        <p:txBody>
          <a:bodyPr wrap="square" lIns="0" tIns="0" rIns="0" bIns="0" rtlCol="0" anchor="ctr"/>
          <a:lstStyle/>
          <a:p>
            <a:pPr indent="0" marL="0">
              <a:buNone/>
            </a:pPr>
            <a:r>
              <a:rPr lang="en-US" sz="1400" b="1" dirty="0">
                <a:solidFill>
                  <a:srgbClr val="EB6834"/>
                </a:solidFill>
              </a:rPr>
              <a:t>Why this does not contradict the theory</a:t>
            </a:r>
            <a:endParaRPr lang="en-US" sz="1400" dirty="0"/>
          </a:p>
        </p:txBody>
      </p:sp>
      <p:sp>
        <p:nvSpPr>
          <p:cNvPr id="14" name="Text 11"/>
          <p:cNvSpPr txBox="1"/>
          <p:nvPr/>
        </p:nvSpPr>
        <p:spPr>
          <a:xfrm>
            <a:off x="7150608" y="3785616"/>
            <a:ext cx="4169664" cy="181051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Attention's advantage is asymptotic: O(1) sequential depth against O(n), and it needs parallel hardware to cash in.</a:t>
            </a:r>
            <a:endParaRPr lang="en-US" sz="1200" dirty="0"/>
          </a:p>
          <a:p>
            <a:pPr indent="0" marL="0">
              <a:lnSpc>
                <a:spcPct val="108000"/>
              </a:lnSpc>
              <a:buNone/>
            </a:pPr>
            <a:endParaRPr lang="en-US" sz="1200" dirty="0"/>
          </a:p>
          <a:p>
            <a:pPr indent="0" marL="0">
              <a:lnSpc>
                <a:spcPct val="108000"/>
              </a:lnSpc>
              <a:buNone/>
            </a:pPr>
            <a:r>
              <a:rPr lang="en-US" sz="1200" dirty="0">
                <a:solidFill>
                  <a:srgbClr val="3D5A80"/>
                </a:solidFill>
              </a:rPr>
              <a:t>Neither condition holds here. On 6 CPU threads there is little parallelism to exploit, and per-layer cost is O(n·d²) vs O(n²·d) — with n = 64 and d = 128 these are the same order, so attention does not even win on operation count.</a:t>
            </a:r>
            <a:endParaRPr lang="en-US" sz="1200" dirty="0"/>
          </a:p>
          <a:p>
            <a:pPr indent="0" marL="0">
              <a:lnSpc>
                <a:spcPct val="108000"/>
              </a:lnSpc>
              <a:buNone/>
            </a:pPr>
            <a:endParaRPr lang="en-US" sz="1200" dirty="0"/>
          </a:p>
          <a:p>
            <a:pPr indent="0" marL="0">
              <a:lnSpc>
                <a:spcPct val="108000"/>
              </a:lnSpc>
              <a:buNone/>
            </a:pPr>
            <a:r>
              <a:rPr lang="en-US" sz="1200" dirty="0">
                <a:solidFill>
                  <a:srgbClr val="3D5A80"/>
                </a:solidFill>
              </a:rPr>
              <a:t>When neither parallelism nor arithmetic favours attention, constant factors decide.</a:t>
            </a:r>
            <a:endParaRPr lang="en-US" sz="1200" dirty="0"/>
          </a:p>
        </p:txBody>
      </p:sp>
      <p:sp>
        <p:nvSpPr>
          <p:cNvPr id="15" name="Text 12"/>
          <p:cNvSpPr txBox="1"/>
          <p:nvPr/>
        </p:nvSpPr>
        <p:spPr>
          <a:xfrm>
            <a:off x="640080" y="4663440"/>
            <a:ext cx="5943600" cy="1097280"/>
          </a:xfrm>
          <a:prstGeom prst="rect">
            <a:avLst/>
          </a:prstGeom>
          <a:noFill/>
          <a:ln/>
        </p:spPr>
        <p:txBody>
          <a:bodyPr wrap="square" lIns="0" tIns="0" rIns="0" bIns="0" rtlCol="0" anchor="ctr"/>
          <a:lstStyle/>
          <a:p>
            <a:pPr indent="0" marL="0">
              <a:buNone/>
            </a:pPr>
            <a:r>
              <a:rPr lang="en-US" sz="1300" i="1" dirty="0">
                <a:solidFill>
                  <a:srgbClr val="14213D"/>
                </a:solidFill>
              </a:rPr>
              <a:t>This is a finding about a regime, not about the architectures. The ordering should reverse on a GPU, and the recurrent model's disadvantage grows with sequence length.</a:t>
            </a:r>
            <a:endParaRPr lang="en-US" sz="130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Why they tie: there is no long range to model</a:t>
            </a:r>
            <a:endParaRPr lang="en-US" sz="3000" dirty="0"/>
          </a:p>
        </p:txBody>
      </p:sp>
      <p:sp>
        <p:nvSpPr>
          <p:cNvPr id="3" name="median-card"/>
          <p:cNvSpPr/>
          <p:nvPr/>
        </p:nvSpPr>
        <p:spPr>
          <a:xfrm>
            <a:off x="640080" y="1234440"/>
            <a:ext cx="4754880" cy="2103120"/>
          </a:xfrm>
          <a:prstGeom prst="roundRect">
            <a:avLst>
              <a:gd name="adj" fmla="val 4348"/>
            </a:avLst>
          </a:prstGeom>
          <a:solidFill>
            <a:srgbClr val="14213D"/>
          </a:solidFill>
          <a:ln w="12700">
            <a:solidFill>
              <a:srgbClr val="333333"/>
            </a:solidFill>
            <a:prstDash val="solid"/>
          </a:ln>
        </p:spPr>
      </p:sp>
      <p:sp>
        <p:nvSpPr>
          <p:cNvPr id="4" name="Text 2"/>
          <p:cNvSpPr txBox="1"/>
          <p:nvPr/>
        </p:nvSpPr>
        <p:spPr>
          <a:xfrm>
            <a:off x="640080" y="1371600"/>
            <a:ext cx="4754880" cy="1005840"/>
          </a:xfrm>
          <a:prstGeom prst="rect">
            <a:avLst/>
          </a:prstGeom>
          <a:noFill/>
          <a:ln/>
        </p:spPr>
        <p:txBody>
          <a:bodyPr wrap="square" lIns="0" tIns="0" rIns="0" bIns="0" rtlCol="0" anchor="ctr"/>
          <a:lstStyle/>
          <a:p>
            <a:pPr algn="ctr" indent="0" marL="0">
              <a:buNone/>
            </a:pPr>
            <a:r>
              <a:rPr lang="en-US" sz="6000" b="1" dirty="0">
                <a:solidFill>
                  <a:srgbClr val="EB6834"/>
                </a:solidFill>
                <a:latin typeface="Cambria" pitchFamily="34" charset="0"/>
                <a:ea typeface="Cambria" pitchFamily="34" charset="-122"/>
                <a:cs typeface="Cambria" pitchFamily="34" charset="-120"/>
              </a:rPr>
              <a:t>39</a:t>
            </a:r>
            <a:endParaRPr lang="en-US" sz="6000" dirty="0"/>
          </a:p>
        </p:txBody>
      </p:sp>
      <p:sp>
        <p:nvSpPr>
          <p:cNvPr id="5" name="Text 3"/>
          <p:cNvSpPr txBox="1"/>
          <p:nvPr/>
        </p:nvSpPr>
        <p:spPr>
          <a:xfrm>
            <a:off x="640080" y="2377440"/>
            <a:ext cx="4754880" cy="320040"/>
          </a:xfrm>
          <a:prstGeom prst="rect">
            <a:avLst/>
          </a:prstGeom>
          <a:noFill/>
          <a:ln/>
        </p:spPr>
        <p:txBody>
          <a:bodyPr wrap="square" lIns="0" tIns="0" rIns="0" bIns="0" rtlCol="0" anchor="ctr"/>
          <a:lstStyle/>
          <a:p>
            <a:pPr algn="ctr" indent="0" marL="0">
              <a:buNone/>
            </a:pPr>
            <a:r>
              <a:rPr lang="en-US" sz="1500" b="1" dirty="0">
                <a:solidFill>
                  <a:srgbClr val="FFFFFF"/>
                </a:solidFill>
              </a:rPr>
              <a:t>median tokens per document</a:t>
            </a:r>
            <a:endParaRPr lang="en-US" sz="1500" dirty="0"/>
          </a:p>
        </p:txBody>
      </p:sp>
      <p:sp>
        <p:nvSpPr>
          <p:cNvPr id="6" name="Text 4"/>
          <p:cNvSpPr txBox="1"/>
          <p:nvPr/>
        </p:nvSpPr>
        <p:spPr>
          <a:xfrm>
            <a:off x="640080" y="2724912"/>
            <a:ext cx="4754880" cy="320040"/>
          </a:xfrm>
          <a:prstGeom prst="rect">
            <a:avLst/>
          </a:prstGeom>
          <a:noFill/>
          <a:ln/>
        </p:spPr>
        <p:txBody>
          <a:bodyPr wrap="square" lIns="0" tIns="0" rIns="0" bIns="0" rtlCol="0" anchor="ctr"/>
          <a:lstStyle/>
          <a:p>
            <a:pPr algn="ctr" indent="0" marL="0">
              <a:buNone/>
            </a:pPr>
            <a:r>
              <a:rPr lang="en-US" sz="1200" dirty="0">
                <a:solidFill>
                  <a:srgbClr val="AEBCD1"/>
                </a:solidFill>
              </a:rPr>
              <a:t>A headline plus one sentence</a:t>
            </a:r>
            <a:endParaRPr lang="en-US" sz="1200" dirty="0"/>
          </a:p>
        </p:txBody>
      </p:sp>
      <p:sp>
        <p:nvSpPr>
          <p:cNvPr id="7" name="badge-1"/>
          <p:cNvSpPr/>
          <p:nvPr/>
        </p:nvSpPr>
        <p:spPr>
          <a:xfrm>
            <a:off x="5852160" y="1325880"/>
            <a:ext cx="384048" cy="384048"/>
          </a:xfrm>
          <a:prstGeom prst="ellipse">
            <a:avLst/>
          </a:prstGeom>
          <a:solidFill>
            <a:srgbClr val="EB6834"/>
          </a:solidFill>
          <a:ln/>
        </p:spPr>
      </p:sp>
      <p:sp>
        <p:nvSpPr>
          <p:cNvPr id="8" name="Text 6"/>
          <p:cNvSpPr txBox="1"/>
          <p:nvPr/>
        </p:nvSpPr>
        <p:spPr>
          <a:xfrm>
            <a:off x="5852160" y="1325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txBox="1"/>
          <p:nvPr/>
        </p:nvSpPr>
        <p:spPr>
          <a:xfrm>
            <a:off x="6419088" y="1298448"/>
            <a:ext cx="5102352" cy="310896"/>
          </a:xfrm>
          <a:prstGeom prst="rect">
            <a:avLst/>
          </a:prstGeom>
          <a:noFill/>
          <a:ln/>
        </p:spPr>
        <p:txBody>
          <a:bodyPr wrap="square" lIns="0" tIns="0" rIns="0" bIns="0" rtlCol="0" anchor="ctr"/>
          <a:lstStyle/>
          <a:p>
            <a:pPr indent="0" marL="0">
              <a:buNone/>
            </a:pPr>
            <a:r>
              <a:rPr lang="en-US" sz="1500" b="1" dirty="0">
                <a:solidFill>
                  <a:srgbClr val="14213D"/>
                </a:solidFill>
              </a:rPr>
              <a:t>Attention's advantage is about distance</a:t>
            </a:r>
            <a:endParaRPr lang="en-US" sz="1500" dirty="0"/>
          </a:p>
        </p:txBody>
      </p:sp>
      <p:sp>
        <p:nvSpPr>
          <p:cNvPr id="10" name="Text 8"/>
          <p:cNvSpPr txBox="1"/>
          <p:nvPr/>
        </p:nvSpPr>
        <p:spPr>
          <a:xfrm>
            <a:off x="6419088" y="1618488"/>
            <a:ext cx="510235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Self-attention gives an O(1) path between any two positions, against O(n) for recurrence. In a 39-token document there are almost no distant positions to connect.</a:t>
            </a:r>
            <a:endParaRPr lang="en-US" sz="1250" dirty="0"/>
          </a:p>
        </p:txBody>
      </p:sp>
      <p:sp>
        <p:nvSpPr>
          <p:cNvPr id="11" name="badge-2"/>
          <p:cNvSpPr/>
          <p:nvPr/>
        </p:nvSpPr>
        <p:spPr>
          <a:xfrm>
            <a:off x="5852160" y="2697480"/>
            <a:ext cx="384048" cy="384048"/>
          </a:xfrm>
          <a:prstGeom prst="ellipse">
            <a:avLst/>
          </a:prstGeom>
          <a:solidFill>
            <a:srgbClr val="2A78D6"/>
          </a:solidFill>
          <a:ln/>
        </p:spPr>
      </p:sp>
      <p:sp>
        <p:nvSpPr>
          <p:cNvPr id="12" name="Text 10"/>
          <p:cNvSpPr txBox="1"/>
          <p:nvPr/>
        </p:nvSpPr>
        <p:spPr>
          <a:xfrm>
            <a:off x="5852160" y="2697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1"/>
          <p:cNvSpPr txBox="1"/>
          <p:nvPr/>
        </p:nvSpPr>
        <p:spPr>
          <a:xfrm>
            <a:off x="6419088" y="2670048"/>
            <a:ext cx="5102352" cy="310896"/>
          </a:xfrm>
          <a:prstGeom prst="rect">
            <a:avLst/>
          </a:prstGeom>
          <a:noFill/>
          <a:ln/>
        </p:spPr>
        <p:txBody>
          <a:bodyPr wrap="square" lIns="0" tIns="0" rIns="0" bIns="0" rtlCol="0" anchor="ctr"/>
          <a:lstStyle/>
          <a:p>
            <a:pPr indent="0" marL="0">
              <a:buNone/>
            </a:pPr>
            <a:r>
              <a:rPr lang="en-US" sz="1500" b="1" dirty="0">
                <a:solidFill>
                  <a:srgbClr val="14213D"/>
                </a:solidFill>
              </a:rPr>
              <a:t>The signal here is lexical, not structural</a:t>
            </a:r>
            <a:endParaRPr lang="en-US" sz="1500" dirty="0"/>
          </a:p>
        </p:txBody>
      </p:sp>
      <p:sp>
        <p:nvSpPr>
          <p:cNvPr id="14" name="Text 12"/>
          <p:cNvSpPr txBox="1"/>
          <p:nvPr/>
        </p:nvSpPr>
        <p:spPr>
          <a:xfrm>
            <a:off x="6419088" y="2990088"/>
            <a:ext cx="510235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“coach”, “Olympic”, “medal” identify a sports story regardless of their arrangement. A bidirectional LSTM captures that just as well.</a:t>
            </a:r>
            <a:endParaRPr lang="en-US" sz="1250" dirty="0"/>
          </a:p>
        </p:txBody>
      </p:sp>
      <p:sp>
        <p:nvSpPr>
          <p:cNvPr id="15" name="badge-3"/>
          <p:cNvSpPr/>
          <p:nvPr/>
        </p:nvSpPr>
        <p:spPr>
          <a:xfrm>
            <a:off x="5852160" y="4069080"/>
            <a:ext cx="384048" cy="384048"/>
          </a:xfrm>
          <a:prstGeom prst="ellipse">
            <a:avLst/>
          </a:prstGeom>
          <a:solidFill>
            <a:srgbClr val="1BAF7A"/>
          </a:solidFill>
          <a:ln/>
        </p:spPr>
      </p:sp>
      <p:sp>
        <p:nvSpPr>
          <p:cNvPr id="16" name="Text 14"/>
          <p:cNvSpPr txBox="1"/>
          <p:nvPr/>
        </p:nvSpPr>
        <p:spPr>
          <a:xfrm>
            <a:off x="5852160" y="4069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5"/>
          <p:cNvSpPr txBox="1"/>
          <p:nvPr/>
        </p:nvSpPr>
        <p:spPr>
          <a:xfrm>
            <a:off x="6419088" y="4041648"/>
            <a:ext cx="5102352" cy="310896"/>
          </a:xfrm>
          <a:prstGeom prst="rect">
            <a:avLst/>
          </a:prstGeom>
          <a:noFill/>
          <a:ln/>
        </p:spPr>
        <p:txBody>
          <a:bodyPr wrap="square" lIns="0" tIns="0" rIns="0" bIns="0" rtlCol="0" anchor="ctr"/>
          <a:lstStyle/>
          <a:p>
            <a:pPr indent="0" marL="0">
              <a:buNone/>
            </a:pPr>
            <a:r>
              <a:rPr lang="en-US" sz="1500" b="1" dirty="0">
                <a:solidFill>
                  <a:srgbClr val="14213D"/>
                </a:solidFill>
              </a:rPr>
              <a:t>The literature corroborates it</a:t>
            </a:r>
            <a:endParaRPr lang="en-US" sz="1500" dirty="0"/>
          </a:p>
        </p:txBody>
      </p:sp>
      <p:sp>
        <p:nvSpPr>
          <p:cNvPr id="18" name="Text 16"/>
          <p:cNvSpPr txBox="1"/>
          <p:nvPr/>
        </p:nvSpPr>
        <p:spPr>
          <a:xfrm>
            <a:off x="6419088" y="4361688"/>
            <a:ext cx="510235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FastText averages word vectors and models no order at all — yet reaches ≈92.5% on AG News, at or above both models here.</a:t>
            </a:r>
            <a:endParaRPr lang="en-US" sz="1250" dirty="0"/>
          </a:p>
        </p:txBody>
      </p:sp>
      <p:sp>
        <p:nvSpPr>
          <p:cNvPr id="19" name="card-The general form of the argument"/>
          <p:cNvSpPr/>
          <p:nvPr/>
        </p:nvSpPr>
        <p:spPr>
          <a:xfrm>
            <a:off x="640080" y="3520440"/>
            <a:ext cx="4754880" cy="2240280"/>
          </a:xfrm>
          <a:prstGeom prst="roundRect">
            <a:avLst>
              <a:gd name="adj" fmla="val 3265"/>
            </a:avLst>
          </a:prstGeom>
          <a:solidFill>
            <a:srgbClr val="EDF2F7"/>
          </a:solidFill>
          <a:ln w="12700">
            <a:solidFill>
              <a:srgbClr val="333333"/>
            </a:solidFill>
            <a:prstDash val="solid"/>
          </a:ln>
        </p:spPr>
      </p:sp>
      <p:sp>
        <p:nvSpPr>
          <p:cNvPr id="20" name="Text 18"/>
          <p:cNvSpPr txBox="1"/>
          <p:nvPr/>
        </p:nvSpPr>
        <p:spPr>
          <a:xfrm>
            <a:off x="841248" y="3685032"/>
            <a:ext cx="4352544" cy="292608"/>
          </a:xfrm>
          <a:prstGeom prst="rect">
            <a:avLst/>
          </a:prstGeom>
          <a:noFill/>
          <a:ln/>
        </p:spPr>
        <p:txBody>
          <a:bodyPr wrap="square" lIns="0" tIns="0" rIns="0" bIns="0" rtlCol="0" anchor="ctr"/>
          <a:lstStyle/>
          <a:p>
            <a:pPr indent="0" marL="0">
              <a:buNone/>
            </a:pPr>
            <a:r>
              <a:rPr lang="en-US" sz="1400" b="1" dirty="0">
                <a:solidFill>
                  <a:srgbClr val="14213D"/>
                </a:solidFill>
              </a:rPr>
              <a:t>The general form of the argument</a:t>
            </a:r>
            <a:endParaRPr lang="en-US" sz="1400" dirty="0"/>
          </a:p>
        </p:txBody>
      </p:sp>
      <p:sp>
        <p:nvSpPr>
          <p:cNvPr id="21" name="Text 19"/>
          <p:cNvSpPr txBox="1"/>
          <p:nvPr/>
        </p:nvSpPr>
        <p:spPr>
          <a:xfrm>
            <a:off x="841248" y="4014216"/>
            <a:ext cx="4352544" cy="158191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An architecture's advantage can only show up on a task that exercises the property it is good at.</a:t>
            </a:r>
            <a:endParaRPr lang="en-US" sz="1200" dirty="0"/>
          </a:p>
          <a:p>
            <a:pPr indent="0" marL="0">
              <a:lnSpc>
                <a:spcPct val="108000"/>
              </a:lnSpc>
              <a:buNone/>
            </a:pPr>
            <a:endParaRPr lang="en-US" sz="1200" dirty="0"/>
          </a:p>
          <a:p>
            <a:pPr indent="0" marL="0">
              <a:lnSpc>
                <a:spcPct val="108000"/>
              </a:lnSpc>
              <a:buNone/>
            </a:pPr>
            <a:r>
              <a:rPr lang="en-US" sz="1200" dirty="0">
                <a:solidFill>
                  <a:srgbClr val="3D5A80"/>
                </a:solidFill>
              </a:rPr>
              <a:t>Transformers are superior at long-range dependency. AG News contains almost none. So the two architectures perform equivalently.</a:t>
            </a:r>
            <a:endParaRPr lang="en-US" sz="1200" dirty="0"/>
          </a:p>
          <a:p>
            <a:pPr indent="0" marL="0">
              <a:lnSpc>
                <a:spcPct val="108000"/>
              </a:lnSpc>
              <a:buNone/>
            </a:pPr>
            <a:endParaRPr lang="en-US" sz="1200" dirty="0"/>
          </a:p>
          <a:p>
            <a:pPr indent="0" marL="0">
              <a:lnSpc>
                <a:spcPct val="108000"/>
              </a:lnSpc>
              <a:buNone/>
            </a:pPr>
            <a:r>
              <a:rPr lang="en-US" sz="1200" dirty="0">
                <a:solidFill>
                  <a:srgbClr val="3D5A80"/>
                </a:solidFill>
              </a:rPr>
              <a:t>This is a statement about the task, not a limitation of the Transformer.</a:t>
            </a:r>
            <a:endParaRPr lang="en-US" sz="120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Conclusions, and what I would do next</a:t>
            </a:r>
            <a:endParaRPr lang="en-US" sz="3000" dirty="0"/>
          </a:p>
        </p:txBody>
      </p:sp>
      <p:sp>
        <p:nvSpPr>
          <p:cNvPr id="3" name="f-0"/>
          <p:cNvSpPr/>
          <p:nvPr/>
        </p:nvSpPr>
        <p:spPr>
          <a:xfrm>
            <a:off x="640080" y="1371600"/>
            <a:ext cx="384048" cy="384048"/>
          </a:xfrm>
          <a:prstGeom prst="ellipse">
            <a:avLst/>
          </a:prstGeom>
          <a:solidFill>
            <a:srgbClr val="2A78D6"/>
          </a:solidFill>
          <a:ln/>
        </p:spPr>
      </p:sp>
      <p:sp>
        <p:nvSpPr>
          <p:cNvPr id="4" name="Text 2"/>
          <p:cNvSpPr txBox="1"/>
          <p:nvPr/>
        </p:nvSpPr>
        <p:spPr>
          <a:xfrm>
            <a:off x="640080" y="1371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188720" y="1353312"/>
            <a:ext cx="4846320" cy="292608"/>
          </a:xfrm>
          <a:prstGeom prst="rect">
            <a:avLst/>
          </a:prstGeom>
          <a:noFill/>
          <a:ln/>
        </p:spPr>
        <p:txBody>
          <a:bodyPr wrap="square" lIns="0" tIns="0" rIns="0" bIns="0" rtlCol="0" anchor="ctr"/>
          <a:lstStyle/>
          <a:p>
            <a:pPr indent="0" marL="0">
              <a:buNone/>
            </a:pPr>
            <a:r>
              <a:rPr lang="en-US" sz="1500" b="1" dirty="0">
                <a:solidFill>
                  <a:srgbClr val="FFFFFF"/>
                </a:solidFill>
              </a:rPr>
              <a:t>Statistically indistinguishable</a:t>
            </a:r>
            <a:endParaRPr lang="en-US" sz="1500" dirty="0"/>
          </a:p>
        </p:txBody>
      </p:sp>
      <p:sp>
        <p:nvSpPr>
          <p:cNvPr id="6" name="Text 4"/>
          <p:cNvSpPr txBox="1"/>
          <p:nvPr/>
        </p:nvSpPr>
        <p:spPr>
          <a:xfrm>
            <a:off x="1188720" y="1673352"/>
            <a:ext cx="4846320" cy="731520"/>
          </a:xfrm>
          <a:prstGeom prst="rect">
            <a:avLst/>
          </a:prstGeom>
          <a:noFill/>
          <a:ln/>
        </p:spPr>
        <p:txBody>
          <a:bodyPr wrap="square" lIns="0" tIns="0" rIns="0" bIns="0" rtlCol="0" anchor="ctr"/>
          <a:lstStyle/>
          <a:p>
            <a:pPr indent="0" marL="0">
              <a:lnSpc>
                <a:spcPct val="105000"/>
              </a:lnSpc>
              <a:buNone/>
            </a:pPr>
            <a:r>
              <a:rPr lang="en-US" sz="1250" dirty="0">
                <a:solidFill>
                  <a:srgbClr val="AEBCD1"/>
                </a:solidFill>
              </a:rPr>
              <a:t>91.14% vs 91.05%, McNemar p = 0.754, 94.78% agreement.</a:t>
            </a:r>
            <a:endParaRPr lang="en-US" sz="1250" dirty="0"/>
          </a:p>
        </p:txBody>
      </p:sp>
      <p:sp>
        <p:nvSpPr>
          <p:cNvPr id="7" name="f-1"/>
          <p:cNvSpPr/>
          <p:nvPr/>
        </p:nvSpPr>
        <p:spPr>
          <a:xfrm>
            <a:off x="6217920" y="1371600"/>
            <a:ext cx="384048" cy="384048"/>
          </a:xfrm>
          <a:prstGeom prst="ellipse">
            <a:avLst/>
          </a:prstGeom>
          <a:solidFill>
            <a:srgbClr val="EB6834"/>
          </a:solidFill>
          <a:ln/>
        </p:spPr>
      </p:sp>
      <p:sp>
        <p:nvSpPr>
          <p:cNvPr id="8" name="Text 6"/>
          <p:cNvSpPr txBox="1"/>
          <p:nvPr/>
        </p:nvSpPr>
        <p:spPr>
          <a:xfrm>
            <a:off x="6217920" y="1371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7"/>
          <p:cNvSpPr txBox="1"/>
          <p:nvPr/>
        </p:nvSpPr>
        <p:spPr>
          <a:xfrm>
            <a:off x="6766560" y="1353312"/>
            <a:ext cx="4846320" cy="292608"/>
          </a:xfrm>
          <a:prstGeom prst="rect">
            <a:avLst/>
          </a:prstGeom>
          <a:noFill/>
          <a:ln/>
        </p:spPr>
        <p:txBody>
          <a:bodyPr wrap="square" lIns="0" tIns="0" rIns="0" bIns="0" rtlCol="0" anchor="ctr"/>
          <a:lstStyle/>
          <a:p>
            <a:pPr indent="0" marL="0">
              <a:buNone/>
            </a:pPr>
            <a:r>
              <a:rPr lang="en-US" sz="1500" b="1" dirty="0">
                <a:solidFill>
                  <a:srgbClr val="FFFFFF"/>
                </a:solidFill>
              </a:rPr>
              <a:t>Document length explains it</a:t>
            </a:r>
            <a:endParaRPr lang="en-US" sz="1500" dirty="0"/>
          </a:p>
        </p:txBody>
      </p:sp>
      <p:sp>
        <p:nvSpPr>
          <p:cNvPr id="10" name="Text 8"/>
          <p:cNvSpPr txBox="1"/>
          <p:nvPr/>
        </p:nvSpPr>
        <p:spPr>
          <a:xfrm>
            <a:off x="6766560" y="1673352"/>
            <a:ext cx="4846320" cy="731520"/>
          </a:xfrm>
          <a:prstGeom prst="rect">
            <a:avLst/>
          </a:prstGeom>
          <a:noFill/>
          <a:ln/>
        </p:spPr>
        <p:txBody>
          <a:bodyPr wrap="square" lIns="0" tIns="0" rIns="0" bIns="0" rtlCol="0" anchor="ctr"/>
          <a:lstStyle/>
          <a:p>
            <a:pPr indent="0" marL="0">
              <a:lnSpc>
                <a:spcPct val="105000"/>
              </a:lnSpc>
              <a:buNone/>
            </a:pPr>
            <a:r>
              <a:rPr lang="en-US" sz="1250" dirty="0">
                <a:solidFill>
                  <a:srgbClr val="AEBCD1"/>
                </a:solidFill>
              </a:rPr>
              <a:t>Median 39 tokens leaves attention's long-range advantage nothing to act on.</a:t>
            </a:r>
            <a:endParaRPr lang="en-US" sz="1250" dirty="0"/>
          </a:p>
        </p:txBody>
      </p:sp>
      <p:sp>
        <p:nvSpPr>
          <p:cNvPr id="11" name="f-2"/>
          <p:cNvSpPr/>
          <p:nvPr/>
        </p:nvSpPr>
        <p:spPr>
          <a:xfrm>
            <a:off x="640080" y="2743200"/>
            <a:ext cx="384048" cy="384048"/>
          </a:xfrm>
          <a:prstGeom prst="ellipse">
            <a:avLst/>
          </a:prstGeom>
          <a:solidFill>
            <a:srgbClr val="1BAF7A"/>
          </a:solidFill>
          <a:ln/>
        </p:spPr>
      </p:sp>
      <p:sp>
        <p:nvSpPr>
          <p:cNvPr id="12" name="Text 10"/>
          <p:cNvSpPr txBox="1"/>
          <p:nvPr/>
        </p:nvSpPr>
        <p:spPr>
          <a:xfrm>
            <a:off x="640080" y="2743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3" name="Text 11"/>
          <p:cNvSpPr txBox="1"/>
          <p:nvPr/>
        </p:nvSpPr>
        <p:spPr>
          <a:xfrm>
            <a:off x="1188720" y="2724912"/>
            <a:ext cx="4846320" cy="292608"/>
          </a:xfrm>
          <a:prstGeom prst="rect">
            <a:avLst/>
          </a:prstGeom>
          <a:noFill/>
          <a:ln/>
        </p:spPr>
        <p:txBody>
          <a:bodyPr wrap="square" lIns="0" tIns="0" rIns="0" bIns="0" rtlCol="0" anchor="ctr"/>
          <a:lstStyle/>
          <a:p>
            <a:pPr indent="0" marL="0">
              <a:buNone/>
            </a:pPr>
            <a:r>
              <a:rPr lang="en-US" sz="1500" b="1" dirty="0">
                <a:solidFill>
                  <a:srgbClr val="FFFFFF"/>
                </a:solidFill>
              </a:rPr>
              <a:t>They fail identically</a:t>
            </a:r>
            <a:endParaRPr lang="en-US" sz="1500" dirty="0"/>
          </a:p>
        </p:txBody>
      </p:sp>
      <p:sp>
        <p:nvSpPr>
          <p:cNvPr id="14" name="Text 12"/>
          <p:cNvSpPr txBox="1"/>
          <p:nvPr/>
        </p:nvSpPr>
        <p:spPr>
          <a:xfrm>
            <a:off x="1188720" y="3044952"/>
            <a:ext cx="4846320" cy="731520"/>
          </a:xfrm>
          <a:prstGeom prst="rect">
            <a:avLst/>
          </a:prstGeom>
          <a:noFill/>
          <a:ln/>
        </p:spPr>
        <p:txBody>
          <a:bodyPr wrap="square" lIns="0" tIns="0" rIns="0" bIns="0" rtlCol="0" anchor="ctr"/>
          <a:lstStyle/>
          <a:p>
            <a:pPr indent="0" marL="0">
              <a:lnSpc>
                <a:spcPct val="105000"/>
              </a:lnSpc>
              <a:buNone/>
            </a:pPr>
            <a:r>
              <a:rPr lang="en-US" sz="1250" dirty="0">
                <a:solidFill>
                  <a:srgbClr val="AEBCD1"/>
                </a:solidFill>
              </a:rPr>
              <a:t>Same difficulty ordering, same dominant Business/Sci-Tech confusion.</a:t>
            </a:r>
            <a:endParaRPr lang="en-US" sz="1250" dirty="0"/>
          </a:p>
        </p:txBody>
      </p:sp>
      <p:sp>
        <p:nvSpPr>
          <p:cNvPr id="15" name="f-3"/>
          <p:cNvSpPr/>
          <p:nvPr/>
        </p:nvSpPr>
        <p:spPr>
          <a:xfrm>
            <a:off x="6217920" y="2743200"/>
            <a:ext cx="384048" cy="384048"/>
          </a:xfrm>
          <a:prstGeom prst="ellipse">
            <a:avLst/>
          </a:prstGeom>
          <a:solidFill>
            <a:srgbClr val="EDA100"/>
          </a:solidFill>
          <a:ln/>
        </p:spPr>
      </p:sp>
      <p:sp>
        <p:nvSpPr>
          <p:cNvPr id="16" name="Text 14"/>
          <p:cNvSpPr txBox="1"/>
          <p:nvPr/>
        </p:nvSpPr>
        <p:spPr>
          <a:xfrm>
            <a:off x="6217920" y="2743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5"/>
          <p:cNvSpPr txBox="1"/>
          <p:nvPr/>
        </p:nvSpPr>
        <p:spPr>
          <a:xfrm>
            <a:off x="6766560" y="2724912"/>
            <a:ext cx="4846320" cy="292608"/>
          </a:xfrm>
          <a:prstGeom prst="rect">
            <a:avLst/>
          </a:prstGeom>
          <a:noFill/>
          <a:ln/>
        </p:spPr>
        <p:txBody>
          <a:bodyPr wrap="square" lIns="0" tIns="0" rIns="0" bIns="0" rtlCol="0" anchor="ctr"/>
          <a:lstStyle/>
          <a:p>
            <a:pPr indent="0" marL="0">
              <a:buNone/>
            </a:pPr>
            <a:r>
              <a:rPr lang="en-US" sz="1500" b="1" dirty="0">
                <a:solidFill>
                  <a:srgbClr val="FFFFFF"/>
                </a:solidFill>
              </a:rPr>
              <a:t>Cost inverted expectation</a:t>
            </a:r>
            <a:endParaRPr lang="en-US" sz="1500" dirty="0"/>
          </a:p>
        </p:txBody>
      </p:sp>
      <p:sp>
        <p:nvSpPr>
          <p:cNvPr id="18" name="Text 16"/>
          <p:cNvSpPr txBox="1"/>
          <p:nvPr/>
        </p:nvSpPr>
        <p:spPr>
          <a:xfrm>
            <a:off x="6766560" y="3044952"/>
            <a:ext cx="4846320" cy="731520"/>
          </a:xfrm>
          <a:prstGeom prst="rect">
            <a:avLst/>
          </a:prstGeom>
          <a:noFill/>
          <a:ln/>
        </p:spPr>
        <p:txBody>
          <a:bodyPr wrap="square" lIns="0" tIns="0" rIns="0" bIns="0" rtlCol="0" anchor="ctr"/>
          <a:lstStyle/>
          <a:p>
            <a:pPr indent="0" marL="0">
              <a:lnSpc>
                <a:spcPct val="105000"/>
              </a:lnSpc>
              <a:buNone/>
            </a:pPr>
            <a:r>
              <a:rPr lang="en-US" sz="1250" dirty="0">
                <a:solidFill>
                  <a:srgbClr val="AEBCD1"/>
                </a:solidFill>
              </a:rPr>
              <a:t>The BiLSTM trained 1.67× faster — a statement about scale, not architecture.</a:t>
            </a:r>
            <a:endParaRPr lang="en-US" sz="1250" dirty="0"/>
          </a:p>
        </p:txBody>
      </p:sp>
      <p:sp>
        <p:nvSpPr>
          <p:cNvPr id="19" name="limits"/>
          <p:cNvSpPr/>
          <p:nvPr/>
        </p:nvSpPr>
        <p:spPr>
          <a:xfrm>
            <a:off x="640080" y="4206240"/>
            <a:ext cx="5394960" cy="1600200"/>
          </a:xfrm>
          <a:prstGeom prst="roundRect">
            <a:avLst>
              <a:gd name="adj" fmla="val 4571"/>
            </a:avLst>
          </a:prstGeom>
          <a:solidFill>
            <a:srgbClr val="1E3356"/>
          </a:solidFill>
          <a:ln w="12700">
            <a:solidFill>
              <a:srgbClr val="333333"/>
            </a:solidFill>
            <a:prstDash val="solid"/>
          </a:ln>
        </p:spPr>
      </p:sp>
      <p:sp>
        <p:nvSpPr>
          <p:cNvPr id="20" name="Text 18"/>
          <p:cNvSpPr txBox="1"/>
          <p:nvPr/>
        </p:nvSpPr>
        <p:spPr>
          <a:xfrm>
            <a:off x="914400" y="4370832"/>
            <a:ext cx="4846320" cy="274320"/>
          </a:xfrm>
          <a:prstGeom prst="rect">
            <a:avLst/>
          </a:prstGeom>
          <a:noFill/>
          <a:ln/>
        </p:spPr>
        <p:txBody>
          <a:bodyPr wrap="square" lIns="0" tIns="0" rIns="0" bIns="0" rtlCol="0" anchor="ctr"/>
          <a:lstStyle/>
          <a:p>
            <a:pPr indent="0" marL="0">
              <a:buNone/>
            </a:pPr>
            <a:r>
              <a:rPr lang="en-US" sz="1400" b="1" dirty="0">
                <a:solidFill>
                  <a:srgbClr val="EB6834"/>
                </a:solidFill>
              </a:rPr>
              <a:t>Principal limitation</a:t>
            </a:r>
            <a:endParaRPr lang="en-US" sz="1400" dirty="0"/>
          </a:p>
        </p:txBody>
      </p:sp>
      <p:sp>
        <p:nvSpPr>
          <p:cNvPr id="21" name="Text 19"/>
          <p:cNvSpPr txBox="1"/>
          <p:nvPr/>
        </p:nvSpPr>
        <p:spPr>
          <a:xfrm>
            <a:off x="914400" y="4681728"/>
            <a:ext cx="4846320" cy="1005840"/>
          </a:xfrm>
          <a:prstGeom prst="rect">
            <a:avLst/>
          </a:prstGeom>
          <a:noFill/>
          <a:ln/>
        </p:spPr>
        <p:txBody>
          <a:bodyPr wrap="square" lIns="0" tIns="0" rIns="0" bIns="0" rtlCol="0" anchor="ctr"/>
          <a:lstStyle/>
          <a:p>
            <a:pPr indent="0" marL="0">
              <a:lnSpc>
                <a:spcPct val="108000"/>
              </a:lnSpc>
              <a:buNone/>
            </a:pPr>
            <a:r>
              <a:rPr lang="en-US" sz="1250" dirty="0">
                <a:solidFill>
                  <a:srgbClr val="CBD6E6"/>
                </a:solidFill>
              </a:rPr>
              <a:t>A single seed per architecture. The 0.09-point gap sits inside typical seed variance — which is exactly why the claim made is “indistinguishable” and not a ranking in either direction.</a:t>
            </a:r>
            <a:endParaRPr lang="en-US" sz="1250" dirty="0"/>
          </a:p>
        </p:txBody>
      </p:sp>
      <p:sp>
        <p:nvSpPr>
          <p:cNvPr id="22" name="next"/>
          <p:cNvSpPr/>
          <p:nvPr/>
        </p:nvSpPr>
        <p:spPr>
          <a:xfrm>
            <a:off x="6217920" y="4206240"/>
            <a:ext cx="5394960" cy="1600200"/>
          </a:xfrm>
          <a:prstGeom prst="roundRect">
            <a:avLst>
              <a:gd name="adj" fmla="val 4571"/>
            </a:avLst>
          </a:prstGeom>
          <a:solidFill>
            <a:srgbClr val="1E3356"/>
          </a:solidFill>
          <a:ln w="12700">
            <a:solidFill>
              <a:srgbClr val="333333"/>
            </a:solidFill>
            <a:prstDash val="solid"/>
          </a:ln>
        </p:spPr>
      </p:sp>
      <p:sp>
        <p:nvSpPr>
          <p:cNvPr id="23" name="Text 21"/>
          <p:cNvSpPr txBox="1"/>
          <p:nvPr/>
        </p:nvSpPr>
        <p:spPr>
          <a:xfrm>
            <a:off x="6492240" y="4370832"/>
            <a:ext cx="4846320" cy="274320"/>
          </a:xfrm>
          <a:prstGeom prst="rect">
            <a:avLst/>
          </a:prstGeom>
          <a:noFill/>
          <a:ln/>
        </p:spPr>
        <p:txBody>
          <a:bodyPr wrap="square" lIns="0" tIns="0" rIns="0" bIns="0" rtlCol="0" anchor="ctr"/>
          <a:lstStyle/>
          <a:p>
            <a:pPr indent="0" marL="0">
              <a:buNone/>
            </a:pPr>
            <a:r>
              <a:rPr lang="en-US" sz="1400" b="1" dirty="0">
                <a:solidFill>
                  <a:srgbClr val="1BAF7A"/>
                </a:solidFill>
              </a:rPr>
              <a:t>Next steps</a:t>
            </a:r>
            <a:endParaRPr lang="en-US" sz="1400" dirty="0"/>
          </a:p>
        </p:txBody>
      </p:sp>
      <p:sp>
        <p:nvSpPr>
          <p:cNvPr id="24" name="Text 22"/>
          <p:cNvSpPr txBox="1"/>
          <p:nvPr/>
        </p:nvSpPr>
        <p:spPr>
          <a:xfrm>
            <a:off x="6492240" y="4681728"/>
            <a:ext cx="4846320" cy="1005840"/>
          </a:xfrm>
          <a:prstGeom prst="rect">
            <a:avLst/>
          </a:prstGeom>
          <a:noFill/>
          <a:ln/>
        </p:spPr>
        <p:txBody>
          <a:bodyPr wrap="square" lIns="0" tIns="0" rIns="0" bIns="0" rtlCol="0" anchor="ctr"/>
          <a:lstStyle/>
          <a:p>
            <a:pPr indent="0" marL="0">
              <a:lnSpc>
                <a:spcPct val="108000"/>
              </a:lnSpc>
              <a:buNone/>
            </a:pPr>
            <a:r>
              <a:rPr lang="en-US" sz="1250" dirty="0">
                <a:solidFill>
                  <a:srgbClr val="CBD6E6"/>
                </a:solidFill>
              </a:rPr>
              <a:t>Multiple seeds for a confidence interval  ·  a sequence-length sweep to test the explanation directly  ·  repeat the timing on a GPU to test the predicted reversal.</a:t>
            </a:r>
            <a:endParaRPr lang="en-US" sz="125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AG News Architecture Study">
  <a:themeElements>
    <a:clrScheme name="AG News Architecture Study">
      <a:dk1>
        <a:srgbClr val="14213D"/>
      </a:dk1>
      <a:lt1>
        <a:srgbClr val="FFFFFF"/>
      </a:lt1>
      <a:dk2>
        <a:srgbClr val="3D5A80"/>
      </a:dk2>
      <a:lt2>
        <a:srgbClr val="EDF2F7"/>
      </a:lt2>
      <a:accent1>
        <a:srgbClr val="2A78D6"/>
      </a:accent1>
      <a:accent2>
        <a:srgbClr val="EB6834"/>
      </a:accent2>
      <a:accent3>
        <a:srgbClr val="1BAF7A"/>
      </a:accent3>
      <a:accent4>
        <a:srgbClr val="EDA100"/>
      </a:accent4>
      <a:accent5>
        <a:srgbClr val="6250D6"/>
      </a:accent5>
      <a:accent6>
        <a:srgbClr val="6B7A8F"/>
      </a:accent6>
      <a:hlink>
        <a:srgbClr val="2A78D6"/>
      </a:hlink>
      <a:folHlink>
        <a:srgbClr val="6250D6"/>
      </a:folHlink>
    </a:clrScheme>
    <a:fontScheme name="AG News Architecture Stud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BiLSTM vs Transformer on AG News</dc:title>
  <dc:subject>PptxGenJS Presentation</dc:subject>
  <dc:creator>Ashwin</dc:creator>
  <cp:lastModifiedBy>Ashwin</cp:lastModifiedBy>
  <cp:revision>1</cp:revision>
  <dcterms:created xsi:type="dcterms:W3CDTF">2026-10-30T17:49:07Z</dcterms:created>
  <dcterms:modified xsi:type="dcterms:W3CDTF">2026-10-30T17:49:07Z</dcterms:modified>
</cp:coreProperties>
</file>